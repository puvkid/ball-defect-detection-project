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0b968825bb455f" /><Relationship Type="http://schemas.openxmlformats.org/officeDocument/2006/relationships/extended-properties" Target="/docProps/app.xml" Id="R44299be392db4eea" /><Relationship Type="http://schemas.openxmlformats.org/officeDocument/2006/relationships/officeDocument" Target="/ppt/presentation.xml" Id="R1ee1d3fe4cbb4987" /></Relationships>
</file>

<file path=ppt/presentation.xml><?xml version="1.0" encoding="utf-8"?>
<p:presentation xmlns:p="http://schemas.openxmlformats.org/presentationml/2006/main">
  <p:sldMasterIdLst>
    <p:sldMasterId xmlns:r="http://schemas.openxmlformats.org/officeDocument/2006/relationships" id="2147483648" r:id="R6a23c25f60044378"/>
  </p:sldMasterIdLst>
  <p:notesMasterIdLst>
    <p:notesMasterId xmlns:r="http://schemas.openxmlformats.org/officeDocument/2006/relationships" r:id="R43238bc10535461b"/>
  </p:notesMasterIdLst>
  <p:sldIdLst>
    <p:sldId xmlns:r="http://schemas.openxmlformats.org/officeDocument/2006/relationships" id="256" r:id="R1dbd5d4cd42145ac"/>
    <p:sldId xmlns:r="http://schemas.openxmlformats.org/officeDocument/2006/relationships" id="257" r:id="Rade89eb61c8d429f"/>
    <p:sldId xmlns:r="http://schemas.openxmlformats.org/officeDocument/2006/relationships" id="258" r:id="R4da88bd3c1b04b9b"/>
    <p:sldId xmlns:r="http://schemas.openxmlformats.org/officeDocument/2006/relationships" id="259" r:id="R2814f9291e9a4a33"/>
    <p:sldId xmlns:r="http://schemas.openxmlformats.org/officeDocument/2006/relationships" id="260" r:id="Re082b881ab5f40f1"/>
    <p:sldId xmlns:r="http://schemas.openxmlformats.org/officeDocument/2006/relationships" id="261" r:id="Rdf20ee4f92b64cfd"/>
    <p:sldId xmlns:r="http://schemas.openxmlformats.org/officeDocument/2006/relationships" id="262" r:id="Rd2669bef195d4a47"/>
    <p:sldId xmlns:r="http://schemas.openxmlformats.org/officeDocument/2006/relationships" id="263" r:id="R63c06f8749d64ffa"/>
    <p:sldId xmlns:r="http://schemas.openxmlformats.org/officeDocument/2006/relationships" id="264" r:id="Rb1a7d92bbe9c409f"/>
    <p:sldId xmlns:r="http://schemas.openxmlformats.org/officeDocument/2006/relationships" id="265" r:id="R3e0b4e8b260c4502"/>
    <p:sldId xmlns:r="http://schemas.openxmlformats.org/officeDocument/2006/relationships" id="266" r:id="R529a78f862d44eac"/>
    <p:sldId xmlns:r="http://schemas.openxmlformats.org/officeDocument/2006/relationships" id="267" r:id="R0c2e35de092441e0"/>
    <p:sldId xmlns:r="http://schemas.openxmlformats.org/officeDocument/2006/relationships" id="268" r:id="R85ca58652f91418c"/>
    <p:sldId xmlns:r="http://schemas.openxmlformats.org/officeDocument/2006/relationships" id="269" r:id="Re2b89b64290b4712"/>
    <p:sldId xmlns:r="http://schemas.openxmlformats.org/officeDocument/2006/relationships" id="270" r:id="Re87cbe1fea6e4a7b"/>
    <p:sldId xmlns:r="http://schemas.openxmlformats.org/officeDocument/2006/relationships" id="271" r:id="Rfebe875e6fee4a38"/>
    <p:sldId xmlns:r="http://schemas.openxmlformats.org/officeDocument/2006/relationships" id="272" r:id="Rf774e1fb8c2e4902"/>
    <p:sldId xmlns:r="http://schemas.openxmlformats.org/officeDocument/2006/relationships" id="273" r:id="R65aca7a5e1ee4a23"/>
    <p:sldId xmlns:r="http://schemas.openxmlformats.org/officeDocument/2006/relationships" id="274" r:id="R79eeae09d5a3455c"/>
    <p:sldId xmlns:r="http://schemas.openxmlformats.org/officeDocument/2006/relationships" id="275" r:id="R89baa2ae671640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12bbce57144c25" /><Relationship Type="http://schemas.openxmlformats.org/officeDocument/2006/relationships/slideMaster" Target="/ppt/slideMasters/slideMaster1.xml" Id="R6a23c25f60044378" /><Relationship Type="http://schemas.openxmlformats.org/officeDocument/2006/relationships/notesMaster" Target="/ppt/notesMasters/notesMaster1.xml" Id="R43238bc10535461b" /><Relationship Type="http://schemas.openxmlformats.org/officeDocument/2006/relationships/presProps" Target="/ppt/presProps.xml" Id="Rc14430538266428f" /><Relationship Type="http://schemas.openxmlformats.org/officeDocument/2006/relationships/tableStyles" Target="/ppt/tableStyles.xml" Id="R96024fd606e34f55" /><Relationship Type="http://schemas.openxmlformats.org/officeDocument/2006/relationships/slide" Target="/ppt/slides/slide1.xml" Id="R1dbd5d4cd42145ac" /><Relationship Type="http://schemas.openxmlformats.org/officeDocument/2006/relationships/slide" Target="/ppt/slides/slide2.xml" Id="Rade89eb61c8d429f" /><Relationship Type="http://schemas.openxmlformats.org/officeDocument/2006/relationships/slide" Target="/ppt/slides/slide3.xml" Id="R4da88bd3c1b04b9b" /><Relationship Type="http://schemas.openxmlformats.org/officeDocument/2006/relationships/slide" Target="/ppt/slides/slide4.xml" Id="R2814f9291e9a4a33" /><Relationship Type="http://schemas.openxmlformats.org/officeDocument/2006/relationships/slide" Target="/ppt/slides/slide5.xml" Id="Re082b881ab5f40f1" /><Relationship Type="http://schemas.openxmlformats.org/officeDocument/2006/relationships/slide" Target="/ppt/slides/slide6.xml" Id="Rdf20ee4f92b64cfd" /><Relationship Type="http://schemas.openxmlformats.org/officeDocument/2006/relationships/slide" Target="/ppt/slides/slide7.xml" Id="Rd2669bef195d4a47" /><Relationship Type="http://schemas.openxmlformats.org/officeDocument/2006/relationships/slide" Target="/ppt/slides/slide8.xml" Id="R63c06f8749d64ffa" /><Relationship Type="http://schemas.openxmlformats.org/officeDocument/2006/relationships/slide" Target="/ppt/slides/slide9.xml" Id="Rb1a7d92bbe9c409f" /><Relationship Type="http://schemas.openxmlformats.org/officeDocument/2006/relationships/slide" Target="/ppt/slides/slide10.xml" Id="R3e0b4e8b260c4502" /><Relationship Type="http://schemas.openxmlformats.org/officeDocument/2006/relationships/slide" Target="/ppt/slides/slide11.xml" Id="R529a78f862d44eac" /><Relationship Type="http://schemas.openxmlformats.org/officeDocument/2006/relationships/slide" Target="/ppt/slides/slide12.xml" Id="R0c2e35de092441e0" /><Relationship Type="http://schemas.openxmlformats.org/officeDocument/2006/relationships/slide" Target="/ppt/slides/slide13.xml" Id="R85ca58652f91418c" /><Relationship Type="http://schemas.openxmlformats.org/officeDocument/2006/relationships/slide" Target="/ppt/slides/slide14.xml" Id="Re2b89b64290b4712" /><Relationship Type="http://schemas.openxmlformats.org/officeDocument/2006/relationships/slide" Target="/ppt/slides/slide15.xml" Id="Re87cbe1fea6e4a7b" /><Relationship Type="http://schemas.openxmlformats.org/officeDocument/2006/relationships/slide" Target="/ppt/slides/slide16.xml" Id="Rfebe875e6fee4a38" /><Relationship Type="http://schemas.openxmlformats.org/officeDocument/2006/relationships/slide" Target="/ppt/slides/slide17.xml" Id="Rf774e1fb8c2e4902" /><Relationship Type="http://schemas.openxmlformats.org/officeDocument/2006/relationships/slide" Target="/ppt/slides/slide18.xml" Id="R65aca7a5e1ee4a23" /><Relationship Type="http://schemas.openxmlformats.org/officeDocument/2006/relationships/slide" Target="/ppt/slides/slide19.xml" Id="R79eeae09d5a3455c" /><Relationship Type="http://schemas.openxmlformats.org/officeDocument/2006/relationships/slide" Target="/ppt/slides/slide20.xml" Id="R89baa2ae671640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497d523da74d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0d1516f0d2406d" /><Relationship Type="http://schemas.openxmlformats.org/officeDocument/2006/relationships/notesMaster" Target="/ppt/notesMasters/notesMaster1.xml" Id="Rc134a394859043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431cba3e64312" /><Relationship Type="http://schemas.openxmlformats.org/officeDocument/2006/relationships/notesMaster" Target="/ppt/notesMasters/notesMaster1.xml" Id="R85c0612353cf4a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1c2ce316cc45be" /><Relationship Type="http://schemas.openxmlformats.org/officeDocument/2006/relationships/notesMaster" Target="/ppt/notesMasters/notesMaster1.xml" Id="Rae6b07555dcf45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ef79ab2e4d43e9" /><Relationship Type="http://schemas.openxmlformats.org/officeDocument/2006/relationships/notesMaster" Target="/ppt/notesMasters/notesMaster1.xml" Id="R850ee62786454f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6cd44c38ac40bd" /><Relationship Type="http://schemas.openxmlformats.org/officeDocument/2006/relationships/notesMaster" Target="/ppt/notesMasters/notesMaster1.xml" Id="Rf85205d6b60443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16058676e94a31" /><Relationship Type="http://schemas.openxmlformats.org/officeDocument/2006/relationships/notesMaster" Target="/ppt/notesMasters/notesMaster1.xml" Id="R9a2492945bea4a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d0579fa5e0494d" /><Relationship Type="http://schemas.openxmlformats.org/officeDocument/2006/relationships/notesMaster" Target="/ppt/notesMasters/notesMaster1.xml" Id="Rdcc63644ae224a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cc33ed74f24c24" /><Relationship Type="http://schemas.openxmlformats.org/officeDocument/2006/relationships/notesMaster" Target="/ppt/notesMasters/notesMaster1.xml" Id="Rcd9877481d4f40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4003b4513e4de7" /><Relationship Type="http://schemas.openxmlformats.org/officeDocument/2006/relationships/notesMaster" Target="/ppt/notesMasters/notesMaster1.xml" Id="Rf73759b6fbb049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3c0dd183424e81" /><Relationship Type="http://schemas.openxmlformats.org/officeDocument/2006/relationships/notesMaster" Target="/ppt/notesMasters/notesMaster1.xml" Id="Ra0eaf27e4eaf4a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c5b5c4e2674f28" /><Relationship Type="http://schemas.openxmlformats.org/officeDocument/2006/relationships/notesMaster" Target="/ppt/notesMasters/notesMaster1.xml" Id="Rd31516ee28f74f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64d46670454ce4" /><Relationship Type="http://schemas.openxmlformats.org/officeDocument/2006/relationships/notesMaster" Target="/ppt/notesMasters/notesMaster1.xml" Id="Rc95552f9aec948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e4435b10994334" /><Relationship Type="http://schemas.openxmlformats.org/officeDocument/2006/relationships/notesMaster" Target="/ppt/notesMasters/notesMaster1.xml" Id="R6fbabdb5b1334f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1fa0bb3b74418a" /><Relationship Type="http://schemas.openxmlformats.org/officeDocument/2006/relationships/notesMaster" Target="/ppt/notesMasters/notesMaster1.xml" Id="Rd102e07dfebd48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bd8078ff9e44ba" /><Relationship Type="http://schemas.openxmlformats.org/officeDocument/2006/relationships/notesMaster" Target="/ppt/notesMasters/notesMaster1.xml" Id="R550f0b9d484544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83113d843f4b84" /><Relationship Type="http://schemas.openxmlformats.org/officeDocument/2006/relationships/notesMaster" Target="/ppt/notesMasters/notesMaster1.xml" Id="R261a6ab38e694a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ea4ecf18c64639" /><Relationship Type="http://schemas.openxmlformats.org/officeDocument/2006/relationships/notesMaster" Target="/ppt/notesMasters/notesMaster1.xml" Id="R302d5eb7249b45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e987faca8b4af8" /><Relationship Type="http://schemas.openxmlformats.org/officeDocument/2006/relationships/notesMaster" Target="/ppt/notesMasters/notesMaster1.xml" Id="R0b24a117f33146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030fa6e7ce4b4b" /><Relationship Type="http://schemas.openxmlformats.org/officeDocument/2006/relationships/notesMaster" Target="/ppt/notesMasters/notesMaster1.xml" Id="R77bfa393f678431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413187b72b4d47" /><Relationship Type="http://schemas.openxmlformats.org/officeDocument/2006/relationships/notesMaster" Target="/ppt/notesMasters/notesMaster1.xml" Id="R93dcbd2487164d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YOLOv8n 기반 볼 검출을 위한 단일 및 복합 전처리 필터의 성능 비교를 발표하겠습니다. 현장에서 영상 조건이 달라질 때 필터 적용 후에도 성능이 유지되는지, 어떤 필터와 조합이 유리한지를 실제 영상과 정량 결과로 설명하겠습니다.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현장의 조명이나 촬영 조건에 따라 영상의 밝기, 대비, 잡음과 경계 표현이 달라질 수 있습니다. 하나의 필터가 모든 입력에 유리하다고 가정하기 어렵기 때문에, 서로 다른 변환에서 검출 성능을 비교했습니다. 연구 질문은 성능 유지 여부, 단일 필터의 상대적 성능, 그리고 조합의 구성 필터 대비 개선 여부입니다. 평가 범위는 일반 영상과 합성 가우시안 잡음이며, 현장의 모든 변화를 포괄하지는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연구 코드에서 저장한 동일 영상의 변환 예시를 보시겠습니다. Original은 전처리하지 않은 입력이고, Invert는 밝기값을 반전합니다. Otsu Threshold는 히스토그램에서 자동으로 정한 임계값으로 이진화합니다. 사진은 변환 효과를 설명하는 한 장의 예시이며, 이후 성능 수치는 전체 오백 장의 평가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2026-2:/root/추계학술대회/yolo_filter_samples/invert_example.png</a:t>
            </a:r>
          </a:p>
          <a:p xmlns:a="http://schemas.openxmlformats.org/drawingml/2006/main">
            <a:r>
              <a:t>SHA-256: b213194cf4211feafe7163b8969d49c835eba47e242fb1ac12b3a11d79802178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2026-2:/root/추계학술대회/yolo_filter_samples/otsu_threshold_example.png</a:t>
            </a:r>
          </a:p>
          <a:p xmlns:a="http://schemas.openxmlformats.org/drawingml/2006/main">
            <a:r>
              <a:t>SHA-256: 76749449341e7bf4ba32be970066d2e83b227adcaa527b3769ddc7374b49dd35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Solarize는 이번 구현에서 영상의 평균 밝기보다 큰 값만 반전합니다. Histogram Equalization은 전체 밝기 분포를 변환하고, CLAHE는 영역별 대비를 조정합니다. CLAHE의 clip limit은 사십, 격자는 십육 곱하기 십육입니다. 서로 다른 영상 표현이 만들어지는 것을 확인할 수 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2026-2:/root/추계학술대회/yolo_filter_samples/solarize_example.png</a:t>
            </a:r>
          </a:p>
          <a:p xmlns:a="http://schemas.openxmlformats.org/drawingml/2006/main">
            <a:r>
              <a:t>SHA-256: 6b47ea7beeaa591e8659fe39bdcb3d88b367151f14f005f616a2f99764065bf0</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2026-2:/root/추계학술대회/yolo_filter_samples/histogram_equalization_example.png</a:t>
            </a:r>
          </a:p>
          <a:p xmlns:a="http://schemas.openxmlformats.org/drawingml/2006/main">
            <a:r>
              <a:t>SHA-256: c1306240f653c00e29ab77d626ff4f995197151352edbbc83689b0106af361a9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2026-2:/root/추계학술대회/yolo_filter_samples/clahe__max_example.png</a:t>
            </a:r>
          </a:p>
          <a:p xmlns:a="http://schemas.openxmlformats.org/drawingml/2006/main">
            <a:r>
              <a:t>SHA-256: fc5b827e16f0a300acb88c8953e01b7c63c07d520e32113cc35c3de1bcebf99b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Gamma는 영부터 일로 정규화한 밝기값을 영점 삼 제곱한 결과입니다. Gaussian Blur는 표준편차 이십 화소, 백이십일 곱하기 백이십일 커널로 평활화합니다. Sobel Edges는 경계 응답을 계산한 뒤 최댓값으로 정규화하고 제곱근을 적용합니다. 일반적인 필터 이름만이 아니라 실제 구현과 고정 파라미터를 기준으로 비교했습니다.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2026-2:/root/추계학술대회/yolo_filter_samples/gamma_0_3_example.png</a:t>
            </a:r>
          </a:p>
          <a:p xmlns:a="http://schemas.openxmlformats.org/drawingml/2006/main">
            <a:r>
              <a:t>SHA-256: e444caf6e27f565cdb2a9f9183115e2c89bc29585e06c4678378325c0a31f885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2026-2:/root/추계학술대회/yolo_filter_samples/gaussian_blur__max_example.png</a:t>
            </a:r>
          </a:p>
          <a:p xmlns:a="http://schemas.openxmlformats.org/drawingml/2006/main">
            <a:r>
              <a:t>SHA-256: b29607d384d2d4a7ced2addcabc8cc48f069a08ec35fd0ac10d6760725be2b89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2026-2:/root/추계학술대회/yolo_filter_samples/sobel_edges_example.png</a:t>
            </a:r>
          </a:p>
          <a:p xmlns:a="http://schemas.openxmlformats.org/drawingml/2006/main">
            <a:r>
              <a:t>SHA-256: 46e27b544f0967ef822ca714dcf5cf7b03f2ab192e42fae1a5e3c3af95fecc15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Emboss는 방향성 합성곱 응답에 gain 사를 적용하고 밝기 범위를 제한합니다. Unsharp는 표준편차 이의 평활화 영상과 원본의 차이를 여덟 배 가산합니다. 원본 사진을 함께 배치하여 변환 효과를 비교했습니다. 사진에 보이는 차이가 검출 성능의 향상을 바로 뜻하지는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2026-2:/root/추계학술대회/yolo_filter_samples/emboss_example.png</a:t>
            </a:r>
          </a:p>
          <a:p xmlns:a="http://schemas.openxmlformats.org/drawingml/2006/main">
            <a:r>
              <a:t>SHA-256: 3431315e5c702063ab56f996df32fbd016986b05286f16736e597bed45070a37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2026-2:/root/추계학술대회/yolo_filter_samples/unsharp__max_example.png</a:t>
            </a:r>
          </a:p>
          <a:p xmlns:a="http://schemas.openxmlformats.org/drawingml/2006/main">
            <a:r>
              <a:t>SHA-256: eadd64b09e3eab92a9c162af40fe1fc470a8986b2b9f38c580d7830f8afebe6b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필터는 앞의 변환 결과에 뒤의 변환을 순차 적용합니다. Invert+CLAHE는 반전 후 지역 대비 조정, Blur+Otsu는 평활화 후 이진화, Sobel+Invert는 경계 표현 후 반전입니다. 가능한 모든 조합이나 역순을 평가한 것은 아니며, 이름에 표시한 적용 순서를 유지했습니다.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2026-2:/root/추계학술대회/yolo_filter_samples/invert_clahe_example.png</a:t>
            </a:r>
          </a:p>
          <a:p xmlns:a="http://schemas.openxmlformats.org/drawingml/2006/main">
            <a:r>
              <a:t>SHA-256: 04562ff80be4291bd36b4a97c6458228587153788b721fb69d888660c7aa113d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2026-2:/root/추계학술대회/yolo_filter_samples/blur_otsu_example.png</a:t>
            </a:r>
          </a:p>
          <a:p xmlns:a="http://schemas.openxmlformats.org/drawingml/2006/main">
            <a:r>
              <a:t>SHA-256: 51e25a583014106f5fe9c7185d535484d2f52c6bf3b39a30ce479b414b39c8a4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2026-2:/root/추계학술대회/yolo_filter_samples/sobel_invert_example.png</a:t>
            </a:r>
          </a:p>
          <a:p xmlns:a="http://schemas.openxmlformats.org/drawingml/2006/main">
            <a:r>
              <a:t>SHA-256: 4f2aa74bf066830a661ffdbff327960cd588b7332630144ca189fe6437b9a5d3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조합은 Histogram Equalization 뒤에 Emboss를 적용하는 HistEq+Emboss와 Unsharp 뒤에 Sobel을 적용하는 Unsharp+Sobel입니다. 원본과 비교하면 각 단계가 입력 표현을 추가로 바꾸는 것을 볼 수 있습니다. 이러한 변화의 유효성은 구성 필터 대비 성능으로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2026-2:/root/추계학술대회/yolo_filter_samples/histeq_emboss_example.png</a:t>
            </a:r>
          </a:p>
          <a:p xmlns:a="http://schemas.openxmlformats.org/drawingml/2006/main">
            <a:r>
              <a:t>SHA-256: 8ff6f57255804774589976eed30d2478e89b3fb44ad43bc71d39d304e07836d8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2026-2:/root/추계학술대회/yolo_filter_samples/unsharp_sobel_example.png</a:t>
            </a:r>
          </a:p>
          <a:p xmlns:a="http://schemas.openxmlformats.org/drawingml/2006/main">
            <a:r>
              <a:t>SHA-256: 0fbaa487e47d4ea604244630224c581e7effc68c5b8e42f66b72024a9301396f</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YOLOv8n을 별도로 학습하고, 학습과 평가에 같은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따라서 모든 변환에서 동일하게 성능이 유지되지는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결론은 평가한 다섯 가지 순서와 고정 파라미터에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엄격 검출 정확도는 CLAHE 단독이 구십육 점 사 퍼센트로 단일 필터 중 가장 높았습니다. 반면 mAP는 Gamma가 가장 높았습니다. Invert+CLAHE의 엄격 검출 정확도는 구십팔 퍼센트로, CLAHE보다 일점 육 퍼센트포인트 높았지만 mAP는 낮았습니다. 두 지표는 대응 기준과 추론 임계값이 달라 서로 다른 정보를 제공합니다. 구십팔 퍼센트라는 단일 결과의 재현성은 뒤에서 반복 평가로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사십의 잡음을 추가한 실제 저장 예시입니다. 왼쪽은 잡음 입력, 가운데는 그 입력에 Gaussian Blur를, 오른쪽은 Emboss를 적용한 결과입니다. 사진은 동일 원장면의 시각화 예시이며, 이후 정량 수치는 전체 평가 영상에서 계산했습니다.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2026-2:/root/추계학술대회/yolo_filter_samples/noise_std_40_example.png</a:t>
            </a:r>
          </a:p>
          <a:p xmlns:a="http://schemas.openxmlformats.org/drawingml/2006/main">
            <a:r>
              <a:t>SHA-256: f7417be81b66576ec8beb41fb186b8a63b66400d8ab9c0cea05736c32c45a2d3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2026-2:/root/추계학술대회/yolo_filter_samples/gaussian_blur__max____noise_40_example.png</a:t>
            </a:r>
          </a:p>
          <a:p xmlns:a="http://schemas.openxmlformats.org/drawingml/2006/main">
            <a:r>
              <a:t>SHA-256: e3915505a0152e6e505d2913954e1665e58e3daf099849e82de0651e7be8ef97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2026-2:/root/추계학술대회/yolo_filter_samples/emboss___noise_40_example.png</a:t>
            </a:r>
          </a:p>
          <a:p xmlns:a="http://schemas.openxmlformats.org/drawingml/2006/main">
            <a:r>
              <a:t>SHA-256: 99ab9bb5c18afd8455e68d7b150c9ce1d2a4739679847cb387da29f458634b51</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팔십에서는 잡음이 더 강합니다. 밝기값에 잡음을 더하고 영부터 이백오십오 사이로 제한한 뒤 필터를 적용했습니다. 평활화와 경계 응답의 차이가 보이지만, 사진의 외관만으로 성능을 판단하지 않고 전체 영상의 지표를 비교하겠습니다.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2026-2:/root/추계학술대회/yolo_filter_samples/noise_std_80_example.png</a:t>
            </a:r>
          </a:p>
          <a:p xmlns:a="http://schemas.openxmlformats.org/drawingml/2006/main">
            <a:r>
              <a:t>SHA-256: 78681c74c655d0fff8b3b6a86504e3719c4f5ec961513c99a0a24aab0d442394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2026-2:/root/추계학술대회/yolo_filter_samples/gaussian_blur__max____noise_80_example.png</a:t>
            </a:r>
          </a:p>
          <a:p xmlns:a="http://schemas.openxmlformats.org/drawingml/2006/main">
            <a:r>
              <a:t>SHA-256: 2f19ba545c499253e627228fd378988f38498a9f2c0f3adc71d8f3d5f264ee5d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2026-2:/root/추계학술대회/yolo_filter_samples/emboss___noise_80_example.png</a:t>
            </a:r>
          </a:p>
          <a:p xmlns:a="http://schemas.openxmlformats.org/drawingml/2006/main">
            <a:r>
              <a:t>SHA-256: 10b72af7e9d0b3ce4ddf74004411aa5304876758f30d06661872b439178d5fd9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단일 시드에서는 Gamma, 합성 잡음 조건에서는 Gaussian Blur가 가장 높은 mAP를 보였습니다. 평가한 다섯 조합은 더 우수한 구성 필터의 mAP를 넘지 못했습니다. 따라서 영상 조건과 평가 지표를 구분하여 필터를 선택해야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발표를 마치겠습니다. 경청해 주셔서 감사합니다.</a:t>
            </a:r>
          </a:p>
          <a:p xmlns:a="http://schemas.openxmlformats.org/drawingml/2006/main">
            <a:r>
              <a:t/>
            </a:r>
          </a:p>
          <a:p xmlns:a="http://schemas.openxmlformats.org/drawingml/2006/main">
            <a:r>
              <a:t>[출처]</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ee6590fdd4a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b417f16b364c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3db6a4206e45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e40ab0acde48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dcc9f41b5848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f6f11a351e40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59959C-80C0-4E76-B45D-45D5A39F82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74071FD-226F-4D08-B831-0C8EC72228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1048E9-7956-4BFC-B8F6-6FCAB4E023A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DB5B63-81F5-48D2-8A7A-50681EB45F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6FCF93-7A06-4D14-BD5C-9F4FF4D069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766631-889D-422B-A6C5-8C3386E2DA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E7025B-BA71-4861-BA7C-8A51239BD0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BDB20A-DFAC-4C78-AB87-3E05EB2EBB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CFE293-A7D3-4749-84F0-98ACD9D0C4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5DF126-D550-46F4-94CF-3BC4E85438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e16e710f794301" /><Relationship Type="http://schemas.openxmlformats.org/officeDocument/2006/relationships/slideLayout" Target="/ppt/slideLayouts/slideLayout1.xml" Id="R7efa0852960845c2" /><Relationship Type="http://schemas.openxmlformats.org/officeDocument/2006/relationships/slideLayout" Target="/ppt/slideLayouts/slideLayout2.xml" Id="R22a1f287f8b141df" /><Relationship Type="http://schemas.openxmlformats.org/officeDocument/2006/relationships/slideLayout" Target="/ppt/slideLayouts/slideLayout3.xml" Id="Ra3a27c735f684424" /><Relationship Type="http://schemas.openxmlformats.org/officeDocument/2006/relationships/slideLayout" Target="/ppt/slideLayouts/slideLayout4.xml" Id="R5c8bf6c2b74b48f8" /><Relationship Type="http://schemas.openxmlformats.org/officeDocument/2006/relationships/slideLayout" Target="/ppt/slideLayouts/slideLayout5.xml" Id="Rd1ec382f5b154281" /><Relationship Type="http://schemas.openxmlformats.org/officeDocument/2006/relationships/slideLayout" Target="/ppt/slideLayouts/slideLayout6.xml" Id="Rb038d117982047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fa0852960845c2"/>
    <p:sldLayoutId xmlns:r="http://schemas.openxmlformats.org/officeDocument/2006/relationships" id="2147483650" r:id="R22a1f287f8b141df"/>
    <p:sldLayoutId xmlns:r="http://schemas.openxmlformats.org/officeDocument/2006/relationships" id="2147483651" r:id="Ra3a27c735f684424"/>
    <p:sldLayoutId xmlns:r="http://schemas.openxmlformats.org/officeDocument/2006/relationships" id="2147483652" r:id="R5c8bf6c2b74b48f8"/>
    <p:sldLayoutId xmlns:r="http://schemas.openxmlformats.org/officeDocument/2006/relationships" id="2147483653" r:id="Rd1ec382f5b154281"/>
    <p:sldLayoutId xmlns:r="http://schemas.openxmlformats.org/officeDocument/2006/relationships" id="2147483654" r:id="Rb038d117982047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6d57e59bea4497" /><Relationship Type="http://schemas.openxmlformats.org/officeDocument/2006/relationships/image" Target="/ppt/media/image.png" Id="Rc6c562a0749b446b" /><Relationship Type="http://schemas.openxmlformats.org/officeDocument/2006/relationships/notesSlide" Target="/ppt/notesSlides/notesSlide1.xml" Id="R55e81ab5abe34f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c98857c2e440fd" /><Relationship Type="http://schemas.openxmlformats.org/officeDocument/2006/relationships/notesSlide" Target="/ppt/notesSlides/notesSlide2.xml" Id="Rb323cca8d1d949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5f7ad8f8364399" /><Relationship Type="http://schemas.openxmlformats.org/officeDocument/2006/relationships/image" Target="/ppt/media/image2.png" Id="Ra93c724d06d04991" /><Relationship Type="http://schemas.openxmlformats.org/officeDocument/2006/relationships/notesSlide" Target="/ppt/notesSlides/notesSlide3.xml" Id="Ree01cdb9808748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a232d4d44f4aec" /><Relationship Type="http://schemas.openxmlformats.org/officeDocument/2006/relationships/image" Target="/ppt/media/image3.png" Id="R2d1d7ce055624750" /><Relationship Type="http://schemas.openxmlformats.org/officeDocument/2006/relationships/image" Target="/ppt/media/image4.png" Id="R3a310da257204684" /><Relationship Type="http://schemas.openxmlformats.org/officeDocument/2006/relationships/image" Target="/ppt/media/image5.png" Id="R1de7c55882ee4bca" /><Relationship Type="http://schemas.openxmlformats.org/officeDocument/2006/relationships/notesSlide" Target="/ppt/notesSlides/notesSlide4.xml" Id="R9b13b914fa9c42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3677226ff74564" /><Relationship Type="http://schemas.openxmlformats.org/officeDocument/2006/relationships/image" Target="/ppt/media/image6.png" Id="Re2f7bcd6ef454a7d" /><Relationship Type="http://schemas.openxmlformats.org/officeDocument/2006/relationships/image" Target="/ppt/media/image7.png" Id="R34e1be2dd63d4614" /><Relationship Type="http://schemas.openxmlformats.org/officeDocument/2006/relationships/image" Target="/ppt/media/image8.png" Id="R8ef6bf42c0fb4a0d" /><Relationship Type="http://schemas.openxmlformats.org/officeDocument/2006/relationships/notesSlide" Target="/ppt/notesSlides/notesSlide5.xml" Id="Rf8568a8dd38b44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32789e72b644b3" /><Relationship Type="http://schemas.openxmlformats.org/officeDocument/2006/relationships/image" Target="/ppt/media/image9.png" Id="R76e855a0d63240a1" /><Relationship Type="http://schemas.openxmlformats.org/officeDocument/2006/relationships/image" Target="/ppt/media/image10.png" Id="Ra2792864dc134d28" /><Relationship Type="http://schemas.openxmlformats.org/officeDocument/2006/relationships/image" Target="/ppt/media/image11.png" Id="Reea64b3053584342" /><Relationship Type="http://schemas.openxmlformats.org/officeDocument/2006/relationships/notesSlide" Target="/ppt/notesSlides/notesSlide6.xml" Id="R755286f66c0f4f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0f45c35a6d4892" /><Relationship Type="http://schemas.openxmlformats.org/officeDocument/2006/relationships/image" Target="/ppt/media/image12.png" Id="Rfd541f815d844802" /><Relationship Type="http://schemas.openxmlformats.org/officeDocument/2006/relationships/image" Target="/ppt/media/image13.png" Id="Rbfa4a31186174c01" /><Relationship Type="http://schemas.openxmlformats.org/officeDocument/2006/relationships/image" Target="/ppt/media/image14.png" Id="R40c0d186a57a4043" /><Relationship Type="http://schemas.openxmlformats.org/officeDocument/2006/relationships/notesSlide" Target="/ppt/notesSlides/notesSlide7.xml" Id="Rb13e58d6ed2f4a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fecebfa2af45e9" /><Relationship Type="http://schemas.openxmlformats.org/officeDocument/2006/relationships/image" Target="/ppt/media/image15.png" Id="R01cfd125c8cc4abd" /><Relationship Type="http://schemas.openxmlformats.org/officeDocument/2006/relationships/image" Target="/ppt/media/image16.png" Id="R91f9b9032f7d41a8" /><Relationship Type="http://schemas.openxmlformats.org/officeDocument/2006/relationships/image" Target="/ppt/media/image17.png" Id="Rb719b924d4334d16" /><Relationship Type="http://schemas.openxmlformats.org/officeDocument/2006/relationships/notesSlide" Target="/ppt/notesSlides/notesSlide8.xml" Id="Re07c7ed9cd614e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9eb88862f4fdb" /><Relationship Type="http://schemas.openxmlformats.org/officeDocument/2006/relationships/image" Target="/ppt/media/image18.png" Id="Rf32d9605fc1e4ce6" /><Relationship Type="http://schemas.openxmlformats.org/officeDocument/2006/relationships/image" Target="/ppt/media/image19.png" Id="Rb26f8e1e061743d4" /><Relationship Type="http://schemas.openxmlformats.org/officeDocument/2006/relationships/image" Target="/ppt/media/image20.png" Id="R3c54edda6dbe43c1" /><Relationship Type="http://schemas.openxmlformats.org/officeDocument/2006/relationships/notesSlide" Target="/ppt/notesSlides/notesSlide9.xml" Id="R5cecbcf1ed7a42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22cbf95cb74b8b" /><Relationship Type="http://schemas.openxmlformats.org/officeDocument/2006/relationships/notesSlide" Target="/ppt/notesSlides/notesSlide10.xml" Id="R106b661b735948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0ee2ab15274ad2" /><Relationship Type="http://schemas.openxmlformats.org/officeDocument/2006/relationships/chart" Target="/ppt/slides/charts/chart1.xml" Id="Ra31fa84404474ba3" /><Relationship Type="http://schemas.openxmlformats.org/officeDocument/2006/relationships/notesSlide" Target="/ppt/notesSlides/notesSlide11.xml" Id="R6b293d465c9c43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fd51b9cae349c8" /><Relationship Type="http://schemas.openxmlformats.org/officeDocument/2006/relationships/chart" Target="/ppt/slides/charts/chart2.xml" Id="R3c9050fa71df48ea" /><Relationship Type="http://schemas.openxmlformats.org/officeDocument/2006/relationships/notesSlide" Target="/ppt/notesSlides/notesSlide12.xml" Id="Rba7341be202845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8ed52013eb046a2" /><Relationship Type="http://schemas.openxmlformats.org/officeDocument/2006/relationships/chart" Target="/ppt/slides/charts/chart3.xml" Id="R10baeacc5be84fbe" /><Relationship Type="http://schemas.openxmlformats.org/officeDocument/2006/relationships/notesSlide" Target="/ppt/notesSlides/notesSlide13.xml" Id="R998fc860e87c42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58f1b0a16c34873" /><Relationship Type="http://schemas.openxmlformats.org/officeDocument/2006/relationships/image" Target="/ppt/media/image21.png" Id="Rc107f7e446e441bd" /><Relationship Type="http://schemas.openxmlformats.org/officeDocument/2006/relationships/image" Target="/ppt/media/image22.png" Id="R42609a52b2fa488f" /><Relationship Type="http://schemas.openxmlformats.org/officeDocument/2006/relationships/image" Target="/ppt/media/image23.png" Id="R558cd77956954eab" /><Relationship Type="http://schemas.openxmlformats.org/officeDocument/2006/relationships/notesSlide" Target="/ppt/notesSlides/notesSlide14.xml" Id="Rb5b1aec4ee1542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d09d738636428e" /><Relationship Type="http://schemas.openxmlformats.org/officeDocument/2006/relationships/image" Target="/ppt/media/image24.png" Id="Reed05f8655f1485c" /><Relationship Type="http://schemas.openxmlformats.org/officeDocument/2006/relationships/image" Target="/ppt/media/image25.png" Id="Rc516a50fc8234ad0" /><Relationship Type="http://schemas.openxmlformats.org/officeDocument/2006/relationships/image" Target="/ppt/media/image26.png" Id="Rd09c3720914744b8" /><Relationship Type="http://schemas.openxmlformats.org/officeDocument/2006/relationships/notesSlide" Target="/ppt/notesSlides/notesSlide15.xml" Id="Re6c983c9244445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9db4ce39cdd4f9a" /><Relationship Type="http://schemas.openxmlformats.org/officeDocument/2006/relationships/notesSlide" Target="/ppt/notesSlides/notesSlide16.xml" Id="Rea671d6b60ca48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9ae3eae4c048f2" /><Relationship Type="http://schemas.openxmlformats.org/officeDocument/2006/relationships/chart" Target="/ppt/slides/charts/chart4.xml" Id="Ra8b151dff1374b50" /><Relationship Type="http://schemas.openxmlformats.org/officeDocument/2006/relationships/chart" Target="/ppt/slides/charts/chart5.xml" Id="Rb46c806866e34fb0" /><Relationship Type="http://schemas.openxmlformats.org/officeDocument/2006/relationships/notesSlide" Target="/ppt/notesSlides/notesSlide17.xml" Id="R8a48fcb5a19c46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2ef50ed5cb4b7a" /><Relationship Type="http://schemas.openxmlformats.org/officeDocument/2006/relationships/notesSlide" Target="/ppt/notesSlides/notesSlide18.xml" Id="Rc8457927ffac4c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ccba6d55f244e5" /><Relationship Type="http://schemas.openxmlformats.org/officeDocument/2006/relationships/notesSlide" Target="/ppt/notesSlides/notesSlide19.xml" Id="R653780a2608146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f034b9d185f41e8" /><Relationship Type="http://schemas.openxmlformats.org/officeDocument/2006/relationships/image" Target="/ppt/media/image27.png" Id="R6566200da8dc4679" /><Relationship Type="http://schemas.openxmlformats.org/officeDocument/2006/relationships/notesSlide" Target="/ppt/notesSlides/notesSlide20.xml" Id="Re1ed2d32379c4e77" /></Relationships>
</file>

<file path=ppt/slides/charts/chart1.xml><?xml version="1.0" encoding="utf-8"?>
<c:chartSpace xmlns:c="http://schemas.openxmlformats.org/drawingml/2006/chart">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Lit>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Lit>
          </c:cat>
          <c:val>
            <c:numLit>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Lit>
              <c:ptCount val="6"/>
              <c:pt idx="0">
                <c:v>Original</c:v>
              </c:pt>
              <c:pt idx="1">
                <c:v>Invert+
CLAHE</c:v>
              </c:pt>
              <c:pt idx="2">
                <c:v>Blur+
Otsu</c:v>
              </c:pt>
              <c:pt idx="3">
                <c:v>Sobel+
Invert</c:v>
              </c:pt>
              <c:pt idx="4">
                <c:v>HistEq+
Emboss</c:v>
              </c:pt>
              <c:pt idx="5">
                <c:v>Unsharp+
Sobel</c:v>
              </c:pt>
            </c:strLit>
          </c:cat>
          <c:val>
            <c:numLit>
              <c:formatCode>0.00</c:formatCode>
              <c:ptCount val="6"/>
              <c:pt idx="0">
                <c:v>96.5279976671671</c:v>
              </c:pt>
              <c:pt idx="1">
                <c:v>95.7521155759119</c:v>
              </c:pt>
              <c:pt idx="2">
                <c:v>59.5766758039794</c:v>
              </c:pt>
              <c:pt idx="3">
                <c:v>95.7148843234106</c:v>
              </c:pt>
              <c:pt idx="4">
                <c:v>95.4223106676088</c:v>
              </c:pt>
              <c:pt idx="5">
                <c:v>94.7323908217321</c:v>
              </c:pt>
            </c:numLit>
          </c:val>
        </c:ser>
        <c:ser>
          <c:idx val="1"/>
          <c:order val="1"/>
          <c:tx>
            <c:v>Better component</c:v>
          </c:tx>
          <c:spPr>
            <a:solidFill xmlns:a="http://schemas.openxmlformats.org/drawingml/2006/main">
              <a:srgbClr val="85858C"/>
            </a:solidFill>
          </c:spPr>
          <c:invertIfNegative val="0"/>
          <c:cat>
            <c:strLit>
              <c:ptCount val="6"/>
              <c:pt idx="0">
                <c:v>Original</c:v>
              </c:pt>
              <c:pt idx="1">
                <c:v>Invert+
CLAHE</c:v>
              </c:pt>
              <c:pt idx="2">
                <c:v>Blur+
Otsu</c:v>
              </c:pt>
              <c:pt idx="3">
                <c:v>Sobel+
Invert</c:v>
              </c:pt>
              <c:pt idx="4">
                <c:v>HistEq+
Emboss</c:v>
              </c:pt>
              <c:pt idx="5">
                <c:v>Unsharp+
Sobel</c:v>
              </c:pt>
            </c:strLit>
          </c:cat>
          <c:val>
            <c:numLit>
              <c:formatCode>0.00</c:formatCode>
              <c:ptCount val="6"/>
              <c:pt idx="0">
                <c:v>96.5279976671671</c:v>
              </c:pt>
              <c:pt idx="1">
                <c:v>95.9760500118378</c:v>
              </c:pt>
              <c:pt idx="2">
                <c:v>93.3650494926198</c:v>
              </c:pt>
              <c:pt idx="3">
                <c:v>96.4356478134763</c:v>
              </c:pt>
              <c:pt idx="4">
                <c:v>96.2666397590254</c:v>
              </c:pt>
              <c:pt idx="5">
                <c:v>96.4356478134763</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Lit>
              <c:ptCount val="4"/>
              <c:pt idx="0">
                <c:v>Original</c:v>
              </c:pt>
              <c:pt idx="1">
                <c:v>Gamma 0.3</c:v>
              </c:pt>
              <c:pt idx="2">
                <c:v>CLAHE (max)</c:v>
              </c:pt>
              <c:pt idx="3">
                <c:v>Invert+CLAHE</c:v>
              </c:pt>
            </c:strLit>
          </c:cat>
          <c:val>
            <c:numLit>
              <c:formatCode>0.00</c:formatCode>
              <c:ptCount val="4"/>
              <c:pt idx="0">
                <c:v>96.5279976671671</c:v>
              </c:pt>
              <c:pt idx="1">
                <c:v>96.701438764475</c:v>
              </c:pt>
              <c:pt idx="2">
                <c:v>95.9760500118378</c:v>
              </c:pt>
              <c:pt idx="3">
                <c:v>95.7521155759119</c:v>
              </c:pt>
            </c:numLit>
          </c:val>
        </c:ser>
        <c:ser>
          <c:idx val="1"/>
          <c:order val="1"/>
          <c:tx>
            <c:v>Strict detection accuracy (%)</c:v>
          </c:tx>
          <c:spPr>
            <a:solidFill xmlns:a="http://schemas.openxmlformats.org/drawingml/2006/main">
              <a:srgbClr val="FFFFFF"/>
            </a:solidFill>
          </c:spPr>
          <c:invertIfNegative val="0"/>
          <c:cat>
            <c:strLit>
              <c:ptCount val="4"/>
              <c:pt idx="0">
                <c:v>Original</c:v>
              </c:pt>
              <c:pt idx="1">
                <c:v>Gamma 0.3</c:v>
              </c:pt>
              <c:pt idx="2">
                <c:v>CLAHE (max)</c:v>
              </c:pt>
              <c:pt idx="3">
                <c:v>Invert+CLAHE</c:v>
              </c:pt>
            </c:strLit>
          </c:cat>
          <c:val>
            <c:numLit>
              <c:formatCode>0.00</c:formatCode>
              <c:ptCount val="4"/>
              <c:pt idx="0">
                <c:v>94.8</c:v>
              </c:pt>
              <c:pt idx="1">
                <c:v>96.2</c:v>
              </c:pt>
              <c:pt idx="2">
                <c:v>96.4</c:v>
              </c:pt>
              <c:pt idx="3">
                <c:v>98</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Lit>
              <c:ptCount val="3"/>
              <c:pt idx="0">
                <c:v>Seed 42</c:v>
              </c:pt>
              <c:pt idx="1">
                <c:v>Seed 43</c:v>
              </c:pt>
              <c:pt idx="2">
                <c:v>Seed 44</c:v>
              </c:pt>
            </c:strLit>
          </c:cat>
          <c:val>
            <c:numLit>
              <c:formatCode>0.00</c:formatCode>
              <c:ptCount val="3"/>
              <c:pt idx="0">
                <c:v>94.8</c:v>
              </c:pt>
              <c:pt idx="1">
                <c:v>95.6</c:v>
              </c:pt>
              <c:pt idx="2">
                <c:v>95.8</c:v>
              </c:pt>
            </c:numLit>
          </c:val>
          <c:smooth val="0"/>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Lit>
              <c:ptCount val="3"/>
              <c:pt idx="0">
                <c:v>Seed 42</c:v>
              </c:pt>
              <c:pt idx="1">
                <c:v>Seed 43</c:v>
              </c:pt>
              <c:pt idx="2">
                <c:v>Seed 44</c:v>
              </c:pt>
            </c:strLit>
          </c:cat>
          <c:val>
            <c:numLit>
              <c:formatCode>0.00</c:formatCode>
              <c:ptCount val="3"/>
              <c:pt idx="0">
                <c:v>98</c:v>
              </c:pt>
              <c:pt idx="1">
                <c:v>93.6</c:v>
              </c:pt>
              <c:pt idx="2">
                <c:v>94.8</c:v>
              </c:pt>
            </c:numLit>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chartSpace>
</file>

<file path=ppt/slides/charts/chart5.xml><?xml version="1.0" encoding="utf-8"?>
<c:chartSpace xmlns:c="http://schemas.openxmlformats.org/drawingml/2006/chart">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Lit>
              <c:ptCount val="3"/>
              <c:pt idx="0">
                <c:v>Seed 42</c:v>
              </c:pt>
              <c:pt idx="1">
                <c:v>Seed 43</c:v>
              </c:pt>
              <c:pt idx="2">
                <c:v>Seed 44</c:v>
              </c:pt>
            </c:strLit>
          </c:cat>
          <c:val>
            <c:numLit>
              <c:formatCode>0.00</c:formatCode>
              <c:ptCount val="3"/>
              <c:pt idx="0">
                <c:v>79.3168837024659</c:v>
              </c:pt>
              <c:pt idx="1">
                <c:v>79.6432490823884</c:v>
              </c:pt>
              <c:pt idx="2">
                <c:v>79.8321417516051</c:v>
              </c:pt>
            </c:numLit>
          </c:val>
          <c:smooth val="0"/>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Lit>
              <c:ptCount val="3"/>
              <c:pt idx="0">
                <c:v>Seed 42</c:v>
              </c:pt>
              <c:pt idx="1">
                <c:v>Seed 43</c:v>
              </c:pt>
              <c:pt idx="2">
                <c:v>Seed 44</c:v>
              </c:pt>
            </c:strLit>
          </c:cat>
          <c:val>
            <c:numLit>
              <c:formatCode>0.00</c:formatCode>
              <c:ptCount val="3"/>
              <c:pt idx="0">
                <c:v>82.937759460975</c:v>
              </c:pt>
              <c:pt idx="1">
                <c:v>82.8704437446863</c:v>
              </c:pt>
              <c:pt idx="2">
                <c:v>82.7738015289921</c:v>
              </c:pt>
            </c:numLit>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14827DA0-398B-475B-BC93-ACFB1F97F6CF}"/>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233E4769-9BF0-4CE5-A92B-1D10F5F84080}"/>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4B6B9FB9-1830-4B07-95E5-73890824DB95}"/>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D6830106-D9B3-46B1-8806-E7C3CF6241DA}"/>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493D11DC-9DA5-4588-9295-221383644B4D}"/>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EA2F4545-4DF9-4883-9DC3-1E36759A392F}"/>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3C70932-B317-4B21-A570-3CDB06817BC2}"/>
              </a:ext>
            </a:extLst>
          </p:cNvPr>
          <p:cNvPicPr>
            <a:picLocks xmlns:a="http://schemas.openxmlformats.org/drawingml/2006/main" noChangeAspect="1"/>
          </p:cNvPicPr>
          <p:nvPr/>
        </p:nvPicPr>
        <p:blipFill>
          <a:blip xmlns:r="http://schemas.openxmlformats.org/officeDocument/2006/relationships" xmlns:a="http://schemas.openxmlformats.org/drawingml/2006/main" r:embed="Rc6c562a0749b446b"/>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213986704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A1C787F5-B178-4B10-9247-E43AA9FF530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E2B8FF9B-EA1C-41B7-906A-248CD1FE01B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9F42A952-66AE-40E2-B1A3-A0D94209FD9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B0442780-8B7E-4F04-8137-1C9DDB3612DA}"/>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8F4D42AF-E249-4826-85F8-49599EF2A1CE}"/>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08BC8BA5-1146-477F-9F6B-61C340D07BD1}"/>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0BBE35D2-182E-408C-A0CC-BD451C29FD24}"/>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667F2B03-CC21-4B56-BEDE-AC0D2AB38BD7}"/>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1828359491"/>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1A39C2F3-5019-49EB-BFE7-18C66C6B4C14}"/>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E436E534-61A4-4C5A-B387-06E51F80F0D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4E8B086D-327A-46B6-B7B2-A720D1AF44E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B4B47FAD-FA80-466C-A1F3-95F0AC58995E}"/>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09AE91C7-F50D-4AB2-A97F-9FB8633732DF}"/>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23EBEEC9-B2BD-47CE-9BD7-7FD0EF7755EB}"/>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CCB20C52-4500-49BA-9D2A-1276B111C1E1}"/>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522909D3-74CF-4EE1-97D1-DC34774D78BD}"/>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F6F3CC8C-F448-4745-B2F5-63243AAD88B1}"/>
              </a:ext>
            </a:extLst>
          </p:cNvPr>
          <p:cNvPicPr>
            <a:picLocks xmlns:a="http://schemas.openxmlformats.org/drawingml/2006/main" noChangeAspect="1"/>
          </p:cNvPicPr>
          <p:nvPr/>
        </p:nvPicPr>
        <p:blipFill>
          <a:blip xmlns:r="http://schemas.openxmlformats.org/officeDocument/2006/relationships" xmlns:a="http://schemas.openxmlformats.org/drawingml/2006/main" r:embed="Ra93c724d06d04991"/>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A3223FDD-D8B4-48C6-81B9-1F95067188B8}"/>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195317524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1: 반전과 이진화">
            <a:extLst xmlns:a="http://schemas.openxmlformats.org/drawingml/2006/main">
              <a:ext uri="{FF2B5EF4-FFF2-40B4-BE49-F238E27FC236}">
                <a16:creationId xmlns:a16="http://schemas.microsoft.com/office/drawing/2014/main" id="{81B543E8-B51A-4B16-B53C-ADCC8F8CB07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1: 반전과 이진화</a:t>
            </a:r>
          </a:p>
        </p:txBody>
      </p:sp>
      <p:sp>
        <p:nvSpPr>
          <p:cNvPr id="2" name="2026 한국정보기술학회 추계 종합학술대회">
            <a:extLst xmlns:a="http://schemas.openxmlformats.org/drawingml/2006/main">
              <a:ext uri="{FF2B5EF4-FFF2-40B4-BE49-F238E27FC236}">
                <a16:creationId xmlns:a16="http://schemas.microsoft.com/office/drawing/2014/main" id="{44AB644E-8502-429B-A0A6-0481F55CE32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385A8267-9041-43FE-BD6D-3FD129D58E1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동일 원장면에서 비교한 변환 예시">
            <a:extLst xmlns:a="http://schemas.openxmlformats.org/drawingml/2006/main">
              <a:ext uri="{FF2B5EF4-FFF2-40B4-BE49-F238E27FC236}">
                <a16:creationId xmlns:a16="http://schemas.microsoft.com/office/drawing/2014/main" id="{26C72781-D6CD-472E-92FA-1FFE654DB686}"/>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동일 원장면에서 비교한 변환 예시</a:t>
            </a:r>
          </a:p>
        </p:txBody>
      </p:sp>
      <p:pic>
        <p:nvPicPr>
          <p:cNvPr id="5" name="">
            <a:extLst xmlns:a="http://schemas.openxmlformats.org/drawingml/2006/main">
              <a:ext uri="{FF2B5EF4-FFF2-40B4-BE49-F238E27FC236}">
                <a16:creationId xmlns:a16="http://schemas.microsoft.com/office/drawing/2014/main" id="{97C2BD44-070A-4D60-83E7-CB15891296E9}"/>
              </a:ext>
            </a:extLst>
          </p:cNvPr>
          <p:cNvPicPr>
            <a:picLocks xmlns:a="http://schemas.openxmlformats.org/drawingml/2006/main" noChangeAspect="1"/>
          </p:cNvPicPr>
          <p:nvPr/>
        </p:nvPicPr>
        <p:blipFill>
          <a:blip xmlns:r="http://schemas.openxmlformats.org/officeDocument/2006/relationships" xmlns:a="http://schemas.openxmlformats.org/drawingml/2006/main" r:embed="R2d1d7ce055624750"/>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Original">
            <a:extLst xmlns:a="http://schemas.openxmlformats.org/drawingml/2006/main">
              <a:ext uri="{FF2B5EF4-FFF2-40B4-BE49-F238E27FC236}">
                <a16:creationId xmlns:a16="http://schemas.microsoft.com/office/drawing/2014/main" id="{59599880-7BFA-493A-956B-50AF995BDFD4}"/>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7" name="전처리 기준 입력">
            <a:extLst xmlns:a="http://schemas.openxmlformats.org/drawingml/2006/main">
              <a:ext uri="{FF2B5EF4-FFF2-40B4-BE49-F238E27FC236}">
                <a16:creationId xmlns:a16="http://schemas.microsoft.com/office/drawing/2014/main" id="{87830E0C-6403-451E-971C-E72ECA467B86}"/>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전처리 기준 입력</a:t>
            </a:r>
          </a:p>
        </p:txBody>
      </p:sp>
      <p:pic>
        <p:nvPicPr>
          <p:cNvPr id="8" name="">
            <a:extLst xmlns:a="http://schemas.openxmlformats.org/drawingml/2006/main">
              <a:ext uri="{FF2B5EF4-FFF2-40B4-BE49-F238E27FC236}">
                <a16:creationId xmlns:a16="http://schemas.microsoft.com/office/drawing/2014/main" id="{32B4729B-6B67-4265-AE40-095EC90339CB}"/>
              </a:ext>
            </a:extLst>
          </p:cNvPr>
          <p:cNvPicPr>
            <a:picLocks xmlns:a="http://schemas.openxmlformats.org/drawingml/2006/main" noChangeAspect="1"/>
          </p:cNvPicPr>
          <p:nvPr/>
        </p:nvPicPr>
        <p:blipFill>
          <a:blip xmlns:r="http://schemas.openxmlformats.org/officeDocument/2006/relationships" xmlns:a="http://schemas.openxmlformats.org/drawingml/2006/main" r:embed="R3a310da257204684"/>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Invert">
            <a:extLst xmlns:a="http://schemas.openxmlformats.org/drawingml/2006/main">
              <a:ext uri="{FF2B5EF4-FFF2-40B4-BE49-F238E27FC236}">
                <a16:creationId xmlns:a16="http://schemas.microsoft.com/office/drawing/2014/main" id="{61D3D3A1-737D-43A9-A498-E43716891EFB}"/>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Invert</a:t>
            </a:r>
          </a:p>
        </p:txBody>
      </p:sp>
      <p:sp>
        <p:nvSpPr>
          <p:cNvPr id="10" name="1 − t">
            <a:extLst xmlns:a="http://schemas.openxmlformats.org/drawingml/2006/main">
              <a:ext uri="{FF2B5EF4-FFF2-40B4-BE49-F238E27FC236}">
                <a16:creationId xmlns:a16="http://schemas.microsoft.com/office/drawing/2014/main" id="{B02FF7D8-4131-4A8E-B472-2528864CB3D0}"/>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1 − t</a:t>
            </a:r>
          </a:p>
        </p:txBody>
      </p:sp>
      <p:pic>
        <p:nvPicPr>
          <p:cNvPr id="11" name="">
            <a:extLst xmlns:a="http://schemas.openxmlformats.org/drawingml/2006/main">
              <a:ext uri="{FF2B5EF4-FFF2-40B4-BE49-F238E27FC236}">
                <a16:creationId xmlns:a16="http://schemas.microsoft.com/office/drawing/2014/main" id="{654FB8DF-87E7-4064-A229-7FB7C1F23996}"/>
              </a:ext>
            </a:extLst>
          </p:cNvPr>
          <p:cNvPicPr>
            <a:picLocks xmlns:a="http://schemas.openxmlformats.org/drawingml/2006/main" noChangeAspect="1"/>
          </p:cNvPicPr>
          <p:nvPr/>
        </p:nvPicPr>
        <p:blipFill>
          <a:blip xmlns:r="http://schemas.openxmlformats.org/officeDocument/2006/relationships" xmlns:a="http://schemas.openxmlformats.org/drawingml/2006/main" r:embed="R1de7c55882ee4bca"/>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tsu Threshold">
            <a:extLst xmlns:a="http://schemas.openxmlformats.org/drawingml/2006/main">
              <a:ext uri="{FF2B5EF4-FFF2-40B4-BE49-F238E27FC236}">
                <a16:creationId xmlns:a16="http://schemas.microsoft.com/office/drawing/2014/main" id="{C67FF0EC-867D-485B-AE58-E2F7366D3A3E}"/>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Otsu Threshold</a:t>
            </a:r>
          </a:p>
        </p:txBody>
      </p:sp>
      <p:sp>
        <p:nvSpPr>
          <p:cNvPr id="13" name="자동 임계값 이진화">
            <a:extLst xmlns:a="http://schemas.openxmlformats.org/drawingml/2006/main">
              <a:ext uri="{FF2B5EF4-FFF2-40B4-BE49-F238E27FC236}">
                <a16:creationId xmlns:a16="http://schemas.microsoft.com/office/drawing/2014/main" id="{45FA5138-65E1-4B80-8637-5364AEECE994}"/>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자동 임계값 이진화</a:t>
            </a:r>
          </a:p>
        </p:txBody>
      </p:sp>
    </p:spTree>
    <p:extLst>
      <p:ext uri="{BB962C8B-B14F-4D97-AF65-F5344CB8AC3E}">
        <p14:creationId xmlns:p14="http://schemas.microsoft.com/office/powerpoint/2010/main" val="135159284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2: 밝기와 대비">
            <a:extLst xmlns:a="http://schemas.openxmlformats.org/drawingml/2006/main">
              <a:ext uri="{FF2B5EF4-FFF2-40B4-BE49-F238E27FC236}">
                <a16:creationId xmlns:a16="http://schemas.microsoft.com/office/drawing/2014/main" id="{25F46C56-1AEC-4703-9545-F87162EEFC9C}"/>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2: 밝기와 대비</a:t>
            </a:r>
          </a:p>
        </p:txBody>
      </p:sp>
      <p:sp>
        <p:nvSpPr>
          <p:cNvPr id="2" name="2026 한국정보기술학회 추계 종합학술대회">
            <a:extLst xmlns:a="http://schemas.openxmlformats.org/drawingml/2006/main">
              <a:ext uri="{FF2B5EF4-FFF2-40B4-BE49-F238E27FC236}">
                <a16:creationId xmlns:a16="http://schemas.microsoft.com/office/drawing/2014/main" id="{4953581B-7AB0-4B0F-AB61-86122638B24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40519C40-BF48-455E-BF9A-9635D2CBE21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밝기 분포와 대비를 바꾸는 변환">
            <a:extLst xmlns:a="http://schemas.openxmlformats.org/drawingml/2006/main">
              <a:ext uri="{FF2B5EF4-FFF2-40B4-BE49-F238E27FC236}">
                <a16:creationId xmlns:a16="http://schemas.microsoft.com/office/drawing/2014/main" id="{21C9EE85-E81C-490A-A7D1-19EABC8E662A}"/>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밝기 분포와 대비를 바꾸는 변환</a:t>
            </a:r>
          </a:p>
        </p:txBody>
      </p:sp>
      <p:pic>
        <p:nvPicPr>
          <p:cNvPr id="5" name="">
            <a:extLst xmlns:a="http://schemas.openxmlformats.org/drawingml/2006/main">
              <a:ext uri="{FF2B5EF4-FFF2-40B4-BE49-F238E27FC236}">
                <a16:creationId xmlns:a16="http://schemas.microsoft.com/office/drawing/2014/main" id="{BDFACFB8-A749-4577-B7B8-5A7058C4B46D}"/>
              </a:ext>
            </a:extLst>
          </p:cNvPr>
          <p:cNvPicPr>
            <a:picLocks xmlns:a="http://schemas.openxmlformats.org/drawingml/2006/main" noChangeAspect="1"/>
          </p:cNvPicPr>
          <p:nvPr/>
        </p:nvPicPr>
        <p:blipFill>
          <a:blip xmlns:r="http://schemas.openxmlformats.org/officeDocument/2006/relationships" xmlns:a="http://schemas.openxmlformats.org/drawingml/2006/main" r:embed="Re2f7bcd6ef454a7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Solarize">
            <a:extLst xmlns:a="http://schemas.openxmlformats.org/drawingml/2006/main">
              <a:ext uri="{FF2B5EF4-FFF2-40B4-BE49-F238E27FC236}">
                <a16:creationId xmlns:a16="http://schemas.microsoft.com/office/drawing/2014/main" id="{FC03957F-3480-4A67-B937-01FF327A3230}"/>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Solarize</a:t>
            </a:r>
          </a:p>
        </p:txBody>
      </p:sp>
      <p:sp>
        <p:nvSpPr>
          <p:cNvPr id="7" name="t &gt; mean(t)일 때 반전">
            <a:extLst xmlns:a="http://schemas.openxmlformats.org/drawingml/2006/main">
              <a:ext uri="{FF2B5EF4-FFF2-40B4-BE49-F238E27FC236}">
                <a16:creationId xmlns:a16="http://schemas.microsoft.com/office/drawing/2014/main" id="{F5345CFD-E322-4549-8137-00C77107B9A4}"/>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t &gt; mean(t)일 때 반전</a:t>
            </a:r>
          </a:p>
        </p:txBody>
      </p:sp>
      <p:pic>
        <p:nvPicPr>
          <p:cNvPr id="8" name="">
            <a:extLst xmlns:a="http://schemas.openxmlformats.org/drawingml/2006/main">
              <a:ext uri="{FF2B5EF4-FFF2-40B4-BE49-F238E27FC236}">
                <a16:creationId xmlns:a16="http://schemas.microsoft.com/office/drawing/2014/main" id="{6230DB62-6801-43CA-9FD9-5BE933478FEB}"/>
              </a:ext>
            </a:extLst>
          </p:cNvPr>
          <p:cNvPicPr>
            <a:picLocks xmlns:a="http://schemas.openxmlformats.org/drawingml/2006/main" noChangeAspect="1"/>
          </p:cNvPicPr>
          <p:nvPr/>
        </p:nvPicPr>
        <p:blipFill>
          <a:blip xmlns:r="http://schemas.openxmlformats.org/officeDocument/2006/relationships" xmlns:a="http://schemas.openxmlformats.org/drawingml/2006/main" r:embed="R34e1be2dd63d4614"/>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Histogram Equalization">
            <a:extLst xmlns:a="http://schemas.openxmlformats.org/drawingml/2006/main">
              <a:ext uri="{FF2B5EF4-FFF2-40B4-BE49-F238E27FC236}">
                <a16:creationId xmlns:a16="http://schemas.microsoft.com/office/drawing/2014/main" id="{C05B52BE-E18A-49FF-8F01-8ECB0107CC18}"/>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Histogram Equalization</a:t>
            </a:r>
          </a:p>
        </p:txBody>
      </p:sp>
      <p:sp>
        <p:nvSpPr>
          <p:cNvPr id="10" name="전체 히스토그램 변환">
            <a:extLst xmlns:a="http://schemas.openxmlformats.org/drawingml/2006/main">
              <a:ext uri="{FF2B5EF4-FFF2-40B4-BE49-F238E27FC236}">
                <a16:creationId xmlns:a16="http://schemas.microsoft.com/office/drawing/2014/main" id="{6D47247A-6DCC-4CF9-961B-61334499EA02}"/>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전체 히스토그램 변환</a:t>
            </a:r>
          </a:p>
        </p:txBody>
      </p:sp>
      <p:pic>
        <p:nvPicPr>
          <p:cNvPr id="11" name="">
            <a:extLst xmlns:a="http://schemas.openxmlformats.org/drawingml/2006/main">
              <a:ext uri="{FF2B5EF4-FFF2-40B4-BE49-F238E27FC236}">
                <a16:creationId xmlns:a16="http://schemas.microsoft.com/office/drawing/2014/main" id="{2F6D3A16-BFCC-49F6-A965-5DE4AB86EDBB}"/>
              </a:ext>
            </a:extLst>
          </p:cNvPr>
          <p:cNvPicPr>
            <a:picLocks xmlns:a="http://schemas.openxmlformats.org/drawingml/2006/main" noChangeAspect="1"/>
          </p:cNvPicPr>
          <p:nvPr/>
        </p:nvPicPr>
        <p:blipFill>
          <a:blip xmlns:r="http://schemas.openxmlformats.org/officeDocument/2006/relationships" xmlns:a="http://schemas.openxmlformats.org/drawingml/2006/main" r:embed="R8ef6bf42c0fb4a0d"/>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CLAHE (max)">
            <a:extLst xmlns:a="http://schemas.openxmlformats.org/drawingml/2006/main">
              <a:ext uri="{FF2B5EF4-FFF2-40B4-BE49-F238E27FC236}">
                <a16:creationId xmlns:a16="http://schemas.microsoft.com/office/drawing/2014/main" id="{00BD1566-1806-4D5A-A2C0-6C379AD7323E}"/>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CLAHE (max)</a:t>
            </a:r>
          </a:p>
        </p:txBody>
      </p:sp>
      <p:sp>
        <p:nvSpPr>
          <p:cNvPr id="13" name="clip limit 40 / grid 16×16">
            <a:extLst xmlns:a="http://schemas.openxmlformats.org/drawingml/2006/main">
              <a:ext uri="{FF2B5EF4-FFF2-40B4-BE49-F238E27FC236}">
                <a16:creationId xmlns:a16="http://schemas.microsoft.com/office/drawing/2014/main" id="{A80F8AAC-3282-4AE9-8144-99BA343B249F}"/>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clip limit 40 / grid 16×16</a:t>
            </a:r>
          </a:p>
        </p:txBody>
      </p:sp>
    </p:spTree>
    <p:extLst>
      <p:ext uri="{BB962C8B-B14F-4D97-AF65-F5344CB8AC3E}">
        <p14:creationId xmlns:p14="http://schemas.microsoft.com/office/powerpoint/2010/main" val="175040860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3: 평활화와 경계">
            <a:extLst xmlns:a="http://schemas.openxmlformats.org/drawingml/2006/main">
              <a:ext uri="{FF2B5EF4-FFF2-40B4-BE49-F238E27FC236}">
                <a16:creationId xmlns:a16="http://schemas.microsoft.com/office/drawing/2014/main" id="{78A55798-6240-43FA-9185-70B5F06CDFD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3: 평활화와 경계</a:t>
            </a:r>
          </a:p>
        </p:txBody>
      </p:sp>
      <p:sp>
        <p:nvSpPr>
          <p:cNvPr id="2" name="2026 한국정보기술학회 추계 종합학술대회">
            <a:extLst xmlns:a="http://schemas.openxmlformats.org/drawingml/2006/main">
              <a:ext uri="{FF2B5EF4-FFF2-40B4-BE49-F238E27FC236}">
                <a16:creationId xmlns:a16="http://schemas.microsoft.com/office/drawing/2014/main" id="{98AD0F1D-F29C-4486-BA96-98DB04525A4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C7D5B6E3-1BC7-4286-A741-E16B398F74E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실제 코드의 고정 파라미터를 적용한 예시">
            <a:extLst xmlns:a="http://schemas.openxmlformats.org/drawingml/2006/main">
              <a:ext uri="{FF2B5EF4-FFF2-40B4-BE49-F238E27FC236}">
                <a16:creationId xmlns:a16="http://schemas.microsoft.com/office/drawing/2014/main" id="{025F6FE2-083B-4DB1-B08C-349D42698251}"/>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실제 코드의 고정 파라미터를 적용한 예시</a:t>
            </a:r>
          </a:p>
        </p:txBody>
      </p:sp>
      <p:pic>
        <p:nvPicPr>
          <p:cNvPr id="5" name="">
            <a:extLst xmlns:a="http://schemas.openxmlformats.org/drawingml/2006/main">
              <a:ext uri="{FF2B5EF4-FFF2-40B4-BE49-F238E27FC236}">
                <a16:creationId xmlns:a16="http://schemas.microsoft.com/office/drawing/2014/main" id="{FD1F1FF8-0172-43FF-A18A-898AC186FE78}"/>
              </a:ext>
            </a:extLst>
          </p:cNvPr>
          <p:cNvPicPr>
            <a:picLocks xmlns:a="http://schemas.openxmlformats.org/drawingml/2006/main" noChangeAspect="1"/>
          </p:cNvPicPr>
          <p:nvPr/>
        </p:nvPicPr>
        <p:blipFill>
          <a:blip xmlns:r="http://schemas.openxmlformats.org/officeDocument/2006/relationships" xmlns:a="http://schemas.openxmlformats.org/drawingml/2006/main" r:embed="R76e855a0d63240a1"/>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Gamma 0.3">
            <a:extLst xmlns:a="http://schemas.openxmlformats.org/drawingml/2006/main">
              <a:ext uri="{FF2B5EF4-FFF2-40B4-BE49-F238E27FC236}">
                <a16:creationId xmlns:a16="http://schemas.microsoft.com/office/drawing/2014/main" id="{C68D1843-4048-4C1A-8CB1-132C3AB5C046}"/>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Gamma 0.3</a:t>
            </a:r>
          </a:p>
        </p:txBody>
      </p:sp>
      <p:sp>
        <p:nvSpPr>
          <p:cNvPr id="7" name="정규화 밝기 t의 0.3제곱">
            <a:extLst xmlns:a="http://schemas.openxmlformats.org/drawingml/2006/main">
              <a:ext uri="{FF2B5EF4-FFF2-40B4-BE49-F238E27FC236}">
                <a16:creationId xmlns:a16="http://schemas.microsoft.com/office/drawing/2014/main" id="{68911A97-5E95-40D9-93FF-DA2E316A5CFE}"/>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정규화 밝기 t의 0.3제곱</a:t>
            </a:r>
          </a:p>
        </p:txBody>
      </p:sp>
      <p:pic>
        <p:nvPicPr>
          <p:cNvPr id="8" name="">
            <a:extLst xmlns:a="http://schemas.openxmlformats.org/drawingml/2006/main">
              <a:ext uri="{FF2B5EF4-FFF2-40B4-BE49-F238E27FC236}">
                <a16:creationId xmlns:a16="http://schemas.microsoft.com/office/drawing/2014/main" id="{DCF16DAA-5BF6-4CA0-8455-D3899B6CC945}"/>
              </a:ext>
            </a:extLst>
          </p:cNvPr>
          <p:cNvPicPr>
            <a:picLocks xmlns:a="http://schemas.openxmlformats.org/drawingml/2006/main" noChangeAspect="1"/>
          </p:cNvPicPr>
          <p:nvPr/>
        </p:nvPicPr>
        <p:blipFill>
          <a:blip xmlns:r="http://schemas.openxmlformats.org/officeDocument/2006/relationships" xmlns:a="http://schemas.openxmlformats.org/drawingml/2006/main" r:embed="Ra2792864dc134d28"/>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78F94668-E0B6-483C-8F68-DE92EB8F0D89}"/>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σ=20 px / kernel 121×121">
            <a:extLst xmlns:a="http://schemas.openxmlformats.org/drawingml/2006/main">
              <a:ext uri="{FF2B5EF4-FFF2-40B4-BE49-F238E27FC236}">
                <a16:creationId xmlns:a16="http://schemas.microsoft.com/office/drawing/2014/main" id="{25DFE60D-DBC6-45FB-AE37-CF984790E67D}"/>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σ=20 px / kernel 121×121</a:t>
            </a:r>
          </a:p>
        </p:txBody>
      </p:sp>
      <p:pic>
        <p:nvPicPr>
          <p:cNvPr id="11" name="">
            <a:extLst xmlns:a="http://schemas.openxmlformats.org/drawingml/2006/main">
              <a:ext uri="{FF2B5EF4-FFF2-40B4-BE49-F238E27FC236}">
                <a16:creationId xmlns:a16="http://schemas.microsoft.com/office/drawing/2014/main" id="{0A7B4E7A-7927-432E-87A2-BD0F6ED55F89}"/>
              </a:ext>
            </a:extLst>
          </p:cNvPr>
          <p:cNvPicPr>
            <a:picLocks xmlns:a="http://schemas.openxmlformats.org/drawingml/2006/main" noChangeAspect="1"/>
          </p:cNvPicPr>
          <p:nvPr/>
        </p:nvPicPr>
        <p:blipFill>
          <a:blip xmlns:r="http://schemas.openxmlformats.org/officeDocument/2006/relationships" xmlns:a="http://schemas.openxmlformats.org/drawingml/2006/main" r:embed="Reea64b3053584342"/>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Sobel Edges">
            <a:extLst xmlns:a="http://schemas.openxmlformats.org/drawingml/2006/main">
              <a:ext uri="{FF2B5EF4-FFF2-40B4-BE49-F238E27FC236}">
                <a16:creationId xmlns:a16="http://schemas.microsoft.com/office/drawing/2014/main" id="{ADB9154A-1AD8-4568-9CAF-13A90A4640F3}"/>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Sobel Edges</a:t>
            </a:r>
          </a:p>
        </p:txBody>
      </p:sp>
      <p:sp>
        <p:nvSpPr>
          <p:cNvPr id="13" name="정규화한 경계 응답의 제곱근">
            <a:extLst xmlns:a="http://schemas.openxmlformats.org/drawingml/2006/main">
              <a:ext uri="{FF2B5EF4-FFF2-40B4-BE49-F238E27FC236}">
                <a16:creationId xmlns:a16="http://schemas.microsoft.com/office/drawing/2014/main" id="{0ED30406-9EA0-4782-A6A7-DD015E45CB53}"/>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정규화한 경계 응답의 제곱근</a:t>
            </a:r>
          </a:p>
        </p:txBody>
      </p:sp>
    </p:spTree>
    <p:extLst>
      <p:ext uri="{BB962C8B-B14F-4D97-AF65-F5344CB8AC3E}">
        <p14:creationId xmlns:p14="http://schemas.microsoft.com/office/powerpoint/2010/main" val="179159670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4: 음영과 선명화">
            <a:extLst xmlns:a="http://schemas.openxmlformats.org/drawingml/2006/main">
              <a:ext uri="{FF2B5EF4-FFF2-40B4-BE49-F238E27FC236}">
                <a16:creationId xmlns:a16="http://schemas.microsoft.com/office/drawing/2014/main" id="{ABBDE1F4-D4EB-4096-A549-EAA6228CD54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4: 음영과 선명화</a:t>
            </a:r>
          </a:p>
        </p:txBody>
      </p:sp>
      <p:sp>
        <p:nvSpPr>
          <p:cNvPr id="2" name="2026 한국정보기술학회 추계 종합학술대회">
            <a:extLst xmlns:a="http://schemas.openxmlformats.org/drawingml/2006/main">
              <a:ext uri="{FF2B5EF4-FFF2-40B4-BE49-F238E27FC236}">
                <a16:creationId xmlns:a16="http://schemas.microsoft.com/office/drawing/2014/main" id="{57890577-13F8-4F4D-8F80-72664BEE131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85EAA2D2-4E8F-4E7B-974C-F42257CE1E0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음영·선명화 변환과 원본 비교">
            <a:extLst xmlns:a="http://schemas.openxmlformats.org/drawingml/2006/main">
              <a:ext uri="{FF2B5EF4-FFF2-40B4-BE49-F238E27FC236}">
                <a16:creationId xmlns:a16="http://schemas.microsoft.com/office/drawing/2014/main" id="{7F711F47-D686-459B-8973-263AE511DB59}"/>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음영·선명화 변환과 원본 비교</a:t>
            </a:r>
          </a:p>
        </p:txBody>
      </p:sp>
      <p:pic>
        <p:nvPicPr>
          <p:cNvPr id="5" name="">
            <a:extLst xmlns:a="http://schemas.openxmlformats.org/drawingml/2006/main">
              <a:ext uri="{FF2B5EF4-FFF2-40B4-BE49-F238E27FC236}">
                <a16:creationId xmlns:a16="http://schemas.microsoft.com/office/drawing/2014/main" id="{C507A720-CB6A-403F-9684-C825D8F173A3}"/>
              </a:ext>
            </a:extLst>
          </p:cNvPr>
          <p:cNvPicPr>
            <a:picLocks xmlns:a="http://schemas.openxmlformats.org/drawingml/2006/main" noChangeAspect="1"/>
          </p:cNvPicPr>
          <p:nvPr/>
        </p:nvPicPr>
        <p:blipFill>
          <a:blip xmlns:r="http://schemas.openxmlformats.org/officeDocument/2006/relationships" xmlns:a="http://schemas.openxmlformats.org/drawingml/2006/main" r:embed="Rfd541f815d844802"/>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Emboss">
            <a:extLst xmlns:a="http://schemas.openxmlformats.org/drawingml/2006/main">
              <a:ext uri="{FF2B5EF4-FFF2-40B4-BE49-F238E27FC236}">
                <a16:creationId xmlns:a16="http://schemas.microsoft.com/office/drawing/2014/main" id="{528230C4-D1F4-47D9-8DC1-B5A49FE1E729}"/>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7" name="gain=4 / 응답 + 0.5">
            <a:extLst xmlns:a="http://schemas.openxmlformats.org/drawingml/2006/main">
              <a:ext uri="{FF2B5EF4-FFF2-40B4-BE49-F238E27FC236}">
                <a16:creationId xmlns:a16="http://schemas.microsoft.com/office/drawing/2014/main" id="{8E59E253-858A-4FBB-89F4-ADC18A5D8243}"/>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gain=4 / 응답 + 0.5</a:t>
            </a:r>
          </a:p>
        </p:txBody>
      </p:sp>
      <p:pic>
        <p:nvPicPr>
          <p:cNvPr id="8" name="">
            <a:extLst xmlns:a="http://schemas.openxmlformats.org/drawingml/2006/main">
              <a:ext uri="{FF2B5EF4-FFF2-40B4-BE49-F238E27FC236}">
                <a16:creationId xmlns:a16="http://schemas.microsoft.com/office/drawing/2014/main" id="{3B76E6FE-0A9C-40F0-B9CC-E18ED7306191}"/>
              </a:ext>
            </a:extLst>
          </p:cNvPr>
          <p:cNvPicPr>
            <a:picLocks xmlns:a="http://schemas.openxmlformats.org/drawingml/2006/main" noChangeAspect="1"/>
          </p:cNvPicPr>
          <p:nvPr/>
        </p:nvPicPr>
        <p:blipFill>
          <a:blip xmlns:r="http://schemas.openxmlformats.org/officeDocument/2006/relationships" xmlns:a="http://schemas.openxmlformats.org/drawingml/2006/main" r:embed="Rbfa4a31186174c01"/>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Unsharp (max)">
            <a:extLst xmlns:a="http://schemas.openxmlformats.org/drawingml/2006/main">
              <a:ext uri="{FF2B5EF4-FFF2-40B4-BE49-F238E27FC236}">
                <a16:creationId xmlns:a16="http://schemas.microsoft.com/office/drawing/2014/main" id="{59DB8496-6EC3-4063-AC8D-57E0E858C23D}"/>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Unsharp (max)</a:t>
            </a:r>
          </a:p>
        </p:txBody>
      </p:sp>
      <p:sp>
        <p:nvSpPr>
          <p:cNvPr id="10" name="amount=8 / σ=2">
            <a:extLst xmlns:a="http://schemas.openxmlformats.org/drawingml/2006/main">
              <a:ext uri="{FF2B5EF4-FFF2-40B4-BE49-F238E27FC236}">
                <a16:creationId xmlns:a16="http://schemas.microsoft.com/office/drawing/2014/main" id="{FAA99683-4806-4170-B851-43B674435E9A}"/>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amount=8 / σ=2</a:t>
            </a:r>
          </a:p>
        </p:txBody>
      </p:sp>
      <p:pic>
        <p:nvPicPr>
          <p:cNvPr id="11" name="">
            <a:extLst xmlns:a="http://schemas.openxmlformats.org/drawingml/2006/main">
              <a:ext uri="{FF2B5EF4-FFF2-40B4-BE49-F238E27FC236}">
                <a16:creationId xmlns:a16="http://schemas.microsoft.com/office/drawing/2014/main" id="{4A00052B-8F91-4872-BB91-5C0CDFC19919}"/>
              </a:ext>
            </a:extLst>
          </p:cNvPr>
          <p:cNvPicPr>
            <a:picLocks xmlns:a="http://schemas.openxmlformats.org/drawingml/2006/main" noChangeAspect="1"/>
          </p:cNvPicPr>
          <p:nvPr/>
        </p:nvPicPr>
        <p:blipFill>
          <a:blip xmlns:r="http://schemas.openxmlformats.org/officeDocument/2006/relationships" xmlns:a="http://schemas.openxmlformats.org/drawingml/2006/main" r:embed="R40c0d186a57a4043"/>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riginal">
            <a:extLst xmlns:a="http://schemas.openxmlformats.org/drawingml/2006/main">
              <a:ext uri="{FF2B5EF4-FFF2-40B4-BE49-F238E27FC236}">
                <a16:creationId xmlns:a16="http://schemas.microsoft.com/office/drawing/2014/main" id="{8017BE3F-DCC8-448B-9CE3-4B1B87CA9F12}"/>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13" name="비교를 위한 원본 재제시">
            <a:extLst xmlns:a="http://schemas.openxmlformats.org/drawingml/2006/main">
              <a:ext uri="{FF2B5EF4-FFF2-40B4-BE49-F238E27FC236}">
                <a16:creationId xmlns:a16="http://schemas.microsoft.com/office/drawing/2014/main" id="{9A6EE661-E3C0-4397-9C8D-4A9A3774D771}"/>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비교를 위한 원본 재제시</a:t>
            </a:r>
          </a:p>
        </p:txBody>
      </p:sp>
    </p:spTree>
    <p:extLst>
      <p:ext uri="{BB962C8B-B14F-4D97-AF65-F5344CB8AC3E}">
        <p14:creationId xmlns:p14="http://schemas.microsoft.com/office/powerpoint/2010/main" val="926772586"/>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순차 조합 영상 1">
            <a:extLst xmlns:a="http://schemas.openxmlformats.org/drawingml/2006/main">
              <a:ext uri="{FF2B5EF4-FFF2-40B4-BE49-F238E27FC236}">
                <a16:creationId xmlns:a16="http://schemas.microsoft.com/office/drawing/2014/main" id="{88F91DC1-4AF0-4A9C-8B13-AFF22A8D4EC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순차 조합 영상 1</a:t>
            </a:r>
          </a:p>
        </p:txBody>
      </p:sp>
      <p:sp>
        <p:nvSpPr>
          <p:cNvPr id="2" name="2026 한국정보기술학회 추계 종합학술대회">
            <a:extLst xmlns:a="http://schemas.openxmlformats.org/drawingml/2006/main">
              <a:ext uri="{FF2B5EF4-FFF2-40B4-BE49-F238E27FC236}">
                <a16:creationId xmlns:a16="http://schemas.microsoft.com/office/drawing/2014/main" id="{4AF983F0-BD6E-41A2-A611-3C6A069056ED}"/>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586581D0-92E6-4B46-8C56-C77125E33E28}"/>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A+B는 A의 출력 영상에 B를 순차적으로 적용">
            <a:extLst xmlns:a="http://schemas.openxmlformats.org/drawingml/2006/main">
              <a:ext uri="{FF2B5EF4-FFF2-40B4-BE49-F238E27FC236}">
                <a16:creationId xmlns:a16="http://schemas.microsoft.com/office/drawing/2014/main" id="{78D6D123-A420-4DFD-B6D4-C119DDD7AC58}"/>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A+B는 A의 출력 영상에 B를 순차적으로 적용</a:t>
            </a:r>
          </a:p>
        </p:txBody>
      </p:sp>
      <p:pic>
        <p:nvPicPr>
          <p:cNvPr id="5" name="">
            <a:extLst xmlns:a="http://schemas.openxmlformats.org/drawingml/2006/main">
              <a:ext uri="{FF2B5EF4-FFF2-40B4-BE49-F238E27FC236}">
                <a16:creationId xmlns:a16="http://schemas.microsoft.com/office/drawing/2014/main" id="{5C8C0D30-EC56-4ACF-A454-7DBBEE4776D0}"/>
              </a:ext>
            </a:extLst>
          </p:cNvPr>
          <p:cNvPicPr>
            <a:picLocks xmlns:a="http://schemas.openxmlformats.org/drawingml/2006/main" noChangeAspect="1"/>
          </p:cNvPicPr>
          <p:nvPr/>
        </p:nvPicPr>
        <p:blipFill>
          <a:blip xmlns:r="http://schemas.openxmlformats.org/officeDocument/2006/relationships" xmlns:a="http://schemas.openxmlformats.org/drawingml/2006/main" r:embed="R01cfd125c8cc4ab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Invert+CLAHE">
            <a:extLst xmlns:a="http://schemas.openxmlformats.org/drawingml/2006/main">
              <a:ext uri="{FF2B5EF4-FFF2-40B4-BE49-F238E27FC236}">
                <a16:creationId xmlns:a16="http://schemas.microsoft.com/office/drawing/2014/main" id="{1A8A48AC-EB3A-4790-A165-153A95ABD32C}"/>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Invert+CLAHE</a:t>
            </a:r>
          </a:p>
        </p:txBody>
      </p:sp>
      <p:sp>
        <p:nvSpPr>
          <p:cNvPr id="7" name="반전 후 지역 대비 조정">
            <a:extLst xmlns:a="http://schemas.openxmlformats.org/drawingml/2006/main">
              <a:ext uri="{FF2B5EF4-FFF2-40B4-BE49-F238E27FC236}">
                <a16:creationId xmlns:a16="http://schemas.microsoft.com/office/drawing/2014/main" id="{72433B9A-ACD2-4522-8C26-678AA4A398FF}"/>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반전 후 지역 대비 조정</a:t>
            </a:r>
          </a:p>
        </p:txBody>
      </p:sp>
      <p:pic>
        <p:nvPicPr>
          <p:cNvPr id="8" name="">
            <a:extLst xmlns:a="http://schemas.openxmlformats.org/drawingml/2006/main">
              <a:ext uri="{FF2B5EF4-FFF2-40B4-BE49-F238E27FC236}">
                <a16:creationId xmlns:a16="http://schemas.microsoft.com/office/drawing/2014/main" id="{E94B7FCC-A10B-4659-BB98-7D8AC8A43F80}"/>
              </a:ext>
            </a:extLst>
          </p:cNvPr>
          <p:cNvPicPr>
            <a:picLocks xmlns:a="http://schemas.openxmlformats.org/drawingml/2006/main" noChangeAspect="1"/>
          </p:cNvPicPr>
          <p:nvPr/>
        </p:nvPicPr>
        <p:blipFill>
          <a:blip xmlns:r="http://schemas.openxmlformats.org/officeDocument/2006/relationships" xmlns:a="http://schemas.openxmlformats.org/drawingml/2006/main" r:embed="R91f9b9032f7d41a8"/>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Blur+Otsu">
            <a:extLst xmlns:a="http://schemas.openxmlformats.org/drawingml/2006/main">
              <a:ext uri="{FF2B5EF4-FFF2-40B4-BE49-F238E27FC236}">
                <a16:creationId xmlns:a16="http://schemas.microsoft.com/office/drawing/2014/main" id="{8E102442-105B-41CF-92C3-EF95D818D41B}"/>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Blur+Otsu</a:t>
            </a:r>
          </a:p>
        </p:txBody>
      </p:sp>
      <p:sp>
        <p:nvSpPr>
          <p:cNvPr id="10" name="평활화 후 이진화">
            <a:extLst xmlns:a="http://schemas.openxmlformats.org/drawingml/2006/main">
              <a:ext uri="{FF2B5EF4-FFF2-40B4-BE49-F238E27FC236}">
                <a16:creationId xmlns:a16="http://schemas.microsoft.com/office/drawing/2014/main" id="{BDA842E7-C65A-48EE-AABA-A61BD826B1C8}"/>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평활화 후 이진화</a:t>
            </a:r>
          </a:p>
        </p:txBody>
      </p:sp>
      <p:pic>
        <p:nvPicPr>
          <p:cNvPr id="11" name="">
            <a:extLst xmlns:a="http://schemas.openxmlformats.org/drawingml/2006/main">
              <a:ext uri="{FF2B5EF4-FFF2-40B4-BE49-F238E27FC236}">
                <a16:creationId xmlns:a16="http://schemas.microsoft.com/office/drawing/2014/main" id="{CAEC0C43-F85A-462B-A4B1-3FB52474129F}"/>
              </a:ext>
            </a:extLst>
          </p:cNvPr>
          <p:cNvPicPr>
            <a:picLocks xmlns:a="http://schemas.openxmlformats.org/drawingml/2006/main" noChangeAspect="1"/>
          </p:cNvPicPr>
          <p:nvPr/>
        </p:nvPicPr>
        <p:blipFill>
          <a:blip xmlns:r="http://schemas.openxmlformats.org/officeDocument/2006/relationships" xmlns:a="http://schemas.openxmlformats.org/drawingml/2006/main" r:embed="Rb719b924d4334d16"/>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Sobel+Invert">
            <a:extLst xmlns:a="http://schemas.openxmlformats.org/drawingml/2006/main">
              <a:ext uri="{FF2B5EF4-FFF2-40B4-BE49-F238E27FC236}">
                <a16:creationId xmlns:a16="http://schemas.microsoft.com/office/drawing/2014/main" id="{916E7A68-CA1D-4DFD-9B0F-9ACBC93F51A1}"/>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Sobel+Invert</a:t>
            </a:r>
          </a:p>
        </p:txBody>
      </p:sp>
      <p:sp>
        <p:nvSpPr>
          <p:cNvPr id="13" name="경계 응답 후 반전">
            <a:extLst xmlns:a="http://schemas.openxmlformats.org/drawingml/2006/main">
              <a:ext uri="{FF2B5EF4-FFF2-40B4-BE49-F238E27FC236}">
                <a16:creationId xmlns:a16="http://schemas.microsoft.com/office/drawing/2014/main" id="{B87E4BD6-4927-4AE9-9651-F1574340ED04}"/>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경계 응답 후 반전</a:t>
            </a:r>
          </a:p>
        </p:txBody>
      </p:sp>
    </p:spTree>
    <p:extLst>
      <p:ext uri="{BB962C8B-B14F-4D97-AF65-F5344CB8AC3E}">
        <p14:creationId xmlns:p14="http://schemas.microsoft.com/office/powerpoint/2010/main" val="1672119163"/>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순차 조합 영상 2">
            <a:extLst xmlns:a="http://schemas.openxmlformats.org/drawingml/2006/main">
              <a:ext uri="{FF2B5EF4-FFF2-40B4-BE49-F238E27FC236}">
                <a16:creationId xmlns:a16="http://schemas.microsoft.com/office/drawing/2014/main" id="{ABC15802-56AE-47DF-B291-3E2C79AA7B54}"/>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순차 조합 영상 2</a:t>
            </a:r>
          </a:p>
        </p:txBody>
      </p:sp>
      <p:sp>
        <p:nvSpPr>
          <p:cNvPr id="2" name="2026 한국정보기술학회 추계 종합학술대회">
            <a:extLst xmlns:a="http://schemas.openxmlformats.org/drawingml/2006/main">
              <a:ext uri="{FF2B5EF4-FFF2-40B4-BE49-F238E27FC236}">
                <a16:creationId xmlns:a16="http://schemas.microsoft.com/office/drawing/2014/main" id="{C76842AE-BC46-4A9D-AF86-791218AB50F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5746E9D1-BA12-4943-9476-3112D94A270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역순·가능한 전체 조합은 평가 범위에 포함하지 않음">
            <a:extLst xmlns:a="http://schemas.openxmlformats.org/drawingml/2006/main">
              <a:ext uri="{FF2B5EF4-FFF2-40B4-BE49-F238E27FC236}">
                <a16:creationId xmlns:a16="http://schemas.microsoft.com/office/drawing/2014/main" id="{9B4254A5-D0D7-42FD-9378-B1E600277CEA}"/>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역순·가능한 전체 조합은 평가 범위에 포함하지 않음</a:t>
            </a:r>
          </a:p>
        </p:txBody>
      </p:sp>
      <p:pic>
        <p:nvPicPr>
          <p:cNvPr id="5" name="">
            <a:extLst xmlns:a="http://schemas.openxmlformats.org/drawingml/2006/main">
              <a:ext uri="{FF2B5EF4-FFF2-40B4-BE49-F238E27FC236}">
                <a16:creationId xmlns:a16="http://schemas.microsoft.com/office/drawing/2014/main" id="{4E213246-3530-4F9C-A3E3-252A2B39A025}"/>
              </a:ext>
            </a:extLst>
          </p:cNvPr>
          <p:cNvPicPr>
            <a:picLocks xmlns:a="http://schemas.openxmlformats.org/drawingml/2006/main" noChangeAspect="1"/>
          </p:cNvPicPr>
          <p:nvPr/>
        </p:nvPicPr>
        <p:blipFill>
          <a:blip xmlns:r="http://schemas.openxmlformats.org/officeDocument/2006/relationships" xmlns:a="http://schemas.openxmlformats.org/drawingml/2006/main" r:embed="Rf32d9605fc1e4ce6"/>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HistEq+Emboss">
            <a:extLst xmlns:a="http://schemas.openxmlformats.org/drawingml/2006/main">
              <a:ext uri="{FF2B5EF4-FFF2-40B4-BE49-F238E27FC236}">
                <a16:creationId xmlns:a16="http://schemas.microsoft.com/office/drawing/2014/main" id="{0EDD58E0-B7A9-41D5-A359-B0F7C65AEF8D}"/>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HistEq+Emboss</a:t>
            </a:r>
          </a:p>
        </p:txBody>
      </p:sp>
      <p:sp>
        <p:nvSpPr>
          <p:cNvPr id="7" name="히스토그램 변환 후 Emboss">
            <a:extLst xmlns:a="http://schemas.openxmlformats.org/drawingml/2006/main">
              <a:ext uri="{FF2B5EF4-FFF2-40B4-BE49-F238E27FC236}">
                <a16:creationId xmlns:a16="http://schemas.microsoft.com/office/drawing/2014/main" id="{24D95F41-BFBD-4030-9645-D6244E56499C}"/>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히스토그램 변환 후 Emboss</a:t>
            </a:r>
          </a:p>
        </p:txBody>
      </p:sp>
      <p:pic>
        <p:nvPicPr>
          <p:cNvPr id="8" name="">
            <a:extLst xmlns:a="http://schemas.openxmlformats.org/drawingml/2006/main">
              <a:ext uri="{FF2B5EF4-FFF2-40B4-BE49-F238E27FC236}">
                <a16:creationId xmlns:a16="http://schemas.microsoft.com/office/drawing/2014/main" id="{D8D09FB7-350A-4933-ABDF-29BA64AAD524}"/>
              </a:ext>
            </a:extLst>
          </p:cNvPr>
          <p:cNvPicPr>
            <a:picLocks xmlns:a="http://schemas.openxmlformats.org/drawingml/2006/main" noChangeAspect="1"/>
          </p:cNvPicPr>
          <p:nvPr/>
        </p:nvPicPr>
        <p:blipFill>
          <a:blip xmlns:r="http://schemas.openxmlformats.org/officeDocument/2006/relationships" xmlns:a="http://schemas.openxmlformats.org/drawingml/2006/main" r:embed="Rb26f8e1e061743d4"/>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Unsharp+Sobel">
            <a:extLst xmlns:a="http://schemas.openxmlformats.org/drawingml/2006/main">
              <a:ext uri="{FF2B5EF4-FFF2-40B4-BE49-F238E27FC236}">
                <a16:creationId xmlns:a16="http://schemas.microsoft.com/office/drawing/2014/main" id="{C0E08C51-227B-4084-8F0B-3CB5146FD7D4}"/>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Unsharp+Sobel</a:t>
            </a:r>
          </a:p>
        </p:txBody>
      </p:sp>
      <p:sp>
        <p:nvSpPr>
          <p:cNvPr id="10" name="선명화 후 경계 응답">
            <a:extLst xmlns:a="http://schemas.openxmlformats.org/drawingml/2006/main">
              <a:ext uri="{FF2B5EF4-FFF2-40B4-BE49-F238E27FC236}">
                <a16:creationId xmlns:a16="http://schemas.microsoft.com/office/drawing/2014/main" id="{30F99444-43D2-485D-9296-884F4CD8A569}"/>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선명화 후 경계 응답</a:t>
            </a:r>
          </a:p>
        </p:txBody>
      </p:sp>
      <p:pic>
        <p:nvPicPr>
          <p:cNvPr id="11" name="">
            <a:extLst xmlns:a="http://schemas.openxmlformats.org/drawingml/2006/main">
              <a:ext uri="{FF2B5EF4-FFF2-40B4-BE49-F238E27FC236}">
                <a16:creationId xmlns:a16="http://schemas.microsoft.com/office/drawing/2014/main" id="{6CB21B93-0A01-4EFC-A619-A9F893E2DD66}"/>
              </a:ext>
            </a:extLst>
          </p:cNvPr>
          <p:cNvPicPr>
            <a:picLocks xmlns:a="http://schemas.openxmlformats.org/drawingml/2006/main" noChangeAspect="1"/>
          </p:cNvPicPr>
          <p:nvPr/>
        </p:nvPicPr>
        <p:blipFill>
          <a:blip xmlns:r="http://schemas.openxmlformats.org/officeDocument/2006/relationships" xmlns:a="http://schemas.openxmlformats.org/drawingml/2006/main" r:embed="R3c54edda6dbe43c1"/>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riginal">
            <a:extLst xmlns:a="http://schemas.openxmlformats.org/drawingml/2006/main">
              <a:ext uri="{FF2B5EF4-FFF2-40B4-BE49-F238E27FC236}">
                <a16:creationId xmlns:a16="http://schemas.microsoft.com/office/drawing/2014/main" id="{51BDB0C0-46C4-4DCD-AA84-B1CB9FBFFD87}"/>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13" name="비교를 위한 원본 재제시">
            <a:extLst xmlns:a="http://schemas.openxmlformats.org/drawingml/2006/main">
              <a:ext uri="{FF2B5EF4-FFF2-40B4-BE49-F238E27FC236}">
                <a16:creationId xmlns:a16="http://schemas.microsoft.com/office/drawing/2014/main" id="{3F774121-D041-4426-9914-8AD84F189CBC}"/>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비교를 위한 원본 재제시</a:t>
            </a:r>
          </a:p>
        </p:txBody>
      </p:sp>
    </p:spTree>
    <p:extLst>
      <p:ext uri="{BB962C8B-B14F-4D97-AF65-F5344CB8AC3E}">
        <p14:creationId xmlns:p14="http://schemas.microsoft.com/office/powerpoint/2010/main" val="2090685519"/>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52387EB0-7DA5-4A11-86FA-C217B9847D2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7A9B22D5-8B3A-4322-B5B6-770779E46E1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5EC556F8-1D9C-455D-8B4B-3874DC814F1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조건별 YOLOv8n 재학습">
            <a:extLst xmlns:a="http://schemas.openxmlformats.org/drawingml/2006/main">
              <a:ext uri="{FF2B5EF4-FFF2-40B4-BE49-F238E27FC236}">
                <a16:creationId xmlns:a16="http://schemas.microsoft.com/office/drawing/2014/main" id="{FB422B73-6461-4CA6-B390-2EF9A99C156B}"/>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BC2F223A-12AB-4D46-8875-A79BDA71C85C}"/>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787CD517-871A-4507-B115-ACC46CDE85DA}"/>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6FCA28CA-AD80-4AA3-B658-1C87A6229109}"/>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DCD31853-0F42-49E5-8212-A0531DF73766}"/>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5D13D4FB-0774-4AD7-A580-4D7146CA5315}"/>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70631025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9FDC6301-B73D-4E8E-98C3-5D25A4E13CF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3E8FB0EB-F1B0-4358-8798-2A7300B994C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4CE38111-6116-4FF3-9A3C-A9BBA6D1D1B3}"/>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mAP50-95 (%)  /  Clean  /  Seed ">
            <a:extLst xmlns:a="http://schemas.openxmlformats.org/drawingml/2006/main">
              <a:ext uri="{FF2B5EF4-FFF2-40B4-BE49-F238E27FC236}">
                <a16:creationId xmlns:a16="http://schemas.microsoft.com/office/drawing/2014/main" id="{4F1FD83E-6CFF-4A36-8BC0-6CC57B28B5B8}"/>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CB82A1BE-8C2C-4A26-B6FB-07364DCD6F8D}"/>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a31fa84404474ba3"/>
          </a:graphicData>
        </a:graphic>
      </p:graphicFrame>
      <p:sp>
        <p:nvSpPr>
          <p:cNvPr id="6" name="Gamma 0.3 96.70%     Original 96">
            <a:extLst xmlns:a="http://schemas.openxmlformats.org/drawingml/2006/main">
              <a:ext uri="{FF2B5EF4-FFF2-40B4-BE49-F238E27FC236}">
                <a16:creationId xmlns:a16="http://schemas.microsoft.com/office/drawing/2014/main" id="{BC2BFF58-28A4-471E-AF7A-CB3FD4F6E5D8}"/>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528366362"/>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CD087698-9383-4AC0-ACF5-0999C2588E4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24636B25-DDF0-40FE-BA8D-FBC194565B8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C5D5887C-57DC-448F-A38D-13202735FCAA}"/>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mAP50-95 (%)  /  Clean  /  Seed ">
            <a:extLst xmlns:a="http://schemas.openxmlformats.org/drawingml/2006/main">
              <a:ext uri="{FF2B5EF4-FFF2-40B4-BE49-F238E27FC236}">
                <a16:creationId xmlns:a16="http://schemas.microsoft.com/office/drawing/2014/main" id="{8333E6C1-1E90-474A-A78B-6235EB17159C}"/>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A45769CF-85E1-4023-9A63-88CE92C28105}"/>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3c9050fa71df48ea"/>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FD3B00D8-6A86-48D7-8507-30A5B1F317AE}"/>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9865820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4FFA62E3-426A-464D-892C-914EE3D7273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46ABC115-3325-491E-A5D4-5B755CC27A9C}"/>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E3CBE4BD-C3BC-424B-BF0B-C0A3B1C5984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ean / Seed 42">
            <a:extLst xmlns:a="http://schemas.openxmlformats.org/drawingml/2006/main">
              <a:ext uri="{FF2B5EF4-FFF2-40B4-BE49-F238E27FC236}">
                <a16:creationId xmlns:a16="http://schemas.microsoft.com/office/drawing/2014/main" id="{B36B381A-163D-40AA-8846-A94C7D5B47FE}"/>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6EECA933-AFB5-47BC-92DF-709A4B342780}"/>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10baeacc5be84fbe"/>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6AA3D2F7-5CAE-438F-9331-F170B39C4882}"/>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207845588"/>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가우시안 잡음 영상: Noise std=40">
            <a:extLst xmlns:a="http://schemas.openxmlformats.org/drawingml/2006/main">
              <a:ext uri="{FF2B5EF4-FFF2-40B4-BE49-F238E27FC236}">
                <a16:creationId xmlns:a16="http://schemas.microsoft.com/office/drawing/2014/main" id="{C27B1F3D-D43E-42B1-9C2E-DC925155FCF1}"/>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가우시안 잡음 영상: Noise std=40</a:t>
            </a:r>
          </a:p>
        </p:txBody>
      </p:sp>
      <p:sp>
        <p:nvSpPr>
          <p:cNvPr id="2" name="2026 한국정보기술학회 추계 종합학술대회">
            <a:extLst xmlns:a="http://schemas.openxmlformats.org/drawingml/2006/main">
              <a:ext uri="{FF2B5EF4-FFF2-40B4-BE49-F238E27FC236}">
                <a16:creationId xmlns:a16="http://schemas.microsoft.com/office/drawing/2014/main" id="{5333AA2B-ED94-4949-A926-0F9006E533A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4D6E6784-3D4D-4CF1-A24C-528E3592FDB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Noise std=40을 추가한 동일 원장면의 저장 예시">
            <a:extLst xmlns:a="http://schemas.openxmlformats.org/drawingml/2006/main">
              <a:ext uri="{FF2B5EF4-FFF2-40B4-BE49-F238E27FC236}">
                <a16:creationId xmlns:a16="http://schemas.microsoft.com/office/drawing/2014/main" id="{C6DD81D5-B03D-48AB-BFE1-F8BAB21B8716}"/>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Noise std=40을 추가한 동일 원장면의 저장 예시</a:t>
            </a:r>
          </a:p>
        </p:txBody>
      </p:sp>
      <p:pic>
        <p:nvPicPr>
          <p:cNvPr id="5" name="">
            <a:extLst xmlns:a="http://schemas.openxmlformats.org/drawingml/2006/main">
              <a:ext uri="{FF2B5EF4-FFF2-40B4-BE49-F238E27FC236}">
                <a16:creationId xmlns:a16="http://schemas.microsoft.com/office/drawing/2014/main" id="{DF94B241-7B24-4716-817D-78907BA79569}"/>
              </a:ext>
            </a:extLst>
          </p:cNvPr>
          <p:cNvPicPr>
            <a:picLocks xmlns:a="http://schemas.openxmlformats.org/drawingml/2006/main" noChangeAspect="1"/>
          </p:cNvPicPr>
          <p:nvPr/>
        </p:nvPicPr>
        <p:blipFill>
          <a:blip xmlns:r="http://schemas.openxmlformats.org/officeDocument/2006/relationships" xmlns:a="http://schemas.openxmlformats.org/drawingml/2006/main" r:embed="Rc107f7e446e441b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Noise input">
            <a:extLst xmlns:a="http://schemas.openxmlformats.org/drawingml/2006/main">
              <a:ext uri="{FF2B5EF4-FFF2-40B4-BE49-F238E27FC236}">
                <a16:creationId xmlns:a16="http://schemas.microsoft.com/office/drawing/2014/main" id="{73541B7E-B9E0-498D-B823-AE2457CA6C55}"/>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Noise input</a:t>
            </a:r>
          </a:p>
        </p:txBody>
      </p:sp>
      <p:sp>
        <p:nvSpPr>
          <p:cNvPr id="7" name="Noise std=40">
            <a:extLst xmlns:a="http://schemas.openxmlformats.org/drawingml/2006/main">
              <a:ext uri="{FF2B5EF4-FFF2-40B4-BE49-F238E27FC236}">
                <a16:creationId xmlns:a16="http://schemas.microsoft.com/office/drawing/2014/main" id="{3553407F-1826-40F7-ABC9-D2F7A62251FF}"/>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a:t>
            </a:r>
          </a:p>
        </p:txBody>
      </p:sp>
      <p:pic>
        <p:nvPicPr>
          <p:cNvPr id="8" name="">
            <a:extLst xmlns:a="http://schemas.openxmlformats.org/drawingml/2006/main">
              <a:ext uri="{FF2B5EF4-FFF2-40B4-BE49-F238E27FC236}">
                <a16:creationId xmlns:a16="http://schemas.microsoft.com/office/drawing/2014/main" id="{B6E3832E-30D7-4135-B9A1-FA3B2A693463}"/>
              </a:ext>
            </a:extLst>
          </p:cNvPr>
          <p:cNvPicPr>
            <a:picLocks xmlns:a="http://schemas.openxmlformats.org/drawingml/2006/main" noChangeAspect="1"/>
          </p:cNvPicPr>
          <p:nvPr/>
        </p:nvPicPr>
        <p:blipFill>
          <a:blip xmlns:r="http://schemas.openxmlformats.org/officeDocument/2006/relationships" xmlns:a="http://schemas.openxmlformats.org/drawingml/2006/main" r:embed="R42609a52b2fa488f"/>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46CD1871-CFD7-4998-A879-D4DE62383F46}"/>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Noise std=40 후 필터 적용">
            <a:extLst xmlns:a="http://schemas.openxmlformats.org/drawingml/2006/main">
              <a:ext uri="{FF2B5EF4-FFF2-40B4-BE49-F238E27FC236}">
                <a16:creationId xmlns:a16="http://schemas.microsoft.com/office/drawing/2014/main" id="{2DC1087F-DDF9-41CE-82CF-888D340D0801}"/>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 후 필터 적용</a:t>
            </a:r>
          </a:p>
        </p:txBody>
      </p:sp>
      <p:pic>
        <p:nvPicPr>
          <p:cNvPr id="11" name="">
            <a:extLst xmlns:a="http://schemas.openxmlformats.org/drawingml/2006/main">
              <a:ext uri="{FF2B5EF4-FFF2-40B4-BE49-F238E27FC236}">
                <a16:creationId xmlns:a16="http://schemas.microsoft.com/office/drawing/2014/main" id="{9BBA6186-5BD3-4DC7-B77A-B35A5854074A}"/>
              </a:ext>
            </a:extLst>
          </p:cNvPr>
          <p:cNvPicPr>
            <a:picLocks xmlns:a="http://schemas.openxmlformats.org/drawingml/2006/main" noChangeAspect="1"/>
          </p:cNvPicPr>
          <p:nvPr/>
        </p:nvPicPr>
        <p:blipFill>
          <a:blip xmlns:r="http://schemas.openxmlformats.org/officeDocument/2006/relationships" xmlns:a="http://schemas.openxmlformats.org/drawingml/2006/main" r:embed="R558cd77956954eab"/>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Emboss">
            <a:extLst xmlns:a="http://schemas.openxmlformats.org/drawingml/2006/main">
              <a:ext uri="{FF2B5EF4-FFF2-40B4-BE49-F238E27FC236}">
                <a16:creationId xmlns:a16="http://schemas.microsoft.com/office/drawing/2014/main" id="{E1C8CE65-3EE7-4061-A4A0-630391934435}"/>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13" name="Noise std=40 후 필터 적용">
            <a:extLst xmlns:a="http://schemas.openxmlformats.org/drawingml/2006/main">
              <a:ext uri="{FF2B5EF4-FFF2-40B4-BE49-F238E27FC236}">
                <a16:creationId xmlns:a16="http://schemas.microsoft.com/office/drawing/2014/main" id="{8555EB35-3E7D-4869-B236-8C1C9E2393D0}"/>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 후 필터 적용</a:t>
            </a:r>
          </a:p>
        </p:txBody>
      </p:sp>
    </p:spTree>
    <p:extLst>
      <p:ext uri="{BB962C8B-B14F-4D97-AF65-F5344CB8AC3E}">
        <p14:creationId xmlns:p14="http://schemas.microsoft.com/office/powerpoint/2010/main" val="1961138313"/>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가우시안 잡음 영상: Noise std=80">
            <a:extLst xmlns:a="http://schemas.openxmlformats.org/drawingml/2006/main">
              <a:ext uri="{FF2B5EF4-FFF2-40B4-BE49-F238E27FC236}">
                <a16:creationId xmlns:a16="http://schemas.microsoft.com/office/drawing/2014/main" id="{688FE337-3BB7-4CD0-B86D-68708F8A53D7}"/>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가우시안 잡음 영상: Noise std=80</a:t>
            </a:r>
          </a:p>
        </p:txBody>
      </p:sp>
      <p:sp>
        <p:nvSpPr>
          <p:cNvPr id="2" name="2026 한국정보기술학회 추계 종합학술대회">
            <a:extLst xmlns:a="http://schemas.openxmlformats.org/drawingml/2006/main">
              <a:ext uri="{FF2B5EF4-FFF2-40B4-BE49-F238E27FC236}">
                <a16:creationId xmlns:a16="http://schemas.microsoft.com/office/drawing/2014/main" id="{F01BECB7-BDA8-40EC-BEA6-6C36EDA487C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F5D0EE72-6C08-46C3-B608-0739A741D80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Noise std=80을 추가한 동일 원장면의 저장 예시">
            <a:extLst xmlns:a="http://schemas.openxmlformats.org/drawingml/2006/main">
              <a:ext uri="{FF2B5EF4-FFF2-40B4-BE49-F238E27FC236}">
                <a16:creationId xmlns:a16="http://schemas.microsoft.com/office/drawing/2014/main" id="{E971454D-B66B-4E62-B8C2-9ECEDCDE317B}"/>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Noise std=80을 추가한 동일 원장면의 저장 예시</a:t>
            </a:r>
          </a:p>
        </p:txBody>
      </p:sp>
      <p:pic>
        <p:nvPicPr>
          <p:cNvPr id="5" name="">
            <a:extLst xmlns:a="http://schemas.openxmlformats.org/drawingml/2006/main">
              <a:ext uri="{FF2B5EF4-FFF2-40B4-BE49-F238E27FC236}">
                <a16:creationId xmlns:a16="http://schemas.microsoft.com/office/drawing/2014/main" id="{65CC3986-1B3E-4096-B86C-5363D1C1FCC0}"/>
              </a:ext>
            </a:extLst>
          </p:cNvPr>
          <p:cNvPicPr>
            <a:picLocks xmlns:a="http://schemas.openxmlformats.org/drawingml/2006/main" noChangeAspect="1"/>
          </p:cNvPicPr>
          <p:nvPr/>
        </p:nvPicPr>
        <p:blipFill>
          <a:blip xmlns:r="http://schemas.openxmlformats.org/officeDocument/2006/relationships" xmlns:a="http://schemas.openxmlformats.org/drawingml/2006/main" r:embed="Reed05f8655f1485c"/>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Noise input">
            <a:extLst xmlns:a="http://schemas.openxmlformats.org/drawingml/2006/main">
              <a:ext uri="{FF2B5EF4-FFF2-40B4-BE49-F238E27FC236}">
                <a16:creationId xmlns:a16="http://schemas.microsoft.com/office/drawing/2014/main" id="{682865B1-70FD-438D-B5D5-2A467521F0BF}"/>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Noise input</a:t>
            </a:r>
          </a:p>
        </p:txBody>
      </p:sp>
      <p:sp>
        <p:nvSpPr>
          <p:cNvPr id="7" name="Noise std=80">
            <a:extLst xmlns:a="http://schemas.openxmlformats.org/drawingml/2006/main">
              <a:ext uri="{FF2B5EF4-FFF2-40B4-BE49-F238E27FC236}">
                <a16:creationId xmlns:a16="http://schemas.microsoft.com/office/drawing/2014/main" id="{79B531DC-B860-43E9-9F51-2C8A0F77C4BE}"/>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a:t>
            </a:r>
          </a:p>
        </p:txBody>
      </p:sp>
      <p:pic>
        <p:nvPicPr>
          <p:cNvPr id="8" name="">
            <a:extLst xmlns:a="http://schemas.openxmlformats.org/drawingml/2006/main">
              <a:ext uri="{FF2B5EF4-FFF2-40B4-BE49-F238E27FC236}">
                <a16:creationId xmlns:a16="http://schemas.microsoft.com/office/drawing/2014/main" id="{5FBD4F63-2774-4AD7-976C-BF9CBDEEBB59}"/>
              </a:ext>
            </a:extLst>
          </p:cNvPr>
          <p:cNvPicPr>
            <a:picLocks xmlns:a="http://schemas.openxmlformats.org/drawingml/2006/main" noChangeAspect="1"/>
          </p:cNvPicPr>
          <p:nvPr/>
        </p:nvPicPr>
        <p:blipFill>
          <a:blip xmlns:r="http://schemas.openxmlformats.org/officeDocument/2006/relationships" xmlns:a="http://schemas.openxmlformats.org/drawingml/2006/main" r:embed="Rc516a50fc8234ad0"/>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26333976-698E-4CC3-8501-BE613050F5EA}"/>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Noise std=80 후 필터 적용">
            <a:extLst xmlns:a="http://schemas.openxmlformats.org/drawingml/2006/main">
              <a:ext uri="{FF2B5EF4-FFF2-40B4-BE49-F238E27FC236}">
                <a16:creationId xmlns:a16="http://schemas.microsoft.com/office/drawing/2014/main" id="{BC865928-33A7-4572-BFCF-EE7C806F595B}"/>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 후 필터 적용</a:t>
            </a:r>
          </a:p>
        </p:txBody>
      </p:sp>
      <p:pic>
        <p:nvPicPr>
          <p:cNvPr id="11" name="">
            <a:extLst xmlns:a="http://schemas.openxmlformats.org/drawingml/2006/main">
              <a:ext uri="{FF2B5EF4-FFF2-40B4-BE49-F238E27FC236}">
                <a16:creationId xmlns:a16="http://schemas.microsoft.com/office/drawing/2014/main" id="{A2511DFB-17E5-4536-AA79-830A0515A9E2}"/>
              </a:ext>
            </a:extLst>
          </p:cNvPr>
          <p:cNvPicPr>
            <a:picLocks xmlns:a="http://schemas.openxmlformats.org/drawingml/2006/main" noChangeAspect="1"/>
          </p:cNvPicPr>
          <p:nvPr/>
        </p:nvPicPr>
        <p:blipFill>
          <a:blip xmlns:r="http://schemas.openxmlformats.org/officeDocument/2006/relationships" xmlns:a="http://schemas.openxmlformats.org/drawingml/2006/main" r:embed="Rd09c3720914744b8"/>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Emboss">
            <a:extLst xmlns:a="http://schemas.openxmlformats.org/drawingml/2006/main">
              <a:ext uri="{FF2B5EF4-FFF2-40B4-BE49-F238E27FC236}">
                <a16:creationId xmlns:a16="http://schemas.microsoft.com/office/drawing/2014/main" id="{123792D0-6265-4D21-8135-9BC0EDE55691}"/>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13" name="Noise std=80 후 필터 적용">
            <a:extLst xmlns:a="http://schemas.openxmlformats.org/drawingml/2006/main">
              <a:ext uri="{FF2B5EF4-FFF2-40B4-BE49-F238E27FC236}">
                <a16:creationId xmlns:a16="http://schemas.microsoft.com/office/drawing/2014/main" id="{62EA3641-5992-4974-987F-C690B5BCEE5E}"/>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 후 필터 적용</a:t>
            </a:r>
          </a:p>
        </p:txBody>
      </p:sp>
    </p:spTree>
    <p:extLst>
      <p:ext uri="{BB962C8B-B14F-4D97-AF65-F5344CB8AC3E}">
        <p14:creationId xmlns:p14="http://schemas.microsoft.com/office/powerpoint/2010/main" val="1595281623"/>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65DEBEC1-0F5A-48FA-A384-20DB38B558D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3104B8E6-B0CF-4340-BC9F-BBCA7906227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6">
            <a:extLst xmlns:a="http://schemas.openxmlformats.org/drawingml/2006/main">
              <a:ext uri="{FF2B5EF4-FFF2-40B4-BE49-F238E27FC236}">
                <a16:creationId xmlns:a16="http://schemas.microsoft.com/office/drawing/2014/main" id="{D1286159-3B3A-4B0E-9441-618A6DC0106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16</a:t>
            </a:r>
          </a:p>
        </p:txBody>
      </p:sp>
      <p:sp>
        <p:nvSpPr>
          <p:cNvPr id="4" name="mAP50-95 (%)  /  Seed 42">
            <a:extLst xmlns:a="http://schemas.openxmlformats.org/drawingml/2006/main">
              <a:ext uri="{FF2B5EF4-FFF2-40B4-BE49-F238E27FC236}">
                <a16:creationId xmlns:a16="http://schemas.microsoft.com/office/drawing/2014/main" id="{F10DAA5E-D187-49E1-9E68-F37E8FD75756}"/>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2DC7087A-4FAE-466D-970E-406C5F5B3A9F}"/>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CB66297C-79FA-4002-83C1-E9CDDB71EDB7}"/>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839657702"/>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0E407B8B-981A-4C31-B555-D8DC45F2358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378C016E-EA01-4783-926E-09BB712BE23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7">
            <a:extLst xmlns:a="http://schemas.openxmlformats.org/drawingml/2006/main">
              <a:ext uri="{FF2B5EF4-FFF2-40B4-BE49-F238E27FC236}">
                <a16:creationId xmlns:a16="http://schemas.microsoft.com/office/drawing/2014/main" id="{77872407-DCD5-4306-8A94-33B1ED72F89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17</a:t>
            </a:r>
          </a:p>
        </p:txBody>
      </p:sp>
      <p:sp>
        <p:nvSpPr>
          <p:cNvPr id="4" name="반복: Seed 42, 43, 44  /  평균 ± 표본 ">
            <a:extLst xmlns:a="http://schemas.openxmlformats.org/drawingml/2006/main">
              <a:ext uri="{FF2B5EF4-FFF2-40B4-BE49-F238E27FC236}">
                <a16:creationId xmlns:a16="http://schemas.microsoft.com/office/drawing/2014/main" id="{9F49D348-9AB8-4E74-AD05-BF52815ED529}"/>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603DD18F-A6A6-4668-BF1F-C5C797AC4E36}"/>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A32A908B-6616-4556-BD92-CFC90529B79F}"/>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188455FC-C816-4867-BCA4-1DFC3F59E062}"/>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a8b151dff1374b50"/>
          </a:graphicData>
        </a:graphic>
      </p:graphicFrame>
      <p:graphicFrame>
        <p:nvGraphicFramePr>
          <p:cNvPr id="8" name="Chart">
            <a:extLst xmlns:a="http://schemas.openxmlformats.org/drawingml/2006/main">
              <a:ext uri="{FF2B5EF4-FFF2-40B4-BE49-F238E27FC236}">
                <a16:creationId xmlns:a16="http://schemas.microsoft.com/office/drawing/2014/main" id="{9E4FB9FF-3B57-417C-964E-649980FC0C78}"/>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b46c806866e34fb0"/>
          </a:graphicData>
        </a:graphic>
      </p:graphicFrame>
      <p:sp>
        <p:nvSpPr>
          <p:cNvPr id="9" name="Original 95.40 ± 0.53&#10;Invert+CLA">
            <a:extLst xmlns:a="http://schemas.openxmlformats.org/drawingml/2006/main">
              <a:ext uri="{FF2B5EF4-FFF2-40B4-BE49-F238E27FC236}">
                <a16:creationId xmlns:a16="http://schemas.microsoft.com/office/drawing/2014/main" id="{2F07D511-BF4B-4E8E-AEF4-7213FB74B6C8}"/>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E47CA852-49B3-4D6F-863B-82F92CB2363A}"/>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1465409699"/>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A200376B-0DCD-4700-902F-F7DEE521FDDC}"/>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7E87FA7E-6E43-4C62-82A2-98D74B89B18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8">
            <a:extLst xmlns:a="http://schemas.openxmlformats.org/drawingml/2006/main">
              <a:ext uri="{FF2B5EF4-FFF2-40B4-BE49-F238E27FC236}">
                <a16:creationId xmlns:a16="http://schemas.microsoft.com/office/drawing/2014/main" id="{F7B307CA-73B9-4948-BDFF-A05E5EFED97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18</a:t>
            </a:r>
          </a:p>
        </p:txBody>
      </p:sp>
      <p:sp>
        <p:nvSpPr>
          <p:cNvPr id="4" name="조건별 재학습의 비교 결과">
            <a:extLst xmlns:a="http://schemas.openxmlformats.org/drawingml/2006/main">
              <a:ext uri="{FF2B5EF4-FFF2-40B4-BE49-F238E27FC236}">
                <a16:creationId xmlns:a16="http://schemas.microsoft.com/office/drawing/2014/main" id="{229DA257-86BA-4317-99DC-C15F5E4F9E06}"/>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313BCC1E-6E4A-400E-B034-7EBAB295EE7D}"/>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172EE942-B10B-47D4-BE26-131928D07523}"/>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CDF069EE-0007-468D-8A4A-F9422B387472}"/>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C5E975F6-1211-474F-A7CA-8E4EF8F39AA5}"/>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156048962"/>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결론">
            <a:extLst xmlns:a="http://schemas.openxmlformats.org/drawingml/2006/main">
              <a:ext uri="{FF2B5EF4-FFF2-40B4-BE49-F238E27FC236}">
                <a16:creationId xmlns:a16="http://schemas.microsoft.com/office/drawing/2014/main" id="{2F3B6124-5558-45D1-8A7F-F0B655E3FC9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68A17189-58E8-4F8A-B3F9-178714460FE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9">
            <a:extLst xmlns:a="http://schemas.openxmlformats.org/drawingml/2006/main">
              <a:ext uri="{FF2B5EF4-FFF2-40B4-BE49-F238E27FC236}">
                <a16:creationId xmlns:a16="http://schemas.microsoft.com/office/drawing/2014/main" id="{137959B7-D291-48B9-A996-347867EF415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19</a:t>
            </a:r>
          </a:p>
        </p:txBody>
      </p:sp>
      <p:sp>
        <p:nvSpPr>
          <p:cNvPr id="4" name="영상 조건과 목적 지표에 따른 필터 선택">
            <a:extLst xmlns:a="http://schemas.openxmlformats.org/drawingml/2006/main">
              <a:ext uri="{FF2B5EF4-FFF2-40B4-BE49-F238E27FC236}">
                <a16:creationId xmlns:a16="http://schemas.microsoft.com/office/drawing/2014/main" id="{EEF6816A-1C17-40B0-AB44-0317BBB20B13}"/>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1D3BB83E-708B-43E2-AFE0-7F2B308F0391}"/>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더 우수한 구성 필터의 mAP를 넘지 ">
            <a:extLst xmlns:a="http://schemas.openxmlformats.org/drawingml/2006/main">
              <a:ext uri="{FF2B5EF4-FFF2-40B4-BE49-F238E27FC236}">
                <a16:creationId xmlns:a16="http://schemas.microsoft.com/office/drawing/2014/main" id="{53AE6CD9-737A-460C-A0EC-E217D69A6DAA}"/>
              </a:ext>
            </a:extLst>
          </p:cNvPr>
          <p:cNvSpPr>
            <a:spLocks xmlns:a="http://schemas.openxmlformats.org/drawingml/2006/main" noGrp="1"/>
          </p:cNvSpPr>
          <p:nvPr/>
        </p:nvSpPr>
        <p:spPr>
          <a:xfrm xmlns:a="http://schemas.openxmlformats.org/drawingml/2006/main">
            <a:off x="742950" y="3562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평가한 5개 조합은 더 우수한 구성 필터의 mAP를 넘지 못함</a:t>
            </a:r>
          </a:p>
        </p:txBody>
      </p:sp>
      <p:sp>
        <p:nvSpPr>
          <p:cNvPr id="7" name="독립 촬영 자료와 내부 그룹 분리를 통한 후속 검증">
            <a:extLst xmlns:a="http://schemas.openxmlformats.org/drawingml/2006/main">
              <a:ext uri="{FF2B5EF4-FFF2-40B4-BE49-F238E27FC236}">
                <a16:creationId xmlns:a16="http://schemas.microsoft.com/office/drawing/2014/main" id="{FC93917D-AA3E-4648-AD03-6436279D3CF4}"/>
              </a:ext>
            </a:extLst>
          </p:cNvPr>
          <p:cNvSpPr>
            <a:spLocks xmlns:a="http://schemas.openxmlformats.org/drawingml/2006/main" noGrp="1"/>
          </p:cNvSpPr>
          <p:nvPr/>
        </p:nvSpPr>
        <p:spPr>
          <a:xfrm xmlns:a="http://schemas.openxmlformats.org/drawingml/2006/main">
            <a:off x="742950" y="4695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독립 촬영 자료와 내부 그룹 분리를 통한 후속 검증</a:t>
            </a:r>
          </a:p>
        </p:txBody>
      </p:sp>
    </p:spTree>
    <p:extLst>
      <p:ext uri="{BB962C8B-B14F-4D97-AF65-F5344CB8AC3E}">
        <p14:creationId xmlns:p14="http://schemas.microsoft.com/office/powerpoint/2010/main" val="527176217"/>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감사합니다">
            <a:extLst xmlns:a="http://schemas.openxmlformats.org/drawingml/2006/main">
              <a:ext uri="{FF2B5EF4-FFF2-40B4-BE49-F238E27FC236}">
                <a16:creationId xmlns:a16="http://schemas.microsoft.com/office/drawing/2014/main" id="{28290582-B5D2-4E6C-91B2-3E2385E344E6}"/>
              </a:ext>
            </a:extLst>
          </p:cNvPr>
          <p:cNvSpPr>
            <a:spLocks xmlns:a="http://schemas.openxmlformats.org/drawingml/2006/main" noGrp="1"/>
          </p:cNvSpPr>
          <p:nvPr/>
        </p:nvSpPr>
        <p:spPr>
          <a:xfrm xmlns:a="http://schemas.openxmlformats.org/drawingml/2006/main">
            <a:off x="723900" y="1895475"/>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FFFFFF"/>
                </a:solidFill>
                <a:latin typeface="NanumGothic"/>
                <a:ea typeface="NanumGothic"/>
                <a:cs typeface="NanumGothic"/>
              </a:defRPr>
            </a:defPPr>
            <a:lvl1pPr algn="l">
              <a:defRPr sz="7050" b="1">
                <a:solidFill>
                  <a:srgbClr val="FFFFFF"/>
                </a:solidFill>
                <a:latin typeface="NanumGothic"/>
                <a:ea typeface="NanumGothic"/>
                <a:cs typeface="NanumGothic"/>
              </a:defRPr>
            </a:lvl1pPr>
            <a:lvl2pPr algn="l">
              <a:defRPr sz="7050" b="1">
                <a:solidFill>
                  <a:srgbClr val="FFFFFF"/>
                </a:solidFill>
                <a:latin typeface="NanumGothic"/>
                <a:ea typeface="NanumGothic"/>
                <a:cs typeface="NanumGothic"/>
              </a:defRPr>
            </a:lvl2pPr>
            <a:lvl3pPr algn="l">
              <a:defRPr sz="7050" b="1">
                <a:solidFill>
                  <a:srgbClr val="FFFFFF"/>
                </a:solidFill>
                <a:latin typeface="NanumGothic"/>
                <a:ea typeface="NanumGothic"/>
                <a:cs typeface="NanumGothic"/>
              </a:defRPr>
            </a:lvl3pPr>
            <a:lvl4pPr algn="l">
              <a:defRPr sz="7050" b="1">
                <a:solidFill>
                  <a:srgbClr val="FFFFFF"/>
                </a:solidFill>
                <a:latin typeface="NanumGothic"/>
                <a:ea typeface="NanumGothic"/>
                <a:cs typeface="NanumGothic"/>
              </a:defRPr>
            </a:lvl4pPr>
            <a:lvl5pPr algn="l">
              <a:defRPr sz="7050" b="1">
                <a:solidFill>
                  <a:srgbClr val="FFFFFF"/>
                </a:solidFill>
                <a:latin typeface="NanumGothic"/>
                <a:ea typeface="NanumGothic"/>
                <a:cs typeface="NanumGothic"/>
              </a:defRPr>
            </a:lvl5pPr>
            <a:lvl6pPr algn="l">
              <a:defRPr sz="7050" b="1">
                <a:solidFill>
                  <a:srgbClr val="FFFFFF"/>
                </a:solidFill>
                <a:latin typeface="NanumGothic"/>
                <a:ea typeface="NanumGothic"/>
                <a:cs typeface="NanumGothic"/>
              </a:defRPr>
            </a:lvl6pPr>
            <a:lvl7pPr algn="l">
              <a:defRPr sz="7050" b="1">
                <a:solidFill>
                  <a:srgbClr val="FFFFFF"/>
                </a:solidFill>
                <a:latin typeface="NanumGothic"/>
                <a:ea typeface="NanumGothic"/>
                <a:cs typeface="NanumGothic"/>
              </a:defRPr>
            </a:lvl7pPr>
            <a:lvl8pPr algn="l">
              <a:defRPr sz="7050" b="1">
                <a:solidFill>
                  <a:srgbClr val="FFFFFF"/>
                </a:solidFill>
                <a:latin typeface="NanumGothic"/>
                <a:ea typeface="NanumGothic"/>
                <a:cs typeface="NanumGothic"/>
              </a:defRPr>
            </a:lvl8pPr>
            <a:lvl9pPr algn="l">
              <a:defRPr sz="7050" b="1">
                <a:solidFill>
                  <a:srgbClr val="FFFFFF"/>
                </a:solidFill>
                <a:latin typeface="NanumGothic"/>
                <a:ea typeface="NanumGothic"/>
                <a:cs typeface="NanumGothic"/>
              </a:defRPr>
            </a:lvl9pPr>
          </a:lstStyle>
          <a:p xmlns:a="http://schemas.openxmlformats.org/drawingml/2006/main">
            <a:pPr algn="l">
              <a:defRPr sz="7050" b="1">
                <a:solidFill>
                  <a:srgbClr val="FFFFFF"/>
                </a:solidFill>
                <a:latin typeface="NanumGothic"/>
                <a:ea typeface="NanumGothic"/>
                <a:cs typeface="NanumGothic"/>
              </a:defRPr>
            </a:pPr>
            <a:r>
              <a:rPr sz="7050" b="1">
                <a:solidFill>
                  <a:srgbClr val="FFFFFF"/>
                </a:solidFill>
                <a:latin typeface="NanumGothic"/>
                <a:ea typeface="NanumGothic"/>
                <a:cs typeface="NanumGothic"/>
              </a:rPr>
              <a:t>감사합니다</a:t>
            </a:r>
          </a:p>
        </p:txBody>
      </p:sp>
      <p:sp>
        <p:nvSpPr>
          <p:cNvPr id="2" name="질의응답">
            <a:extLst xmlns:a="http://schemas.openxmlformats.org/drawingml/2006/main">
              <a:ext uri="{FF2B5EF4-FFF2-40B4-BE49-F238E27FC236}">
                <a16:creationId xmlns:a16="http://schemas.microsoft.com/office/drawing/2014/main" id="{B5E6FC90-A8EB-4742-A0B6-D634C9157F12}"/>
              </a:ext>
            </a:extLst>
          </p:cNvPr>
          <p:cNvSpPr>
            <a:spLocks xmlns:a="http://schemas.openxmlformats.org/drawingml/2006/main" noGrp="1"/>
          </p:cNvSpPr>
          <p:nvPr/>
        </p:nvSpPr>
        <p:spPr>
          <a:xfrm xmlns:a="http://schemas.openxmlformats.org/drawingml/2006/main">
            <a:off x="762000" y="37338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A84FF"/>
                </a:solidFill>
                <a:latin typeface="NanumGothic"/>
                <a:ea typeface="NanumGothic"/>
                <a:cs typeface="NanumGothic"/>
              </a:defRPr>
            </a:defPPr>
            <a:lvl1pPr algn="l">
              <a:defRPr sz="2625" b="1">
                <a:solidFill>
                  <a:srgbClr val="0A84FF"/>
                </a:solidFill>
                <a:latin typeface="NanumGothic"/>
                <a:ea typeface="NanumGothic"/>
                <a:cs typeface="NanumGothic"/>
              </a:defRPr>
            </a:lvl1pPr>
            <a:lvl2pPr algn="l">
              <a:defRPr sz="2625" b="1">
                <a:solidFill>
                  <a:srgbClr val="0A84FF"/>
                </a:solidFill>
                <a:latin typeface="NanumGothic"/>
                <a:ea typeface="NanumGothic"/>
                <a:cs typeface="NanumGothic"/>
              </a:defRPr>
            </a:lvl2pPr>
            <a:lvl3pPr algn="l">
              <a:defRPr sz="2625" b="1">
                <a:solidFill>
                  <a:srgbClr val="0A84FF"/>
                </a:solidFill>
                <a:latin typeface="NanumGothic"/>
                <a:ea typeface="NanumGothic"/>
                <a:cs typeface="NanumGothic"/>
              </a:defRPr>
            </a:lvl3pPr>
            <a:lvl4pPr algn="l">
              <a:defRPr sz="2625" b="1">
                <a:solidFill>
                  <a:srgbClr val="0A84FF"/>
                </a:solidFill>
                <a:latin typeface="NanumGothic"/>
                <a:ea typeface="NanumGothic"/>
                <a:cs typeface="NanumGothic"/>
              </a:defRPr>
            </a:lvl4pPr>
            <a:lvl5pPr algn="l">
              <a:defRPr sz="2625" b="1">
                <a:solidFill>
                  <a:srgbClr val="0A84FF"/>
                </a:solidFill>
                <a:latin typeface="NanumGothic"/>
                <a:ea typeface="NanumGothic"/>
                <a:cs typeface="NanumGothic"/>
              </a:defRPr>
            </a:lvl5pPr>
            <a:lvl6pPr algn="l">
              <a:defRPr sz="2625" b="1">
                <a:solidFill>
                  <a:srgbClr val="0A84FF"/>
                </a:solidFill>
                <a:latin typeface="NanumGothic"/>
                <a:ea typeface="NanumGothic"/>
                <a:cs typeface="NanumGothic"/>
              </a:defRPr>
            </a:lvl6pPr>
            <a:lvl7pPr algn="l">
              <a:defRPr sz="2625" b="1">
                <a:solidFill>
                  <a:srgbClr val="0A84FF"/>
                </a:solidFill>
                <a:latin typeface="NanumGothic"/>
                <a:ea typeface="NanumGothic"/>
                <a:cs typeface="NanumGothic"/>
              </a:defRPr>
            </a:lvl7pPr>
            <a:lvl8pPr algn="l">
              <a:defRPr sz="2625" b="1">
                <a:solidFill>
                  <a:srgbClr val="0A84FF"/>
                </a:solidFill>
                <a:latin typeface="NanumGothic"/>
                <a:ea typeface="NanumGothic"/>
                <a:cs typeface="NanumGothic"/>
              </a:defRPr>
            </a:lvl8pPr>
            <a:lvl9pPr algn="l">
              <a:defRPr sz="2625" b="1">
                <a:solidFill>
                  <a:srgbClr val="0A84FF"/>
                </a:solidFill>
                <a:latin typeface="NanumGothic"/>
                <a:ea typeface="NanumGothic"/>
                <a:cs typeface="NanumGothic"/>
              </a:defRPr>
            </a:lvl9pPr>
          </a:lstStyle>
          <a:p xmlns:a="http://schemas.openxmlformats.org/drawingml/2006/main">
            <a:pPr algn="l">
              <a:defRPr sz="2625" b="1">
                <a:solidFill>
                  <a:srgbClr val="0A84FF"/>
                </a:solidFill>
                <a:latin typeface="NanumGothic"/>
                <a:ea typeface="NanumGothic"/>
                <a:cs typeface="NanumGothic"/>
              </a:defRPr>
            </a:pPr>
            <a:r>
              <a:rPr sz="2625" b="1">
                <a:solidFill>
                  <a:srgbClr val="0A84FF"/>
                </a:solidFill>
                <a:latin typeface="NanumGothic"/>
                <a:ea typeface="NanumGothic"/>
                <a:cs typeface="NanumGothic"/>
              </a:rPr>
              <a:t>질의응답</a:t>
            </a:r>
          </a:p>
        </p:txBody>
      </p:sp>
      <p:sp>
        <p:nvSpPr>
          <p:cNvPr id="3" name="곽윤석 · 김남기">
            <a:extLst xmlns:a="http://schemas.openxmlformats.org/drawingml/2006/main">
              <a:ext uri="{FF2B5EF4-FFF2-40B4-BE49-F238E27FC236}">
                <a16:creationId xmlns:a16="http://schemas.microsoft.com/office/drawing/2014/main" id="{DF3FDCEF-0C9E-40B1-B57A-EE1DB1FB9083}"/>
              </a:ext>
            </a:extLst>
          </p:cNvPr>
          <p:cNvSpPr>
            <a:spLocks xmlns:a="http://schemas.openxmlformats.org/drawingml/2006/main" noGrp="1"/>
          </p:cNvSpPr>
          <p:nvPr/>
        </p:nvSpPr>
        <p:spPr>
          <a:xfrm xmlns:a="http://schemas.openxmlformats.org/drawingml/2006/main">
            <a:off x="762000" y="46958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곽윤석 · 김남기</a:t>
            </a:r>
          </a:p>
        </p:txBody>
      </p:sp>
      <p:sp>
        <p:nvSpPr>
          <p:cNvPr id="4" name="공식 마크 흰색 바탕">
            <a:extLst xmlns:a="http://schemas.openxmlformats.org/drawingml/2006/main">
              <a:ext uri="{FF2B5EF4-FFF2-40B4-BE49-F238E27FC236}">
                <a16:creationId xmlns:a16="http://schemas.microsoft.com/office/drawing/2014/main" id="{23E0F9C9-C09E-46FA-BE66-81B00831796E}"/>
              </a:ext>
            </a:extLst>
          </p:cNvPr>
          <p:cNvSpPr>
            <a:spLocks xmlns:a="http://schemas.openxmlformats.org/drawingml/2006/main" noGrp="1"/>
          </p:cNvSpPr>
          <p:nvPr/>
        </p:nvSpPr>
        <p:spPr>
          <a:xfrm xmlns:a="http://schemas.openxmlformats.org/drawingml/2006/main">
            <a:off x="685800" y="5419725"/>
            <a:ext cx="2628900" cy="78522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1E0335E-6076-4ACD-8C2F-80F5E99B87B9}"/>
              </a:ext>
            </a:extLst>
          </p:cNvPr>
          <p:cNvPicPr>
            <a:picLocks xmlns:a="http://schemas.openxmlformats.org/drawingml/2006/main" noChangeAspect="1"/>
          </p:cNvPicPr>
          <p:nvPr/>
        </p:nvPicPr>
        <p:blipFill>
          <a:blip xmlns:r="http://schemas.openxmlformats.org/officeDocument/2006/relationships" xmlns:a="http://schemas.openxmlformats.org/drawingml/2006/main" r:embed="R6566200da8dc4679"/>
          <a:stretch xmlns:a="http://schemas.openxmlformats.org/drawingml/2006/main"/>
        </p:blipFill>
        <p:spPr>
          <a:xfrm xmlns:a="http://schemas.openxmlformats.org/drawingml/2006/main">
            <a:off x="762000" y="5467350"/>
            <a:ext cx="2476500" cy="689970"/>
          </a:xfrm>
          <a:prstGeom xmlns:a="http://schemas.openxmlformats.org/drawingml/2006/main" prst="rect">
            <a:avLst/>
          </a:prstGeom>
        </p:spPr>
      </p:pic>
      <p:sp>
        <p:nvSpPr>
          <p:cNvPr id="6" name="2026 한국정보기술학회 추계 종합학술대회">
            <a:extLst xmlns:a="http://schemas.openxmlformats.org/drawingml/2006/main">
              <a:ext uri="{FF2B5EF4-FFF2-40B4-BE49-F238E27FC236}">
                <a16:creationId xmlns:a16="http://schemas.microsoft.com/office/drawing/2014/main" id="{1C74398E-AA52-43E3-B589-DE1E48674E6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7" name="20">
            <a:extLst xmlns:a="http://schemas.openxmlformats.org/drawingml/2006/main">
              <a:ext uri="{FF2B5EF4-FFF2-40B4-BE49-F238E27FC236}">
                <a16:creationId xmlns:a16="http://schemas.microsoft.com/office/drawing/2014/main" id="{4FEBCDD7-C29F-4E04-AED5-443B16B4580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a:t>
            </a:r>
          </a:p>
        </p:txBody>
      </p:sp>
    </p:spTree>
    <p:extLst>
      <p:ext uri="{BB962C8B-B14F-4D97-AF65-F5344CB8AC3E}">
        <p14:creationId xmlns:p14="http://schemas.microsoft.com/office/powerpoint/2010/main" val="1869681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2026-10-20T07:16:34.4090000Z</dcterms:created>
  <dcterms:modified xsi:type="dcterms:W3CDTF">2026-10-20T07:16:34.4090000Z</dcterms:modified>
</coreProperties>
</file>