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fa5ff6e40640fc" /><Relationship Type="http://schemas.openxmlformats.org/officeDocument/2006/relationships/extended-properties" Target="/docProps/app.xml" Id="R07606c7be8e441ed" /><Relationship Type="http://schemas.openxmlformats.org/officeDocument/2006/relationships/officeDocument" Target="/ppt/presentation.xml" Id="Re65a2e5cf71e499a" /></Relationships>
</file>

<file path=ppt/presentation.xml><?xml version="1.0" encoding="utf-8"?>
<p:presentation xmlns:p="http://schemas.openxmlformats.org/presentationml/2006/main">
  <p:sldMasterIdLst>
    <p:sldMasterId xmlns:r="http://schemas.openxmlformats.org/officeDocument/2006/relationships" id="2147483648" r:id="R13f22d60ca1c47ca"/>
  </p:sldMasterIdLst>
  <p:notesMasterIdLst>
    <p:notesMasterId xmlns:r="http://schemas.openxmlformats.org/officeDocument/2006/relationships" r:id="Rdf0e99a34c0c42f3"/>
  </p:notesMasterIdLst>
  <p:sldIdLst>
    <p:sldId xmlns:r="http://schemas.openxmlformats.org/officeDocument/2006/relationships" id="256" r:id="R85ab12ff99154101"/>
    <p:sldId xmlns:r="http://schemas.openxmlformats.org/officeDocument/2006/relationships" id="257" r:id="R269ed7a090894784"/>
    <p:sldId xmlns:r="http://schemas.openxmlformats.org/officeDocument/2006/relationships" id="258" r:id="R4f7fb9a35a934a52"/>
    <p:sldId xmlns:r="http://schemas.openxmlformats.org/officeDocument/2006/relationships" id="259" r:id="R787caf0d25484bfc"/>
    <p:sldId xmlns:r="http://schemas.openxmlformats.org/officeDocument/2006/relationships" id="260" r:id="R7d1b2167ecfe40ff"/>
    <p:sldId xmlns:r="http://schemas.openxmlformats.org/officeDocument/2006/relationships" id="261" r:id="Re08c0c431c07481b"/>
    <p:sldId xmlns:r="http://schemas.openxmlformats.org/officeDocument/2006/relationships" id="262" r:id="R2454d15bfdf940d2"/>
    <p:sldId xmlns:r="http://schemas.openxmlformats.org/officeDocument/2006/relationships" id="263" r:id="R0ad1ee064c7043a4"/>
    <p:sldId xmlns:r="http://schemas.openxmlformats.org/officeDocument/2006/relationships" id="264" r:id="Rd5a661ffb1c64397"/>
    <p:sldId xmlns:r="http://schemas.openxmlformats.org/officeDocument/2006/relationships" id="265" r:id="Rfbd13630df09436e"/>
    <p:sldId xmlns:r="http://schemas.openxmlformats.org/officeDocument/2006/relationships" id="266" r:id="R3e8743bbba6f4d91"/>
    <p:sldId xmlns:r="http://schemas.openxmlformats.org/officeDocument/2006/relationships" id="267" r:id="R2bc2a83eee664a3b"/>
    <p:sldId xmlns:r="http://schemas.openxmlformats.org/officeDocument/2006/relationships" id="268" r:id="R873e9f918ffe44f4"/>
    <p:sldId xmlns:r="http://schemas.openxmlformats.org/officeDocument/2006/relationships" id="269" r:id="R0e430f56c7fa4a92"/>
    <p:sldId xmlns:r="http://schemas.openxmlformats.org/officeDocument/2006/relationships" id="270" r:id="Rad1e6d650e2d4e69"/>
    <p:sldId xmlns:r="http://schemas.openxmlformats.org/officeDocument/2006/relationships" id="271" r:id="Rbd83807b0db449eb"/>
    <p:sldId xmlns:r="http://schemas.openxmlformats.org/officeDocument/2006/relationships" id="272" r:id="Rd0449b91c28b4268"/>
    <p:sldId xmlns:r="http://schemas.openxmlformats.org/officeDocument/2006/relationships" id="273" r:id="Re624ac7f1f74408e"/>
    <p:sldId xmlns:r="http://schemas.openxmlformats.org/officeDocument/2006/relationships" id="274" r:id="R9e5ad9f85ab54bad"/>
    <p:sldId xmlns:r="http://schemas.openxmlformats.org/officeDocument/2006/relationships" id="275" r:id="R8b22dabd84e74f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b6eef9e6fe48d3" /><Relationship Type="http://schemas.openxmlformats.org/officeDocument/2006/relationships/slideMaster" Target="/ppt/slideMasters/slideMaster1.xml" Id="R13f22d60ca1c47ca" /><Relationship Type="http://schemas.openxmlformats.org/officeDocument/2006/relationships/notesMaster" Target="/ppt/notesMasters/notesMaster1.xml" Id="Rdf0e99a34c0c42f3" /><Relationship Type="http://schemas.openxmlformats.org/officeDocument/2006/relationships/presProps" Target="/ppt/presProps.xml" Id="R344613f7fb644ba0" /><Relationship Type="http://schemas.openxmlformats.org/officeDocument/2006/relationships/tableStyles" Target="/ppt/tableStyles.xml" Id="R002c3f6cfb864052" /><Relationship Type="http://schemas.openxmlformats.org/officeDocument/2006/relationships/slide" Target="/ppt/slides/slide1.xml" Id="R85ab12ff99154101" /><Relationship Type="http://schemas.openxmlformats.org/officeDocument/2006/relationships/slide" Target="/ppt/slides/slide2.xml" Id="R269ed7a090894784" /><Relationship Type="http://schemas.openxmlformats.org/officeDocument/2006/relationships/slide" Target="/ppt/slides/slide3.xml" Id="R4f7fb9a35a934a52" /><Relationship Type="http://schemas.openxmlformats.org/officeDocument/2006/relationships/slide" Target="/ppt/slides/slide4.xml" Id="R787caf0d25484bfc" /><Relationship Type="http://schemas.openxmlformats.org/officeDocument/2006/relationships/slide" Target="/ppt/slides/slide5.xml" Id="R7d1b2167ecfe40ff" /><Relationship Type="http://schemas.openxmlformats.org/officeDocument/2006/relationships/slide" Target="/ppt/slides/slide6.xml" Id="Re08c0c431c07481b" /><Relationship Type="http://schemas.openxmlformats.org/officeDocument/2006/relationships/slide" Target="/ppt/slides/slide7.xml" Id="R2454d15bfdf940d2" /><Relationship Type="http://schemas.openxmlformats.org/officeDocument/2006/relationships/slide" Target="/ppt/slides/slide8.xml" Id="R0ad1ee064c7043a4" /><Relationship Type="http://schemas.openxmlformats.org/officeDocument/2006/relationships/slide" Target="/ppt/slides/slide9.xml" Id="Rd5a661ffb1c64397" /><Relationship Type="http://schemas.openxmlformats.org/officeDocument/2006/relationships/slide" Target="/ppt/slides/slide10.xml" Id="Rfbd13630df09436e" /><Relationship Type="http://schemas.openxmlformats.org/officeDocument/2006/relationships/slide" Target="/ppt/slides/slide11.xml" Id="R3e8743bbba6f4d91" /><Relationship Type="http://schemas.openxmlformats.org/officeDocument/2006/relationships/slide" Target="/ppt/slides/slide12.xml" Id="R2bc2a83eee664a3b" /><Relationship Type="http://schemas.openxmlformats.org/officeDocument/2006/relationships/slide" Target="/ppt/slides/slide13.xml" Id="R873e9f918ffe44f4" /><Relationship Type="http://schemas.openxmlformats.org/officeDocument/2006/relationships/slide" Target="/ppt/slides/slide14.xml" Id="R0e430f56c7fa4a92" /><Relationship Type="http://schemas.openxmlformats.org/officeDocument/2006/relationships/slide" Target="/ppt/slides/slide15.xml" Id="Rad1e6d650e2d4e69" /><Relationship Type="http://schemas.openxmlformats.org/officeDocument/2006/relationships/slide" Target="/ppt/slides/slide16.xml" Id="Rbd83807b0db449eb" /><Relationship Type="http://schemas.openxmlformats.org/officeDocument/2006/relationships/slide" Target="/ppt/slides/slide17.xml" Id="Rd0449b91c28b4268" /><Relationship Type="http://schemas.openxmlformats.org/officeDocument/2006/relationships/slide" Target="/ppt/slides/slide18.xml" Id="Re624ac7f1f74408e" /><Relationship Type="http://schemas.openxmlformats.org/officeDocument/2006/relationships/slide" Target="/ppt/slides/slide19.xml" Id="R9e5ad9f85ab54bad" /><Relationship Type="http://schemas.openxmlformats.org/officeDocument/2006/relationships/slide" Target="/ppt/slides/slide20.xml" Id="R8b22dabd84e74f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26739b44c04c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f93ef99844aa8" /><Relationship Type="http://schemas.openxmlformats.org/officeDocument/2006/relationships/notesMaster" Target="/ppt/notesMasters/notesMaster1.xml" Id="Rcc6a67cb1eeb49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a4bf104c9649bd" /><Relationship Type="http://schemas.openxmlformats.org/officeDocument/2006/relationships/notesMaster" Target="/ppt/notesMasters/notesMaster1.xml" Id="R5667738aeb0043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9f209cd6f741be" /><Relationship Type="http://schemas.openxmlformats.org/officeDocument/2006/relationships/notesMaster" Target="/ppt/notesMasters/notesMaster1.xml" Id="Re1b94afab28e42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9e0bbe7654b38" /><Relationship Type="http://schemas.openxmlformats.org/officeDocument/2006/relationships/notesMaster" Target="/ppt/notesMasters/notesMaster1.xml" Id="R17d0657e298146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ff4e0d957d4f28" /><Relationship Type="http://schemas.openxmlformats.org/officeDocument/2006/relationships/notesMaster" Target="/ppt/notesMasters/notesMaster1.xml" Id="Rdb90ca12569649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9f78558c3544c0" /><Relationship Type="http://schemas.openxmlformats.org/officeDocument/2006/relationships/notesMaster" Target="/ppt/notesMasters/notesMaster1.xml" Id="Rb7a40fe4ca51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996f7814f34cc0" /><Relationship Type="http://schemas.openxmlformats.org/officeDocument/2006/relationships/notesMaster" Target="/ppt/notesMasters/notesMaster1.xml" Id="R0620ab4094864d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50a1030d2644ab" /><Relationship Type="http://schemas.openxmlformats.org/officeDocument/2006/relationships/notesMaster" Target="/ppt/notesMasters/notesMaster1.xml" Id="Rf608252233d84c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634333130a4f72" /><Relationship Type="http://schemas.openxmlformats.org/officeDocument/2006/relationships/notesMaster" Target="/ppt/notesMasters/notesMaster1.xml" Id="R90aeb3246bc145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04f613929b45df" /><Relationship Type="http://schemas.openxmlformats.org/officeDocument/2006/relationships/notesMaster" Target="/ppt/notesMasters/notesMaster1.xml" Id="Ra66f32da451242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b0598c14944f27" /><Relationship Type="http://schemas.openxmlformats.org/officeDocument/2006/relationships/notesMaster" Target="/ppt/notesMasters/notesMaster1.xml" Id="Ra9628a5a7aaa49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ed5b457ead4e6e" /><Relationship Type="http://schemas.openxmlformats.org/officeDocument/2006/relationships/notesMaster" Target="/ppt/notesMasters/notesMaster1.xml" Id="R26c33ef025884c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ae51346118418d" /><Relationship Type="http://schemas.openxmlformats.org/officeDocument/2006/relationships/notesMaster" Target="/ppt/notesMasters/notesMaster1.xml" Id="R27e33d9cfd0e43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e8de5a4e274474" /><Relationship Type="http://schemas.openxmlformats.org/officeDocument/2006/relationships/notesMaster" Target="/ppt/notesMasters/notesMaster1.xml" Id="R81c80fea268f43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183152197c4b56" /><Relationship Type="http://schemas.openxmlformats.org/officeDocument/2006/relationships/notesMaster" Target="/ppt/notesMasters/notesMaster1.xml" Id="R55f0d79462f343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b3f65ba62c4f9e" /><Relationship Type="http://schemas.openxmlformats.org/officeDocument/2006/relationships/notesMaster" Target="/ppt/notesMasters/notesMaster1.xml" Id="R2c3b5f267a1946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69dc6455224250" /><Relationship Type="http://schemas.openxmlformats.org/officeDocument/2006/relationships/notesMaster" Target="/ppt/notesMasters/notesMaster1.xml" Id="Rd34679dac0db4c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be3671916b45c2" /><Relationship Type="http://schemas.openxmlformats.org/officeDocument/2006/relationships/notesMaster" Target="/ppt/notesMasters/notesMaster1.xml" Id="Rd28421caddd64b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3d9edb00064df9" /><Relationship Type="http://schemas.openxmlformats.org/officeDocument/2006/relationships/notesMaster" Target="/ppt/notesMasters/notesMaster1.xml" Id="R25c8d4bbb87b49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de84a89a3e4caf" /><Relationship Type="http://schemas.openxmlformats.org/officeDocument/2006/relationships/notesMaster" Target="/ppt/notesMasters/notesMaster1.xml" Id="Re56435123eb749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YOLOv8n 기반 볼 검출을 위한 단일 및 복합 전처리 필터의 성능 비교를 발표하겠습니다. 현장에서 영상 조건이 달라질 때 필터 적용 후에도 성능이 유지되는지, 어떤 필터와 조합이 유리한지를 실제 영상과 정량 결과로 설명하겠습니다.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현장의 조명이나 촬영 조건에 따라 영상의 밝기, 대비, 잡음과 경계 표현이 달라질 수 있습니다. 하나의 필터가 모든 입력에 유리하다고 가정하기 어렵기 때문에, 서로 다른 변환에서 검출 성능을 비교했습니다. 연구 질문은 성능 유지 여부, 단일 필터의 상대적 성능, 그리고 조합의 구성 필터 대비 개선 여부입니다. 평가 범위는 일반 영상과 합성 가우시안 잡음이며, 현장의 모든 변화를 포괄하지는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연구 코드에서 저장한 동일 영상의 변환 예시를 보시겠습니다. Original은 전처리하지 않은 입력이고, Invert는 밝기값을 반전합니다. Otsu Threshold는 히스토그램에서 자동으로 정한 임계값으로 이진화합니다. 사진은 변환 효과를 설명하는 한 장의 예시이며, 이후 성능 수치는 전체 오백 장의 평가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2026-2:/root/추계학술대회/yolo_filter_samples/invert_example.png</a:t>
            </a:r>
          </a:p>
          <a:p xmlns:a="http://schemas.openxmlformats.org/drawingml/2006/main">
            <a:r>
              <a:t>SHA-256: b213194cf4211feafe7163b8969d49c835eba47e242fb1ac12b3a11d79802178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2026-2:/root/추계학술대회/yolo_filter_samples/otsu_threshold_example.png</a:t>
            </a:r>
          </a:p>
          <a:p xmlns:a="http://schemas.openxmlformats.org/drawingml/2006/main">
            <a:r>
              <a:t>SHA-256: 76749449341e7bf4ba32be970066d2e83b227adcaa527b3769ddc7374b49dd35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Solarize는 이번 구현에서 영상의 평균 밝기보다 큰 값만 반전합니다. Histogram Equalization은 전체 밝기 분포를 변환하고, CLAHE는 영역별 대비를 조정합니다. CLAHE의 clip limit은 사십, 격자는 십육 곱하기 십육입니다. 서로 다른 영상 표현이 만들어지는 것을 확인할 수 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2026-2:/root/추계학술대회/yolo_filter_samples/solarize_example.png</a:t>
            </a:r>
          </a:p>
          <a:p xmlns:a="http://schemas.openxmlformats.org/drawingml/2006/main">
            <a:r>
              <a:t>SHA-256: 6b47ea7beeaa591e8659fe39bdcb3d88b367151f14f005f616a2f99764065bf0</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2026-2:/root/추계학술대회/yolo_filter_samples/histogram_equalization_example.png</a:t>
            </a:r>
          </a:p>
          <a:p xmlns:a="http://schemas.openxmlformats.org/drawingml/2006/main">
            <a:r>
              <a:t>SHA-256: c1306240f653c00e29ab77d626ff4f995197151352edbbc83689b0106af361a9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2026-2:/root/추계학술대회/yolo_filter_samples/clahe__max_example.png</a:t>
            </a:r>
          </a:p>
          <a:p xmlns:a="http://schemas.openxmlformats.org/drawingml/2006/main">
            <a:r>
              <a:t>SHA-256: fc5b827e16f0a300acb88c8953e01b7c63c07d520e32113cc35c3de1bcebf99b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Gamma는 영부터 일로 정규화한 밝기값을 영점 삼 제곱한 결과입니다. Gaussian Blur는 표준편차 이십 화소, 백이십일 곱하기 백이십일 커널로 평활화합니다. Sobel Edges는 경계 응답을 계산한 뒤 최댓값으로 정규화하고 제곱근을 적용합니다. 일반적인 필터 이름만이 아니라 실제 구현과 고정 파라미터를 기준으로 비교했습니다.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2026-2:/root/추계학술대회/yolo_filter_samples/gamma_0_3_example.png</a:t>
            </a:r>
          </a:p>
          <a:p xmlns:a="http://schemas.openxmlformats.org/drawingml/2006/main">
            <a:r>
              <a:t>SHA-256: e444caf6e27f565cdb2a9f9183115e2c89bc29585e06c4678378325c0a31f885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2026-2:/root/추계학술대회/yolo_filter_samples/gaussian_blur__max_example.png</a:t>
            </a:r>
          </a:p>
          <a:p xmlns:a="http://schemas.openxmlformats.org/drawingml/2006/main">
            <a:r>
              <a:t>SHA-256: b29607d384d2d4a7ced2addcabc8cc48f069a08ec35fd0ac10d6760725be2b89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2026-2:/root/추계학술대회/yolo_filter_samples/sobel_edges_example.png</a:t>
            </a:r>
          </a:p>
          <a:p xmlns:a="http://schemas.openxmlformats.org/drawingml/2006/main">
            <a:r>
              <a:t>SHA-256: 46e27b544f0967ef822ca714dcf5cf7b03f2ab192e42fae1a5e3c3af95fecc15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Emboss는 방향성 합성곱 응답에 gain 사를 적용하고 밝기 범위를 제한합니다. Unsharp는 표준편차 이의 평활화 영상과 원본의 차이를 여덟 배 가산합니다. 원본 사진을 함께 배치하여 변환 효과를 비교했습니다. 사진에 보이는 차이가 검출 성능의 향상을 바로 뜻하지는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2026-2:/root/추계학술대회/yolo_filter_samples/emboss_example.png</a:t>
            </a:r>
          </a:p>
          <a:p xmlns:a="http://schemas.openxmlformats.org/drawingml/2006/main">
            <a:r>
              <a:t>SHA-256: 3431315e5c702063ab56f996df32fbd016986b05286f16736e597bed45070a37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2026-2:/root/추계학술대회/yolo_filter_samples/unsharp__max_example.png</a:t>
            </a:r>
          </a:p>
          <a:p xmlns:a="http://schemas.openxmlformats.org/drawingml/2006/main">
            <a:r>
              <a:t>SHA-256: eadd64b09e3eab92a9c162af40fe1fc470a8986b2b9f38c580d7830f8afebe6b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필터는 앞의 변환 결과에 뒤의 변환을 순차 적용합니다. Invert+CLAHE는 반전 후 지역 대비 조정, Blur+Otsu는 평활화 후 이진화, Sobel+Invert는 경계 표현 후 반전입니다. 가능한 모든 조합이나 역순을 평가한 것은 아니며, 이름에 표시한 적용 순서를 유지했습니다.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2026-2:/root/추계학술대회/yolo_filter_samples/invert_clahe_example.png</a:t>
            </a:r>
          </a:p>
          <a:p xmlns:a="http://schemas.openxmlformats.org/drawingml/2006/main">
            <a:r>
              <a:t>SHA-256: 04562ff80be4291bd36b4a97c6458228587153788b721fb69d888660c7aa113d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2026-2:/root/추계학술대회/yolo_filter_samples/blur_otsu_example.png</a:t>
            </a:r>
          </a:p>
          <a:p xmlns:a="http://schemas.openxmlformats.org/drawingml/2006/main">
            <a:r>
              <a:t>SHA-256: 51e25a583014106f5fe9c7185d535484d2f52c6bf3b39a30ce479b414b39c8a4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2026-2:/root/추계학술대회/yolo_filter_samples/sobel_invert_example.png</a:t>
            </a:r>
          </a:p>
          <a:p xmlns:a="http://schemas.openxmlformats.org/drawingml/2006/main">
            <a:r>
              <a:t>SHA-256: 4f2aa74bf066830a661ffdbff327960cd588b7332630144ca189fe6437b9a5d3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조합은 Histogram Equalization 뒤에 Emboss를 적용하는 HistEq+Emboss와 Unsharp 뒤에 Sobel을 적용하는 Unsharp+Sobel입니다. 원본과 비교하면 각 단계가 입력 표현을 추가로 바꾸는 것을 볼 수 있습니다. 이러한 변화의 유효성은 구성 필터 대비 성능으로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2026-2:/root/추계학술대회/yolo_filter_samples/histeq_emboss_example.png</a:t>
            </a:r>
          </a:p>
          <a:p xmlns:a="http://schemas.openxmlformats.org/drawingml/2006/main">
            <a:r>
              <a:t>SHA-256: 8ff6f57255804774589976eed30d2478e89b3fb44ad43bc71d39d304e07836d8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2026-2:/root/추계학술대회/yolo_filter_samples/unsharp_sobel_example.png</a:t>
            </a:r>
          </a:p>
          <a:p xmlns:a="http://schemas.openxmlformats.org/drawingml/2006/main">
            <a:r>
              <a:t>SHA-256: 0fbaa487e47d4ea604244630224c581e7effc68c5b8e42f66b72024a9301396f</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YOLOv8n을 별도로 학습하고, 학습과 평가에 같은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따라서 모든 변환에서 동일하게 성능이 유지되지는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결론은 평가한 다섯 가지 순서와 고정 파라미터에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엄격 검출 정확도는 CLAHE 단독이 구십육 점 사 퍼센트로 단일 필터 중 가장 높았습니다. 반면 mAP는 Gamma가 가장 높았습니다. Invert+CLAHE의 엄격 검출 정확도는 구십팔 퍼센트로, CLAHE보다 일점 육 퍼센트포인트 높았지만 mAP는 낮았습니다. 두 지표는 대응 기준과 추론 임계값이 달라 서로 다른 정보를 제공합니다. 구십팔 퍼센트라는 단일 결과의 재현성은 뒤에서 반복 평가로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사십의 잡음을 추가한 실제 저장 예시입니다. 왼쪽은 잡음 입력, 가운데는 그 입력에 Gaussian Blur를, 오른쪽은 Emboss를 적용한 결과입니다. 사진은 동일 원장면의 시각화 예시이며, 이후 정량 수치는 전체 평가 영상에서 계산했습니다.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2026-2:/root/추계학술대회/yolo_filter_samples/noise_std_40_example.png</a:t>
            </a:r>
          </a:p>
          <a:p xmlns:a="http://schemas.openxmlformats.org/drawingml/2006/main">
            <a:r>
              <a:t>SHA-256: f7417be81b66576ec8beb41fb186b8a63b66400d8ab9c0cea05736c32c45a2d3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2026-2:/root/추계학술대회/yolo_filter_samples/gaussian_blur__max____noise_40_example.png</a:t>
            </a:r>
          </a:p>
          <a:p xmlns:a="http://schemas.openxmlformats.org/drawingml/2006/main">
            <a:r>
              <a:t>SHA-256: e3915505a0152e6e505d2913954e1665e58e3daf099849e82de0651e7be8ef97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2026-2:/root/추계학술대회/yolo_filter_samples/emboss___noise_40_example.png</a:t>
            </a:r>
          </a:p>
          <a:p xmlns:a="http://schemas.openxmlformats.org/drawingml/2006/main">
            <a:r>
              <a:t>SHA-256: 99ab9bb5c18afd8455e68d7b150c9ce1d2a4739679847cb387da29f458634b51</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팔십에서는 잡음이 더 강합니다. 밝기값에 잡음을 더하고 영부터 이백오십오 사이로 제한한 뒤 필터를 적용했습니다. 평활화와 경계 응답의 차이가 보이지만, 사진의 외관만으로 성능을 판단하지 않고 전체 영상의 지표를 비교하겠습니다.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2026-2:/root/추계학술대회/yolo_filter_samples/noise_std_80_example.png</a:t>
            </a:r>
          </a:p>
          <a:p xmlns:a="http://schemas.openxmlformats.org/drawingml/2006/main">
            <a:r>
              <a:t>SHA-256: 78681c74c655d0fff8b3b6a86504e3719c4f5ec961513c99a0a24aab0d442394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2026-2:/root/추계학술대회/yolo_filter_samples/gaussian_blur__max____noise_80_example.png</a:t>
            </a:r>
          </a:p>
          <a:p xmlns:a="http://schemas.openxmlformats.org/drawingml/2006/main">
            <a:r>
              <a:t>SHA-256: 2f19ba545c499253e627228fd378988f38498a9f2c0f3adc71d8f3d5f264ee5d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2026-2:/root/추계학술대회/yolo_filter_samples/emboss___noise_80_example.png</a:t>
            </a:r>
          </a:p>
          <a:p xmlns:a="http://schemas.openxmlformats.org/drawingml/2006/main">
            <a:r>
              <a:t>SHA-256: 10b72af7e9d0b3ce4ddf74004411aa5304876758f30d06661872b439178d5fd9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단일 시드에서는 Gamma, 합성 잡음 조건에서는 Gaussian Blur가 가장 높은 mAP를 보였습니다. 평가한 다섯 조합은 더 우수한 구성 필터의 mAP를 넘지 못했습니다. 따라서 영상 조건과 평가 지표를 구분하여 필터를 선택해야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경청해 주셔서 감사합니다.</a:t>
            </a:r>
          </a:p>
          <a:p xmlns:a="http://schemas.openxmlformats.org/drawingml/2006/main">
            <a:r>
              <a:t/>
            </a:r>
          </a:p>
          <a:p xmlns:a="http://schemas.openxmlformats.org/drawingml/2006/main">
            <a:r>
              <a:t>[출처]</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c2332a2acc42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41b1910ddf47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ade2e6144347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f5234c21bc48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a5f04d7e754b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ef03c9bc044f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031BE4-2944-40D1-90A8-88211C1850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169196-53A1-4FAC-860A-1656F8E2C2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AD25FE-EFDE-4882-8FE7-6C8F409E50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FA72A7-6941-47FB-AB06-209FA13252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1ED8C3-8B39-4D0E-A800-767F23C7CDB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A10ADB-5ADC-486A-BD7C-E825260162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ACB3F6-826B-429C-B906-B8D3C2B16A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BE47D9-C303-47DD-B16E-C0278A9124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892DE1-297E-4051-AD75-922601BB86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C19D2C-3CB9-4F18-BBDA-759C9CE1B1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9614d9d8644dd" /><Relationship Type="http://schemas.openxmlformats.org/officeDocument/2006/relationships/slideLayout" Target="/ppt/slideLayouts/slideLayout1.xml" Id="R9b489bb3e1c64b67" /><Relationship Type="http://schemas.openxmlformats.org/officeDocument/2006/relationships/slideLayout" Target="/ppt/slideLayouts/slideLayout2.xml" Id="R949e8f1dec9d4ec8" /><Relationship Type="http://schemas.openxmlformats.org/officeDocument/2006/relationships/slideLayout" Target="/ppt/slideLayouts/slideLayout3.xml" Id="Rf1ee02253edd4b03" /><Relationship Type="http://schemas.openxmlformats.org/officeDocument/2006/relationships/slideLayout" Target="/ppt/slideLayouts/slideLayout4.xml" Id="R8e5b919226d74b7f" /><Relationship Type="http://schemas.openxmlformats.org/officeDocument/2006/relationships/slideLayout" Target="/ppt/slideLayouts/slideLayout5.xml" Id="R05a3a5a8e6664759" /><Relationship Type="http://schemas.openxmlformats.org/officeDocument/2006/relationships/slideLayout" Target="/ppt/slideLayouts/slideLayout6.xml" Id="Rb23e3040aded45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489bb3e1c64b67"/>
    <p:sldLayoutId xmlns:r="http://schemas.openxmlformats.org/officeDocument/2006/relationships" id="2147483650" r:id="R949e8f1dec9d4ec8"/>
    <p:sldLayoutId xmlns:r="http://schemas.openxmlformats.org/officeDocument/2006/relationships" id="2147483651" r:id="Rf1ee02253edd4b03"/>
    <p:sldLayoutId xmlns:r="http://schemas.openxmlformats.org/officeDocument/2006/relationships" id="2147483652" r:id="R8e5b919226d74b7f"/>
    <p:sldLayoutId xmlns:r="http://schemas.openxmlformats.org/officeDocument/2006/relationships" id="2147483653" r:id="R05a3a5a8e6664759"/>
    <p:sldLayoutId xmlns:r="http://schemas.openxmlformats.org/officeDocument/2006/relationships" id="2147483654" r:id="Rb23e3040aded45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379fc552ff4ad8" /><Relationship Type="http://schemas.openxmlformats.org/officeDocument/2006/relationships/image" Target="/ppt/media/image.png" Id="R8da069296e0340b3" /><Relationship Type="http://schemas.openxmlformats.org/officeDocument/2006/relationships/notesSlide" Target="/ppt/notesSlides/notesSlide1.xml" Id="Rc9ed6093887b43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c69502643843e2" /><Relationship Type="http://schemas.openxmlformats.org/officeDocument/2006/relationships/notesSlide" Target="/ppt/notesSlides/notesSlide2.xml" Id="Rda9018f4a8f743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4d455131064a47" /><Relationship Type="http://schemas.openxmlformats.org/officeDocument/2006/relationships/image" Target="/ppt/media/image2.png" Id="R627515c6f3c944c6" /><Relationship Type="http://schemas.openxmlformats.org/officeDocument/2006/relationships/notesSlide" Target="/ppt/notesSlides/notesSlide3.xml" Id="R33969087bfc044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7bf2b4304042b4" /><Relationship Type="http://schemas.openxmlformats.org/officeDocument/2006/relationships/image" Target="/ppt/media/image3.png" Id="R9b41bf88b1be424f" /><Relationship Type="http://schemas.openxmlformats.org/officeDocument/2006/relationships/image" Target="/ppt/media/image4.png" Id="R36e0153af74348dc" /><Relationship Type="http://schemas.openxmlformats.org/officeDocument/2006/relationships/image" Target="/ppt/media/image5.png" Id="Rbb85a3fbe66a45e9" /><Relationship Type="http://schemas.openxmlformats.org/officeDocument/2006/relationships/notesSlide" Target="/ppt/notesSlides/notesSlide4.xml" Id="R0d25f993636745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48a250225a44c1" /><Relationship Type="http://schemas.openxmlformats.org/officeDocument/2006/relationships/image" Target="/ppt/media/image6.png" Id="R0e4f40723e674e6a" /><Relationship Type="http://schemas.openxmlformats.org/officeDocument/2006/relationships/image" Target="/ppt/media/image7.png" Id="R25be6d1213fb4547" /><Relationship Type="http://schemas.openxmlformats.org/officeDocument/2006/relationships/image" Target="/ppt/media/image8.png" Id="R5c81dd5d78d24f6e" /><Relationship Type="http://schemas.openxmlformats.org/officeDocument/2006/relationships/notesSlide" Target="/ppt/notesSlides/notesSlide5.xml" Id="R308b5331fa7540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d046ffac6b469d" /><Relationship Type="http://schemas.openxmlformats.org/officeDocument/2006/relationships/image" Target="/ppt/media/image9.png" Id="R318fe3a7466049e4" /><Relationship Type="http://schemas.openxmlformats.org/officeDocument/2006/relationships/image" Target="/ppt/media/image10.png" Id="R913e9ad4646f4fe0" /><Relationship Type="http://schemas.openxmlformats.org/officeDocument/2006/relationships/image" Target="/ppt/media/image11.png" Id="R1b514dc06d3443e6" /><Relationship Type="http://schemas.openxmlformats.org/officeDocument/2006/relationships/notesSlide" Target="/ppt/notesSlides/notesSlide6.xml" Id="R6cfc5deb4ac94d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a09746b11d4283" /><Relationship Type="http://schemas.openxmlformats.org/officeDocument/2006/relationships/image" Target="/ppt/media/image12.png" Id="Rf16ab919cc23426c" /><Relationship Type="http://schemas.openxmlformats.org/officeDocument/2006/relationships/image" Target="/ppt/media/image13.png" Id="R2b92be9a137140a1" /><Relationship Type="http://schemas.openxmlformats.org/officeDocument/2006/relationships/image" Target="/ppt/media/image14.png" Id="Rd67256197f0148f7" /><Relationship Type="http://schemas.openxmlformats.org/officeDocument/2006/relationships/notesSlide" Target="/ppt/notesSlides/notesSlide7.xml" Id="R4bff426fca6942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d476b42fa0433a" /><Relationship Type="http://schemas.openxmlformats.org/officeDocument/2006/relationships/image" Target="/ppt/media/image15.png" Id="R4f23862f4c644d5e" /><Relationship Type="http://schemas.openxmlformats.org/officeDocument/2006/relationships/image" Target="/ppt/media/image16.png" Id="Rd4c0bc8286ea4b1d" /><Relationship Type="http://schemas.openxmlformats.org/officeDocument/2006/relationships/image" Target="/ppt/media/image17.png" Id="Rbaf9a741ba4f44c6" /><Relationship Type="http://schemas.openxmlformats.org/officeDocument/2006/relationships/notesSlide" Target="/ppt/notesSlides/notesSlide8.xml" Id="R421be680b1714a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640b6202594d6a" /><Relationship Type="http://schemas.openxmlformats.org/officeDocument/2006/relationships/image" Target="/ppt/media/image18.png" Id="Rde2f4bdff42f45fd" /><Relationship Type="http://schemas.openxmlformats.org/officeDocument/2006/relationships/image" Target="/ppt/media/image19.png" Id="R9a52d88dac22456a" /><Relationship Type="http://schemas.openxmlformats.org/officeDocument/2006/relationships/image" Target="/ppt/media/image20.png" Id="R7e2165c20e524552" /><Relationship Type="http://schemas.openxmlformats.org/officeDocument/2006/relationships/notesSlide" Target="/ppt/notesSlides/notesSlide9.xml" Id="R4e04ad8398a841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3fb84aaa674932" /><Relationship Type="http://schemas.openxmlformats.org/officeDocument/2006/relationships/notesSlide" Target="/ppt/notesSlides/notesSlide10.xml" Id="R8f68dfa1751544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9a22e5da68348b0" /><Relationship Type="http://schemas.openxmlformats.org/officeDocument/2006/relationships/chart" Target="/ppt/slides/charts/chart1.xml" Id="R704808ea2cb34c6c" /><Relationship Type="http://schemas.openxmlformats.org/officeDocument/2006/relationships/notesSlide" Target="/ppt/notesSlides/notesSlide11.xml" Id="Rc2bdb24e742342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a9b7e91d9a473c" /><Relationship Type="http://schemas.openxmlformats.org/officeDocument/2006/relationships/chart" Target="/ppt/slides/charts/chart2.xml" Id="Ra50e1ea7118047c5" /><Relationship Type="http://schemas.openxmlformats.org/officeDocument/2006/relationships/notesSlide" Target="/ppt/notesSlides/notesSlide12.xml" Id="R727c8b4f9eaa4c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2e7bb5878f49b5" /><Relationship Type="http://schemas.openxmlformats.org/officeDocument/2006/relationships/chart" Target="/ppt/slides/charts/chart3.xml" Id="R21d5154f56c54a09" /><Relationship Type="http://schemas.openxmlformats.org/officeDocument/2006/relationships/notesSlide" Target="/ppt/notesSlides/notesSlide13.xml" Id="R62ed1948c0fd4c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5edf213787463e" /><Relationship Type="http://schemas.openxmlformats.org/officeDocument/2006/relationships/image" Target="/ppt/media/image21.png" Id="Ra363505d9b8847d8" /><Relationship Type="http://schemas.openxmlformats.org/officeDocument/2006/relationships/image" Target="/ppt/media/image22.png" Id="R81f4820ccbdc4fd5" /><Relationship Type="http://schemas.openxmlformats.org/officeDocument/2006/relationships/image" Target="/ppt/media/image23.png" Id="R2be90e2fb97644de" /><Relationship Type="http://schemas.openxmlformats.org/officeDocument/2006/relationships/notesSlide" Target="/ppt/notesSlides/notesSlide14.xml" Id="R25bbed27331647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1840e73c27489b" /><Relationship Type="http://schemas.openxmlformats.org/officeDocument/2006/relationships/image" Target="/ppt/media/image24.png" Id="Rb274fd34e9024b0e" /><Relationship Type="http://schemas.openxmlformats.org/officeDocument/2006/relationships/image" Target="/ppt/media/image25.png" Id="R2da91e1223ed494b" /><Relationship Type="http://schemas.openxmlformats.org/officeDocument/2006/relationships/image" Target="/ppt/media/image26.png" Id="R4aec31391ee542a1" /><Relationship Type="http://schemas.openxmlformats.org/officeDocument/2006/relationships/notesSlide" Target="/ppt/notesSlides/notesSlide15.xml" Id="Rf4b16e1e279644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816d1d6dc3435f" /><Relationship Type="http://schemas.openxmlformats.org/officeDocument/2006/relationships/notesSlide" Target="/ppt/notesSlides/notesSlide16.xml" Id="Rd4c9db96bd8241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dc06dc666f14ead" /><Relationship Type="http://schemas.openxmlformats.org/officeDocument/2006/relationships/chart" Target="/ppt/slides/charts/chart4.xml" Id="R2477a8acfde74cbc" /><Relationship Type="http://schemas.openxmlformats.org/officeDocument/2006/relationships/chart" Target="/ppt/slides/charts/chart5.xml" Id="Rea5843a85183494c" /><Relationship Type="http://schemas.openxmlformats.org/officeDocument/2006/relationships/notesSlide" Target="/ppt/notesSlides/notesSlide17.xml" Id="R3e0b0907710544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4b2c8524eec4d10" /><Relationship Type="http://schemas.openxmlformats.org/officeDocument/2006/relationships/notesSlide" Target="/ppt/notesSlides/notesSlide18.xml" Id="Rec181d44d86040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3b34e5808947d6" /><Relationship Type="http://schemas.openxmlformats.org/officeDocument/2006/relationships/notesSlide" Target="/ppt/notesSlides/notesSlide19.xml" Id="R0f0a048c47bd40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055c5d9777c4a28" /><Relationship Type="http://schemas.openxmlformats.org/officeDocument/2006/relationships/image" Target="/ppt/media/image27.png" Id="R8b84cf1b259648df" /><Relationship Type="http://schemas.openxmlformats.org/officeDocument/2006/relationships/notesSlide" Target="/ppt/notesSlides/notesSlide20.xml" Id="R6a2d6ba09ef84c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mooth val="0"/>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mooth val="0"/>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C60F3AF0-25AE-4A52-A7A2-909F1AA68FEC}"/>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C757722D-D255-4372-ABC3-910CC23C410F}"/>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EADA050A-AC01-4826-9C08-FD0875563CAF}"/>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8D74DFD3-25E7-45B7-AFB6-31F06B05AA5E}"/>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FA8FF9D9-67EB-4EA1-8A59-E2D64C2DDACA}"/>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B5812EBA-149F-420F-8209-5DBE37DC4F12}"/>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18E1A47-DEC5-4838-8F60-3E4ECC2F769A}"/>
              </a:ext>
            </a:extLst>
          </p:cNvPr>
          <p:cNvPicPr>
            <a:picLocks xmlns:a="http://schemas.openxmlformats.org/drawingml/2006/main" noChangeAspect="1"/>
          </p:cNvPicPr>
          <p:nvPr/>
        </p:nvPicPr>
        <p:blipFill>
          <a:blip xmlns:r="http://schemas.openxmlformats.org/officeDocument/2006/relationships" xmlns:a="http://schemas.openxmlformats.org/drawingml/2006/main" r:embed="R8da069296e0340b3"/>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1809638008"/>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28BCBC3F-1A1B-4D5E-A0C5-26622F3ABE6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90C54FD5-89C6-414D-B30E-0A4481D7D6F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ABC17053-CE47-4317-B2B4-96446000AEA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A8128A8F-8CD4-4701-96DC-478EDF52C691}"/>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60B5C598-73D3-44BF-80AE-2BA0349E7A54}"/>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70A8B922-C3C3-4C97-AE7E-DA8C7FBE95A7}"/>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35F1B8C5-B840-4FD2-AB99-DB099EA7F255}"/>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8C8F316C-138C-4B8C-BE25-045E1A29C361}"/>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108812491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7E980313-70DF-4826-8B54-A7D833E1BCC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2B10A35E-AA6F-46D8-8F53-EDE104355FB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0A05C4F6-54E3-4998-8911-C09AD2EC33F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18137554-43C7-4F62-BBB4-BD382805745B}"/>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7E7FE72E-BCFE-413C-B76F-81D614973BFF}"/>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0424FAC2-61E4-45D5-84DF-C8C8BA81BE30}"/>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1590A231-218E-40B3-9498-F97684BB8219}"/>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1473CE8D-1EC0-4BE5-841E-CB21060EE272}"/>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83A67B63-65F6-4D72-9EB4-3223896C3CF8}"/>
              </a:ext>
            </a:extLst>
          </p:cNvPr>
          <p:cNvPicPr>
            <a:picLocks xmlns:a="http://schemas.openxmlformats.org/drawingml/2006/main" noChangeAspect="1"/>
          </p:cNvPicPr>
          <p:nvPr/>
        </p:nvPicPr>
        <p:blipFill>
          <a:blip xmlns:r="http://schemas.openxmlformats.org/officeDocument/2006/relationships" xmlns:a="http://schemas.openxmlformats.org/drawingml/2006/main" r:embed="R627515c6f3c944c6"/>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0EA2B16F-FDAA-4861-A96E-720E3F78F97D}"/>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98067152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1: 반전과 이진화">
            <a:extLst xmlns:a="http://schemas.openxmlformats.org/drawingml/2006/main">
              <a:ext uri="{FF2B5EF4-FFF2-40B4-BE49-F238E27FC236}">
                <a16:creationId xmlns:a16="http://schemas.microsoft.com/office/drawing/2014/main" id="{EBFBBF75-012E-4C21-833B-611CE3626D7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1: 반전과 이진화</a:t>
            </a:r>
          </a:p>
        </p:txBody>
      </p:sp>
      <p:sp>
        <p:nvSpPr>
          <p:cNvPr id="2" name="2026 한국정보기술학회 추계 종합학술대회">
            <a:extLst xmlns:a="http://schemas.openxmlformats.org/drawingml/2006/main">
              <a:ext uri="{FF2B5EF4-FFF2-40B4-BE49-F238E27FC236}">
                <a16:creationId xmlns:a16="http://schemas.microsoft.com/office/drawing/2014/main" id="{D68A7169-5446-4C47-B4E8-9CD346A9EB4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B1BE91C4-0A8D-472E-B3B9-851236616EF7}"/>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동일 원장면에서 비교한 변환 예시">
            <a:extLst xmlns:a="http://schemas.openxmlformats.org/drawingml/2006/main">
              <a:ext uri="{FF2B5EF4-FFF2-40B4-BE49-F238E27FC236}">
                <a16:creationId xmlns:a16="http://schemas.microsoft.com/office/drawing/2014/main" id="{4471B261-E992-4404-8E5E-A81E1A245D1C}"/>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동일 원장면에서 비교한 변환 예시</a:t>
            </a:r>
          </a:p>
        </p:txBody>
      </p:sp>
      <p:pic>
        <p:nvPicPr>
          <p:cNvPr id="5" name="">
            <a:extLst xmlns:a="http://schemas.openxmlformats.org/drawingml/2006/main">
              <a:ext uri="{FF2B5EF4-FFF2-40B4-BE49-F238E27FC236}">
                <a16:creationId xmlns:a16="http://schemas.microsoft.com/office/drawing/2014/main" id="{E9ACE7B1-10FC-425E-8D67-70F325762543}"/>
              </a:ext>
            </a:extLst>
          </p:cNvPr>
          <p:cNvPicPr>
            <a:picLocks xmlns:a="http://schemas.openxmlformats.org/drawingml/2006/main" noChangeAspect="1"/>
          </p:cNvPicPr>
          <p:nvPr/>
        </p:nvPicPr>
        <p:blipFill>
          <a:blip xmlns:r="http://schemas.openxmlformats.org/officeDocument/2006/relationships" xmlns:a="http://schemas.openxmlformats.org/drawingml/2006/main" r:embed="R9b41bf88b1be424f"/>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Original">
            <a:extLst xmlns:a="http://schemas.openxmlformats.org/drawingml/2006/main">
              <a:ext uri="{FF2B5EF4-FFF2-40B4-BE49-F238E27FC236}">
                <a16:creationId xmlns:a16="http://schemas.microsoft.com/office/drawing/2014/main" id="{6C04393E-F926-40CF-A88F-BCE02CC1700F}"/>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7" name="전처리 기준 입력">
            <a:extLst xmlns:a="http://schemas.openxmlformats.org/drawingml/2006/main">
              <a:ext uri="{FF2B5EF4-FFF2-40B4-BE49-F238E27FC236}">
                <a16:creationId xmlns:a16="http://schemas.microsoft.com/office/drawing/2014/main" id="{F8F96334-69F2-45B3-A228-A0C009A0AC38}"/>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전처리 기준 입력</a:t>
            </a:r>
          </a:p>
        </p:txBody>
      </p:sp>
      <p:pic>
        <p:nvPicPr>
          <p:cNvPr id="8" name="">
            <a:extLst xmlns:a="http://schemas.openxmlformats.org/drawingml/2006/main">
              <a:ext uri="{FF2B5EF4-FFF2-40B4-BE49-F238E27FC236}">
                <a16:creationId xmlns:a16="http://schemas.microsoft.com/office/drawing/2014/main" id="{72323A56-0C29-431F-B978-2183BEAE8556}"/>
              </a:ext>
            </a:extLst>
          </p:cNvPr>
          <p:cNvPicPr>
            <a:picLocks xmlns:a="http://schemas.openxmlformats.org/drawingml/2006/main" noChangeAspect="1"/>
          </p:cNvPicPr>
          <p:nvPr/>
        </p:nvPicPr>
        <p:blipFill>
          <a:blip xmlns:r="http://schemas.openxmlformats.org/officeDocument/2006/relationships" xmlns:a="http://schemas.openxmlformats.org/drawingml/2006/main" r:embed="R36e0153af74348dc"/>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Invert">
            <a:extLst xmlns:a="http://schemas.openxmlformats.org/drawingml/2006/main">
              <a:ext uri="{FF2B5EF4-FFF2-40B4-BE49-F238E27FC236}">
                <a16:creationId xmlns:a16="http://schemas.microsoft.com/office/drawing/2014/main" id="{2E10A8C9-67CF-4629-95F9-9CD9F9564273}"/>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a:t>
            </a:r>
          </a:p>
        </p:txBody>
      </p:sp>
      <p:sp>
        <p:nvSpPr>
          <p:cNvPr id="10" name="1 − t">
            <a:extLst xmlns:a="http://schemas.openxmlformats.org/drawingml/2006/main">
              <a:ext uri="{FF2B5EF4-FFF2-40B4-BE49-F238E27FC236}">
                <a16:creationId xmlns:a16="http://schemas.microsoft.com/office/drawing/2014/main" id="{E54E5F8B-BEC2-4AE4-86C4-49CB50B18BC2}"/>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1 − t</a:t>
            </a:r>
          </a:p>
        </p:txBody>
      </p:sp>
      <p:pic>
        <p:nvPicPr>
          <p:cNvPr id="11" name="">
            <a:extLst xmlns:a="http://schemas.openxmlformats.org/drawingml/2006/main">
              <a:ext uri="{FF2B5EF4-FFF2-40B4-BE49-F238E27FC236}">
                <a16:creationId xmlns:a16="http://schemas.microsoft.com/office/drawing/2014/main" id="{9FD6D5D8-ED86-4650-B9E8-A5FC02C82635}"/>
              </a:ext>
            </a:extLst>
          </p:cNvPr>
          <p:cNvPicPr>
            <a:picLocks xmlns:a="http://schemas.openxmlformats.org/drawingml/2006/main" noChangeAspect="1"/>
          </p:cNvPicPr>
          <p:nvPr/>
        </p:nvPicPr>
        <p:blipFill>
          <a:blip xmlns:r="http://schemas.openxmlformats.org/officeDocument/2006/relationships" xmlns:a="http://schemas.openxmlformats.org/drawingml/2006/main" r:embed="Rbb85a3fbe66a45e9"/>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tsu Threshold">
            <a:extLst xmlns:a="http://schemas.openxmlformats.org/drawingml/2006/main">
              <a:ext uri="{FF2B5EF4-FFF2-40B4-BE49-F238E27FC236}">
                <a16:creationId xmlns:a16="http://schemas.microsoft.com/office/drawing/2014/main" id="{06DA67C7-05E1-4ED1-8D9B-FDB4C4119748}"/>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Otsu Threshold</a:t>
            </a:r>
          </a:p>
        </p:txBody>
      </p:sp>
      <p:sp>
        <p:nvSpPr>
          <p:cNvPr id="13" name="자동 임계값 이진화">
            <a:extLst xmlns:a="http://schemas.openxmlformats.org/drawingml/2006/main">
              <a:ext uri="{FF2B5EF4-FFF2-40B4-BE49-F238E27FC236}">
                <a16:creationId xmlns:a16="http://schemas.microsoft.com/office/drawing/2014/main" id="{0438E860-3AC9-4C46-807C-ECF24C8D24EC}"/>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자동 임계값 이진화</a:t>
            </a:r>
          </a:p>
        </p:txBody>
      </p:sp>
    </p:spTree>
    <p:extLst>
      <p:ext uri="{BB962C8B-B14F-4D97-AF65-F5344CB8AC3E}">
        <p14:creationId xmlns:p14="http://schemas.microsoft.com/office/powerpoint/2010/main" val="1388175439"/>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2: 밝기와 대비">
            <a:extLst xmlns:a="http://schemas.openxmlformats.org/drawingml/2006/main">
              <a:ext uri="{FF2B5EF4-FFF2-40B4-BE49-F238E27FC236}">
                <a16:creationId xmlns:a16="http://schemas.microsoft.com/office/drawing/2014/main" id="{F26DDB27-8505-4A57-A026-92470F3C4EE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2: 밝기와 대비</a:t>
            </a:r>
          </a:p>
        </p:txBody>
      </p:sp>
      <p:sp>
        <p:nvSpPr>
          <p:cNvPr id="2" name="2026 한국정보기술학회 추계 종합학술대회">
            <a:extLst xmlns:a="http://schemas.openxmlformats.org/drawingml/2006/main">
              <a:ext uri="{FF2B5EF4-FFF2-40B4-BE49-F238E27FC236}">
                <a16:creationId xmlns:a16="http://schemas.microsoft.com/office/drawing/2014/main" id="{9F346A37-1C3B-487E-9736-F1F10CD0168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B15C0C23-A81D-44A7-9E2A-C990FDEFE3D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밝기 분포와 대비를 바꾸는 변환">
            <a:extLst xmlns:a="http://schemas.openxmlformats.org/drawingml/2006/main">
              <a:ext uri="{FF2B5EF4-FFF2-40B4-BE49-F238E27FC236}">
                <a16:creationId xmlns:a16="http://schemas.microsoft.com/office/drawing/2014/main" id="{734F8F5D-536B-4DF2-B22D-93117429DFB3}"/>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밝기 분포와 대비를 바꾸는 변환</a:t>
            </a:r>
          </a:p>
        </p:txBody>
      </p:sp>
      <p:pic>
        <p:nvPicPr>
          <p:cNvPr id="5" name="">
            <a:extLst xmlns:a="http://schemas.openxmlformats.org/drawingml/2006/main">
              <a:ext uri="{FF2B5EF4-FFF2-40B4-BE49-F238E27FC236}">
                <a16:creationId xmlns:a16="http://schemas.microsoft.com/office/drawing/2014/main" id="{DB77C1DC-D3FC-4560-920B-E25B69348C06}"/>
              </a:ext>
            </a:extLst>
          </p:cNvPr>
          <p:cNvPicPr>
            <a:picLocks xmlns:a="http://schemas.openxmlformats.org/drawingml/2006/main" noChangeAspect="1"/>
          </p:cNvPicPr>
          <p:nvPr/>
        </p:nvPicPr>
        <p:blipFill>
          <a:blip xmlns:r="http://schemas.openxmlformats.org/officeDocument/2006/relationships" xmlns:a="http://schemas.openxmlformats.org/drawingml/2006/main" r:embed="R0e4f40723e674e6a"/>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Solarize">
            <a:extLst xmlns:a="http://schemas.openxmlformats.org/drawingml/2006/main">
              <a:ext uri="{FF2B5EF4-FFF2-40B4-BE49-F238E27FC236}">
                <a16:creationId xmlns:a16="http://schemas.microsoft.com/office/drawing/2014/main" id="{193A7F75-7BA5-4222-8146-00B9CD6601F2}"/>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Solarize</a:t>
            </a:r>
          </a:p>
        </p:txBody>
      </p:sp>
      <p:sp>
        <p:nvSpPr>
          <p:cNvPr id="7" name="t &gt; mean(t)일 때 반전">
            <a:extLst xmlns:a="http://schemas.openxmlformats.org/drawingml/2006/main">
              <a:ext uri="{FF2B5EF4-FFF2-40B4-BE49-F238E27FC236}">
                <a16:creationId xmlns:a16="http://schemas.microsoft.com/office/drawing/2014/main" id="{23F47947-68F0-46F7-B8F7-D02F8D4D1152}"/>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t &gt; mean(t)일 때 반전</a:t>
            </a:r>
          </a:p>
        </p:txBody>
      </p:sp>
      <p:pic>
        <p:nvPicPr>
          <p:cNvPr id="8" name="">
            <a:extLst xmlns:a="http://schemas.openxmlformats.org/drawingml/2006/main">
              <a:ext uri="{FF2B5EF4-FFF2-40B4-BE49-F238E27FC236}">
                <a16:creationId xmlns:a16="http://schemas.microsoft.com/office/drawing/2014/main" id="{2704BAC7-6E84-45D4-82CB-A6C999C891DE}"/>
              </a:ext>
            </a:extLst>
          </p:cNvPr>
          <p:cNvPicPr>
            <a:picLocks xmlns:a="http://schemas.openxmlformats.org/drawingml/2006/main" noChangeAspect="1"/>
          </p:cNvPicPr>
          <p:nvPr/>
        </p:nvPicPr>
        <p:blipFill>
          <a:blip xmlns:r="http://schemas.openxmlformats.org/officeDocument/2006/relationships" xmlns:a="http://schemas.openxmlformats.org/drawingml/2006/main" r:embed="R25be6d1213fb4547"/>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Histogram Equalization">
            <a:extLst xmlns:a="http://schemas.openxmlformats.org/drawingml/2006/main">
              <a:ext uri="{FF2B5EF4-FFF2-40B4-BE49-F238E27FC236}">
                <a16:creationId xmlns:a16="http://schemas.microsoft.com/office/drawing/2014/main" id="{58BCD2B9-4793-4D61-826B-0B282591B980}"/>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Histogram Equalization</a:t>
            </a:r>
          </a:p>
        </p:txBody>
      </p:sp>
      <p:sp>
        <p:nvSpPr>
          <p:cNvPr id="10" name="전체 히스토그램 변환">
            <a:extLst xmlns:a="http://schemas.openxmlformats.org/drawingml/2006/main">
              <a:ext uri="{FF2B5EF4-FFF2-40B4-BE49-F238E27FC236}">
                <a16:creationId xmlns:a16="http://schemas.microsoft.com/office/drawing/2014/main" id="{46F13504-BE2E-4564-A4C4-7C725B4216CB}"/>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전체 히스토그램 변환</a:t>
            </a:r>
          </a:p>
        </p:txBody>
      </p:sp>
      <p:pic>
        <p:nvPicPr>
          <p:cNvPr id="11" name="">
            <a:extLst xmlns:a="http://schemas.openxmlformats.org/drawingml/2006/main">
              <a:ext uri="{FF2B5EF4-FFF2-40B4-BE49-F238E27FC236}">
                <a16:creationId xmlns:a16="http://schemas.microsoft.com/office/drawing/2014/main" id="{A17DDA49-D668-4D25-8BED-E5A1E64001F4}"/>
              </a:ext>
            </a:extLst>
          </p:cNvPr>
          <p:cNvPicPr>
            <a:picLocks xmlns:a="http://schemas.openxmlformats.org/drawingml/2006/main" noChangeAspect="1"/>
          </p:cNvPicPr>
          <p:nvPr/>
        </p:nvPicPr>
        <p:blipFill>
          <a:blip xmlns:r="http://schemas.openxmlformats.org/officeDocument/2006/relationships" xmlns:a="http://schemas.openxmlformats.org/drawingml/2006/main" r:embed="R5c81dd5d78d24f6e"/>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CLAHE (max)">
            <a:extLst xmlns:a="http://schemas.openxmlformats.org/drawingml/2006/main">
              <a:ext uri="{FF2B5EF4-FFF2-40B4-BE49-F238E27FC236}">
                <a16:creationId xmlns:a16="http://schemas.microsoft.com/office/drawing/2014/main" id="{3D12D7E6-0B88-4865-8EED-8E111DCE4A94}"/>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CLAHE (max)</a:t>
            </a:r>
          </a:p>
        </p:txBody>
      </p:sp>
      <p:sp>
        <p:nvSpPr>
          <p:cNvPr id="13" name="clip limit 40 / grid 16×16">
            <a:extLst xmlns:a="http://schemas.openxmlformats.org/drawingml/2006/main">
              <a:ext uri="{FF2B5EF4-FFF2-40B4-BE49-F238E27FC236}">
                <a16:creationId xmlns:a16="http://schemas.microsoft.com/office/drawing/2014/main" id="{8EB0B699-4B79-4BFC-BD36-B0C127D9EFA6}"/>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clip limit 40 / grid 16×16</a:t>
            </a:r>
          </a:p>
        </p:txBody>
      </p:sp>
    </p:spTree>
    <p:extLst>
      <p:ext uri="{BB962C8B-B14F-4D97-AF65-F5344CB8AC3E}">
        <p14:creationId xmlns:p14="http://schemas.microsoft.com/office/powerpoint/2010/main" val="80671505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3: 평활화와 경계">
            <a:extLst xmlns:a="http://schemas.openxmlformats.org/drawingml/2006/main">
              <a:ext uri="{FF2B5EF4-FFF2-40B4-BE49-F238E27FC236}">
                <a16:creationId xmlns:a16="http://schemas.microsoft.com/office/drawing/2014/main" id="{005B7F04-2295-4791-AC61-B941661090B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3: 평활화와 경계</a:t>
            </a:r>
          </a:p>
        </p:txBody>
      </p:sp>
      <p:sp>
        <p:nvSpPr>
          <p:cNvPr id="2" name="2026 한국정보기술학회 추계 종합학술대회">
            <a:extLst xmlns:a="http://schemas.openxmlformats.org/drawingml/2006/main">
              <a:ext uri="{FF2B5EF4-FFF2-40B4-BE49-F238E27FC236}">
                <a16:creationId xmlns:a16="http://schemas.microsoft.com/office/drawing/2014/main" id="{ECF88F78-4864-4FF9-AFB6-4BB6D8961622}"/>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121EDF21-75F8-4B26-96F2-A82EF2B87D2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실제 코드의 고정 파라미터를 적용한 예시">
            <a:extLst xmlns:a="http://schemas.openxmlformats.org/drawingml/2006/main">
              <a:ext uri="{FF2B5EF4-FFF2-40B4-BE49-F238E27FC236}">
                <a16:creationId xmlns:a16="http://schemas.microsoft.com/office/drawing/2014/main" id="{2BD11038-35CA-40DC-B791-AF5640DCBD78}"/>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실제 코드의 고정 파라미터를 적용한 예시</a:t>
            </a:r>
          </a:p>
        </p:txBody>
      </p:sp>
      <p:pic>
        <p:nvPicPr>
          <p:cNvPr id="5" name="">
            <a:extLst xmlns:a="http://schemas.openxmlformats.org/drawingml/2006/main">
              <a:ext uri="{FF2B5EF4-FFF2-40B4-BE49-F238E27FC236}">
                <a16:creationId xmlns:a16="http://schemas.microsoft.com/office/drawing/2014/main" id="{D42A92F7-E00B-43BE-A6DC-8951225DA8C3}"/>
              </a:ext>
            </a:extLst>
          </p:cNvPr>
          <p:cNvPicPr>
            <a:picLocks xmlns:a="http://schemas.openxmlformats.org/drawingml/2006/main" noChangeAspect="1"/>
          </p:cNvPicPr>
          <p:nvPr/>
        </p:nvPicPr>
        <p:blipFill>
          <a:blip xmlns:r="http://schemas.openxmlformats.org/officeDocument/2006/relationships" xmlns:a="http://schemas.openxmlformats.org/drawingml/2006/main" r:embed="R318fe3a7466049e4"/>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Gamma 0.3">
            <a:extLst xmlns:a="http://schemas.openxmlformats.org/drawingml/2006/main">
              <a:ext uri="{FF2B5EF4-FFF2-40B4-BE49-F238E27FC236}">
                <a16:creationId xmlns:a16="http://schemas.microsoft.com/office/drawing/2014/main" id="{96EA252C-5BE1-4329-A4E7-4998F6BB0FE4}"/>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Gamma 0.3</a:t>
            </a:r>
          </a:p>
        </p:txBody>
      </p:sp>
      <p:sp>
        <p:nvSpPr>
          <p:cNvPr id="7" name="정규화 밝기 t의 0.3제곱">
            <a:extLst xmlns:a="http://schemas.openxmlformats.org/drawingml/2006/main">
              <a:ext uri="{FF2B5EF4-FFF2-40B4-BE49-F238E27FC236}">
                <a16:creationId xmlns:a16="http://schemas.microsoft.com/office/drawing/2014/main" id="{D475BE4D-4DB3-4B43-A3A0-D9B83EA02C58}"/>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 밝기 t의 0.3제곱</a:t>
            </a:r>
          </a:p>
        </p:txBody>
      </p:sp>
      <p:pic>
        <p:nvPicPr>
          <p:cNvPr id="8" name="">
            <a:extLst xmlns:a="http://schemas.openxmlformats.org/drawingml/2006/main">
              <a:ext uri="{FF2B5EF4-FFF2-40B4-BE49-F238E27FC236}">
                <a16:creationId xmlns:a16="http://schemas.microsoft.com/office/drawing/2014/main" id="{5F177534-03C7-4170-817F-F29E5941A14C}"/>
              </a:ext>
            </a:extLst>
          </p:cNvPr>
          <p:cNvPicPr>
            <a:picLocks xmlns:a="http://schemas.openxmlformats.org/drawingml/2006/main" noChangeAspect="1"/>
          </p:cNvPicPr>
          <p:nvPr/>
        </p:nvPicPr>
        <p:blipFill>
          <a:blip xmlns:r="http://schemas.openxmlformats.org/officeDocument/2006/relationships" xmlns:a="http://schemas.openxmlformats.org/drawingml/2006/main" r:embed="R913e9ad4646f4fe0"/>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D4631EA1-4ED2-4BD3-BDFB-D1BD693AD093}"/>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σ=20 px / kernel 121×121">
            <a:extLst xmlns:a="http://schemas.openxmlformats.org/drawingml/2006/main">
              <a:ext uri="{FF2B5EF4-FFF2-40B4-BE49-F238E27FC236}">
                <a16:creationId xmlns:a16="http://schemas.microsoft.com/office/drawing/2014/main" id="{43599DD2-04DC-4616-95F3-54088002E7EE}"/>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σ=20 px / kernel 121×121</a:t>
            </a:r>
          </a:p>
        </p:txBody>
      </p:sp>
      <p:pic>
        <p:nvPicPr>
          <p:cNvPr id="11" name="">
            <a:extLst xmlns:a="http://schemas.openxmlformats.org/drawingml/2006/main">
              <a:ext uri="{FF2B5EF4-FFF2-40B4-BE49-F238E27FC236}">
                <a16:creationId xmlns:a16="http://schemas.microsoft.com/office/drawing/2014/main" id="{B757794F-8D5C-41B2-B0E5-E0F2B2CD0E7F}"/>
              </a:ext>
            </a:extLst>
          </p:cNvPr>
          <p:cNvPicPr>
            <a:picLocks xmlns:a="http://schemas.openxmlformats.org/drawingml/2006/main" noChangeAspect="1"/>
          </p:cNvPicPr>
          <p:nvPr/>
        </p:nvPicPr>
        <p:blipFill>
          <a:blip xmlns:r="http://schemas.openxmlformats.org/officeDocument/2006/relationships" xmlns:a="http://schemas.openxmlformats.org/drawingml/2006/main" r:embed="R1b514dc06d3443e6"/>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 Edges">
            <a:extLst xmlns:a="http://schemas.openxmlformats.org/drawingml/2006/main">
              <a:ext uri="{FF2B5EF4-FFF2-40B4-BE49-F238E27FC236}">
                <a16:creationId xmlns:a16="http://schemas.microsoft.com/office/drawing/2014/main" id="{2BCC414C-3F5B-4286-8C05-227A0F63874F}"/>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 Edges</a:t>
            </a:r>
          </a:p>
        </p:txBody>
      </p:sp>
      <p:sp>
        <p:nvSpPr>
          <p:cNvPr id="13" name="정규화한 경계 응답의 제곱근">
            <a:extLst xmlns:a="http://schemas.openxmlformats.org/drawingml/2006/main">
              <a:ext uri="{FF2B5EF4-FFF2-40B4-BE49-F238E27FC236}">
                <a16:creationId xmlns:a16="http://schemas.microsoft.com/office/drawing/2014/main" id="{5B87A180-3554-4A58-B26B-34683225ED9E}"/>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정규화한 경계 응답의 제곱근</a:t>
            </a:r>
          </a:p>
        </p:txBody>
      </p:sp>
    </p:spTree>
    <p:extLst>
      <p:ext uri="{BB962C8B-B14F-4D97-AF65-F5344CB8AC3E}">
        <p14:creationId xmlns:p14="http://schemas.microsoft.com/office/powerpoint/2010/main" val="1559572092"/>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단일 필터 영상 4: 음영과 선명화">
            <a:extLst xmlns:a="http://schemas.openxmlformats.org/drawingml/2006/main">
              <a:ext uri="{FF2B5EF4-FFF2-40B4-BE49-F238E27FC236}">
                <a16:creationId xmlns:a16="http://schemas.microsoft.com/office/drawing/2014/main" id="{06C8E3D2-1224-4446-B5B2-3254E54008B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 영상 4: 음영과 선명화</a:t>
            </a:r>
          </a:p>
        </p:txBody>
      </p:sp>
      <p:sp>
        <p:nvSpPr>
          <p:cNvPr id="2" name="2026 한국정보기술학회 추계 종합학술대회">
            <a:extLst xmlns:a="http://schemas.openxmlformats.org/drawingml/2006/main">
              <a:ext uri="{FF2B5EF4-FFF2-40B4-BE49-F238E27FC236}">
                <a16:creationId xmlns:a16="http://schemas.microsoft.com/office/drawing/2014/main" id="{7743FA9A-415D-4BFB-A95C-46DDE5EEAB2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10E84CBA-7735-47FB-9C4C-43842B7AB5E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음영·선명화 변환과 원본 비교">
            <a:extLst xmlns:a="http://schemas.openxmlformats.org/drawingml/2006/main">
              <a:ext uri="{FF2B5EF4-FFF2-40B4-BE49-F238E27FC236}">
                <a16:creationId xmlns:a16="http://schemas.microsoft.com/office/drawing/2014/main" id="{EE110CCC-3568-40A4-9411-90D51AE632DC}"/>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음영·선명화 변환과 원본 비교</a:t>
            </a:r>
          </a:p>
        </p:txBody>
      </p:sp>
      <p:pic>
        <p:nvPicPr>
          <p:cNvPr id="5" name="">
            <a:extLst xmlns:a="http://schemas.openxmlformats.org/drawingml/2006/main">
              <a:ext uri="{FF2B5EF4-FFF2-40B4-BE49-F238E27FC236}">
                <a16:creationId xmlns:a16="http://schemas.microsoft.com/office/drawing/2014/main" id="{7254102A-F86B-4E29-A01D-9FD845F2502A}"/>
              </a:ext>
            </a:extLst>
          </p:cNvPr>
          <p:cNvPicPr>
            <a:picLocks xmlns:a="http://schemas.openxmlformats.org/drawingml/2006/main" noChangeAspect="1"/>
          </p:cNvPicPr>
          <p:nvPr/>
        </p:nvPicPr>
        <p:blipFill>
          <a:blip xmlns:r="http://schemas.openxmlformats.org/officeDocument/2006/relationships" xmlns:a="http://schemas.openxmlformats.org/drawingml/2006/main" r:embed="Rf16ab919cc23426c"/>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Emboss">
            <a:extLst xmlns:a="http://schemas.openxmlformats.org/drawingml/2006/main">
              <a:ext uri="{FF2B5EF4-FFF2-40B4-BE49-F238E27FC236}">
                <a16:creationId xmlns:a16="http://schemas.microsoft.com/office/drawing/2014/main" id="{6C2A9A06-F476-4313-86CC-16F15D3B78C0}"/>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7" name="gain=4 / 응답 + 0.5">
            <a:extLst xmlns:a="http://schemas.openxmlformats.org/drawingml/2006/main">
              <a:ext uri="{FF2B5EF4-FFF2-40B4-BE49-F238E27FC236}">
                <a16:creationId xmlns:a16="http://schemas.microsoft.com/office/drawing/2014/main" id="{29783979-B04A-4DD4-84F9-3736D1DF5BD1}"/>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gain=4 / 응답 + 0.5</a:t>
            </a:r>
          </a:p>
        </p:txBody>
      </p:sp>
      <p:pic>
        <p:nvPicPr>
          <p:cNvPr id="8" name="">
            <a:extLst xmlns:a="http://schemas.openxmlformats.org/drawingml/2006/main">
              <a:ext uri="{FF2B5EF4-FFF2-40B4-BE49-F238E27FC236}">
                <a16:creationId xmlns:a16="http://schemas.microsoft.com/office/drawing/2014/main" id="{81CBE8EC-CA6C-43C3-AE8D-D7E9EAB751D3}"/>
              </a:ext>
            </a:extLst>
          </p:cNvPr>
          <p:cNvPicPr>
            <a:picLocks xmlns:a="http://schemas.openxmlformats.org/drawingml/2006/main" noChangeAspect="1"/>
          </p:cNvPicPr>
          <p:nvPr/>
        </p:nvPicPr>
        <p:blipFill>
          <a:blip xmlns:r="http://schemas.openxmlformats.org/officeDocument/2006/relationships" xmlns:a="http://schemas.openxmlformats.org/drawingml/2006/main" r:embed="R2b92be9a137140a1"/>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 (max)">
            <a:extLst xmlns:a="http://schemas.openxmlformats.org/drawingml/2006/main">
              <a:ext uri="{FF2B5EF4-FFF2-40B4-BE49-F238E27FC236}">
                <a16:creationId xmlns:a16="http://schemas.microsoft.com/office/drawing/2014/main" id="{27BB7CE8-5510-4115-8467-118E38E45683}"/>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 (max)</a:t>
            </a:r>
          </a:p>
        </p:txBody>
      </p:sp>
      <p:sp>
        <p:nvSpPr>
          <p:cNvPr id="10" name="amount=8 / σ=2">
            <a:extLst xmlns:a="http://schemas.openxmlformats.org/drawingml/2006/main">
              <a:ext uri="{FF2B5EF4-FFF2-40B4-BE49-F238E27FC236}">
                <a16:creationId xmlns:a16="http://schemas.microsoft.com/office/drawing/2014/main" id="{E1A52759-B092-4163-B273-9C9D0A413EA0}"/>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amount=8 / σ=2</a:t>
            </a:r>
          </a:p>
        </p:txBody>
      </p:sp>
      <p:pic>
        <p:nvPicPr>
          <p:cNvPr id="11" name="">
            <a:extLst xmlns:a="http://schemas.openxmlformats.org/drawingml/2006/main">
              <a:ext uri="{FF2B5EF4-FFF2-40B4-BE49-F238E27FC236}">
                <a16:creationId xmlns:a16="http://schemas.microsoft.com/office/drawing/2014/main" id="{2C28AB50-7D9B-4821-8534-A01078D2AC5A}"/>
              </a:ext>
            </a:extLst>
          </p:cNvPr>
          <p:cNvPicPr>
            <a:picLocks xmlns:a="http://schemas.openxmlformats.org/drawingml/2006/main" noChangeAspect="1"/>
          </p:cNvPicPr>
          <p:nvPr/>
        </p:nvPicPr>
        <p:blipFill>
          <a:blip xmlns:r="http://schemas.openxmlformats.org/officeDocument/2006/relationships" xmlns:a="http://schemas.openxmlformats.org/drawingml/2006/main" r:embed="Rd67256197f0148f7"/>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C6F91362-DCAE-42F2-9D81-048D615A59F4}"/>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DCDBC9F7-15EA-4E33-9F04-EC83809396FC}"/>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61244174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1">
            <a:extLst xmlns:a="http://schemas.openxmlformats.org/drawingml/2006/main">
              <a:ext uri="{FF2B5EF4-FFF2-40B4-BE49-F238E27FC236}">
                <a16:creationId xmlns:a16="http://schemas.microsoft.com/office/drawing/2014/main" id="{9C4C73CD-75B1-4710-8B56-9EE500C92CFD}"/>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1</a:t>
            </a:r>
          </a:p>
        </p:txBody>
      </p:sp>
      <p:sp>
        <p:nvSpPr>
          <p:cNvPr id="2" name="2026 한국정보기술학회 추계 종합학술대회">
            <a:extLst xmlns:a="http://schemas.openxmlformats.org/drawingml/2006/main">
              <a:ext uri="{FF2B5EF4-FFF2-40B4-BE49-F238E27FC236}">
                <a16:creationId xmlns:a16="http://schemas.microsoft.com/office/drawing/2014/main" id="{A43475DF-5521-4F88-A63E-2863203E753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AB66D58D-64D3-4000-A02F-174E6BFFA39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A+B는 A의 출력 영상에 B를 순차적으로 적용">
            <a:extLst xmlns:a="http://schemas.openxmlformats.org/drawingml/2006/main">
              <a:ext uri="{FF2B5EF4-FFF2-40B4-BE49-F238E27FC236}">
                <a16:creationId xmlns:a16="http://schemas.microsoft.com/office/drawing/2014/main" id="{E3032227-C2B0-49DB-A760-2F0808BD31E5}"/>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A+B는 A의 출력 영상에 B를 순차적으로 적용</a:t>
            </a:r>
          </a:p>
        </p:txBody>
      </p:sp>
      <p:pic>
        <p:nvPicPr>
          <p:cNvPr id="5" name="">
            <a:extLst xmlns:a="http://schemas.openxmlformats.org/drawingml/2006/main">
              <a:ext uri="{FF2B5EF4-FFF2-40B4-BE49-F238E27FC236}">
                <a16:creationId xmlns:a16="http://schemas.microsoft.com/office/drawing/2014/main" id="{EEC06315-DA41-464B-B3D8-0F8A9BB89A59}"/>
              </a:ext>
            </a:extLst>
          </p:cNvPr>
          <p:cNvPicPr>
            <a:picLocks xmlns:a="http://schemas.openxmlformats.org/drawingml/2006/main" noChangeAspect="1"/>
          </p:cNvPicPr>
          <p:nvPr/>
        </p:nvPicPr>
        <p:blipFill>
          <a:blip xmlns:r="http://schemas.openxmlformats.org/officeDocument/2006/relationships" xmlns:a="http://schemas.openxmlformats.org/drawingml/2006/main" r:embed="R4f23862f4c644d5e"/>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Invert+CLAHE">
            <a:extLst xmlns:a="http://schemas.openxmlformats.org/drawingml/2006/main">
              <a:ext uri="{FF2B5EF4-FFF2-40B4-BE49-F238E27FC236}">
                <a16:creationId xmlns:a16="http://schemas.microsoft.com/office/drawing/2014/main" id="{0D91F086-C449-4089-A8D0-7550D9923AF3}"/>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Invert+CLAHE</a:t>
            </a:r>
          </a:p>
        </p:txBody>
      </p:sp>
      <p:sp>
        <p:nvSpPr>
          <p:cNvPr id="7" name="반전 후 지역 대비 조정">
            <a:extLst xmlns:a="http://schemas.openxmlformats.org/drawingml/2006/main">
              <a:ext uri="{FF2B5EF4-FFF2-40B4-BE49-F238E27FC236}">
                <a16:creationId xmlns:a16="http://schemas.microsoft.com/office/drawing/2014/main" id="{0C587AD2-26C7-4205-A3D1-463E230956AB}"/>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반전 후 지역 대비 조정</a:t>
            </a:r>
          </a:p>
        </p:txBody>
      </p:sp>
      <p:pic>
        <p:nvPicPr>
          <p:cNvPr id="8" name="">
            <a:extLst xmlns:a="http://schemas.openxmlformats.org/drawingml/2006/main">
              <a:ext uri="{FF2B5EF4-FFF2-40B4-BE49-F238E27FC236}">
                <a16:creationId xmlns:a16="http://schemas.microsoft.com/office/drawing/2014/main" id="{92B4EFD1-4288-43A1-9DE7-418239003FB0}"/>
              </a:ext>
            </a:extLst>
          </p:cNvPr>
          <p:cNvPicPr>
            <a:picLocks xmlns:a="http://schemas.openxmlformats.org/drawingml/2006/main" noChangeAspect="1"/>
          </p:cNvPicPr>
          <p:nvPr/>
        </p:nvPicPr>
        <p:blipFill>
          <a:blip xmlns:r="http://schemas.openxmlformats.org/officeDocument/2006/relationships" xmlns:a="http://schemas.openxmlformats.org/drawingml/2006/main" r:embed="Rd4c0bc8286ea4b1d"/>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Blur+Otsu">
            <a:extLst xmlns:a="http://schemas.openxmlformats.org/drawingml/2006/main">
              <a:ext uri="{FF2B5EF4-FFF2-40B4-BE49-F238E27FC236}">
                <a16:creationId xmlns:a16="http://schemas.microsoft.com/office/drawing/2014/main" id="{B3C93A34-21DD-4F37-9A38-2CB2553970DD}"/>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Blur+Otsu</a:t>
            </a:r>
          </a:p>
        </p:txBody>
      </p:sp>
      <p:sp>
        <p:nvSpPr>
          <p:cNvPr id="10" name="평활화 후 이진화">
            <a:extLst xmlns:a="http://schemas.openxmlformats.org/drawingml/2006/main">
              <a:ext uri="{FF2B5EF4-FFF2-40B4-BE49-F238E27FC236}">
                <a16:creationId xmlns:a16="http://schemas.microsoft.com/office/drawing/2014/main" id="{E884310D-A5AF-4728-BE80-55A9651269EA}"/>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평활화 후 이진화</a:t>
            </a:r>
          </a:p>
        </p:txBody>
      </p:sp>
      <p:pic>
        <p:nvPicPr>
          <p:cNvPr id="11" name="">
            <a:extLst xmlns:a="http://schemas.openxmlformats.org/drawingml/2006/main">
              <a:ext uri="{FF2B5EF4-FFF2-40B4-BE49-F238E27FC236}">
                <a16:creationId xmlns:a16="http://schemas.microsoft.com/office/drawing/2014/main" id="{BEA8A139-FD3D-415C-BE20-F063517D31A4}"/>
              </a:ext>
            </a:extLst>
          </p:cNvPr>
          <p:cNvPicPr>
            <a:picLocks xmlns:a="http://schemas.openxmlformats.org/drawingml/2006/main" noChangeAspect="1"/>
          </p:cNvPicPr>
          <p:nvPr/>
        </p:nvPicPr>
        <p:blipFill>
          <a:blip xmlns:r="http://schemas.openxmlformats.org/officeDocument/2006/relationships" xmlns:a="http://schemas.openxmlformats.org/drawingml/2006/main" r:embed="Rbaf9a741ba4f44c6"/>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Sobel+Invert">
            <a:extLst xmlns:a="http://schemas.openxmlformats.org/drawingml/2006/main">
              <a:ext uri="{FF2B5EF4-FFF2-40B4-BE49-F238E27FC236}">
                <a16:creationId xmlns:a16="http://schemas.microsoft.com/office/drawing/2014/main" id="{8C5D139C-2719-4F51-8AB7-2A06CC37BAB5}"/>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Sobel+Invert</a:t>
            </a:r>
          </a:p>
        </p:txBody>
      </p:sp>
      <p:sp>
        <p:nvSpPr>
          <p:cNvPr id="13" name="경계 응답 후 반전">
            <a:extLst xmlns:a="http://schemas.openxmlformats.org/drawingml/2006/main">
              <a:ext uri="{FF2B5EF4-FFF2-40B4-BE49-F238E27FC236}">
                <a16:creationId xmlns:a16="http://schemas.microsoft.com/office/drawing/2014/main" id="{DAE1199F-AB93-416D-ADCB-B435A41E4697}"/>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경계 응답 후 반전</a:t>
            </a:r>
          </a:p>
        </p:txBody>
      </p:sp>
    </p:spTree>
    <p:extLst>
      <p:ext uri="{BB962C8B-B14F-4D97-AF65-F5344CB8AC3E}">
        <p14:creationId xmlns:p14="http://schemas.microsoft.com/office/powerpoint/2010/main" val="1794564388"/>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순차 조합 영상 2">
            <a:extLst xmlns:a="http://schemas.openxmlformats.org/drawingml/2006/main">
              <a:ext uri="{FF2B5EF4-FFF2-40B4-BE49-F238E27FC236}">
                <a16:creationId xmlns:a16="http://schemas.microsoft.com/office/drawing/2014/main" id="{E692FCB0-130C-4AB4-BA3E-BB8EA047F5F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순차 조합 영상 2</a:t>
            </a:r>
          </a:p>
        </p:txBody>
      </p:sp>
      <p:sp>
        <p:nvSpPr>
          <p:cNvPr id="2" name="2026 한국정보기술학회 추계 종합학술대회">
            <a:extLst xmlns:a="http://schemas.openxmlformats.org/drawingml/2006/main">
              <a:ext uri="{FF2B5EF4-FFF2-40B4-BE49-F238E27FC236}">
                <a16:creationId xmlns:a16="http://schemas.microsoft.com/office/drawing/2014/main" id="{5B1CC012-F3EC-4BE7-B8AD-40ED8BC8D07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49A74684-FFB2-4E9F-A4A0-968810E0915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역순·가능한 전체 조합은 평가 범위에 포함하지 않음">
            <a:extLst xmlns:a="http://schemas.openxmlformats.org/drawingml/2006/main">
              <a:ext uri="{FF2B5EF4-FFF2-40B4-BE49-F238E27FC236}">
                <a16:creationId xmlns:a16="http://schemas.microsoft.com/office/drawing/2014/main" id="{5448B49A-0908-47EE-9EF9-9DE4DF2E15D5}"/>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역순·가능한 전체 조합은 평가 범위에 포함하지 않음</a:t>
            </a:r>
          </a:p>
        </p:txBody>
      </p:sp>
      <p:pic>
        <p:nvPicPr>
          <p:cNvPr id="5" name="">
            <a:extLst xmlns:a="http://schemas.openxmlformats.org/drawingml/2006/main">
              <a:ext uri="{FF2B5EF4-FFF2-40B4-BE49-F238E27FC236}">
                <a16:creationId xmlns:a16="http://schemas.microsoft.com/office/drawing/2014/main" id="{44618238-AE0E-4775-BEC1-01BC342FE62E}"/>
              </a:ext>
            </a:extLst>
          </p:cNvPr>
          <p:cNvPicPr>
            <a:picLocks xmlns:a="http://schemas.openxmlformats.org/drawingml/2006/main" noChangeAspect="1"/>
          </p:cNvPicPr>
          <p:nvPr/>
        </p:nvPicPr>
        <p:blipFill>
          <a:blip xmlns:r="http://schemas.openxmlformats.org/officeDocument/2006/relationships" xmlns:a="http://schemas.openxmlformats.org/drawingml/2006/main" r:embed="Rde2f4bdff42f45fd"/>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HistEq+Emboss">
            <a:extLst xmlns:a="http://schemas.openxmlformats.org/drawingml/2006/main">
              <a:ext uri="{FF2B5EF4-FFF2-40B4-BE49-F238E27FC236}">
                <a16:creationId xmlns:a16="http://schemas.microsoft.com/office/drawing/2014/main" id="{165AAAA8-11FB-4B52-82BE-E9192A3F551F}"/>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HistEq+Emboss</a:t>
            </a:r>
          </a:p>
        </p:txBody>
      </p:sp>
      <p:sp>
        <p:nvSpPr>
          <p:cNvPr id="7" name="히스토그램 변환 후 Emboss">
            <a:extLst xmlns:a="http://schemas.openxmlformats.org/drawingml/2006/main">
              <a:ext uri="{FF2B5EF4-FFF2-40B4-BE49-F238E27FC236}">
                <a16:creationId xmlns:a16="http://schemas.microsoft.com/office/drawing/2014/main" id="{B818438F-D809-472B-844D-4FB60131AA39}"/>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히스토그램 변환 후 Emboss</a:t>
            </a:r>
          </a:p>
        </p:txBody>
      </p:sp>
      <p:pic>
        <p:nvPicPr>
          <p:cNvPr id="8" name="">
            <a:extLst xmlns:a="http://schemas.openxmlformats.org/drawingml/2006/main">
              <a:ext uri="{FF2B5EF4-FFF2-40B4-BE49-F238E27FC236}">
                <a16:creationId xmlns:a16="http://schemas.microsoft.com/office/drawing/2014/main" id="{830F227B-9491-4F5B-9F63-D21498E79B15}"/>
              </a:ext>
            </a:extLst>
          </p:cNvPr>
          <p:cNvPicPr>
            <a:picLocks xmlns:a="http://schemas.openxmlformats.org/drawingml/2006/main" noChangeAspect="1"/>
          </p:cNvPicPr>
          <p:nvPr/>
        </p:nvPicPr>
        <p:blipFill>
          <a:blip xmlns:r="http://schemas.openxmlformats.org/officeDocument/2006/relationships" xmlns:a="http://schemas.openxmlformats.org/drawingml/2006/main" r:embed="R9a52d88dac22456a"/>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Unsharp+Sobel">
            <a:extLst xmlns:a="http://schemas.openxmlformats.org/drawingml/2006/main">
              <a:ext uri="{FF2B5EF4-FFF2-40B4-BE49-F238E27FC236}">
                <a16:creationId xmlns:a16="http://schemas.microsoft.com/office/drawing/2014/main" id="{85BB97C8-D0A8-4297-AF66-93C75B42CA3D}"/>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Unsharp+Sobel</a:t>
            </a:r>
          </a:p>
        </p:txBody>
      </p:sp>
      <p:sp>
        <p:nvSpPr>
          <p:cNvPr id="10" name="선명화 후 경계 응답">
            <a:extLst xmlns:a="http://schemas.openxmlformats.org/drawingml/2006/main">
              <a:ext uri="{FF2B5EF4-FFF2-40B4-BE49-F238E27FC236}">
                <a16:creationId xmlns:a16="http://schemas.microsoft.com/office/drawing/2014/main" id="{CA4765B2-DDC0-456B-978B-2CD3B7853AAE}"/>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선명화 후 경계 응답</a:t>
            </a:r>
          </a:p>
        </p:txBody>
      </p:sp>
      <p:pic>
        <p:nvPicPr>
          <p:cNvPr id="11" name="">
            <a:extLst xmlns:a="http://schemas.openxmlformats.org/drawingml/2006/main">
              <a:ext uri="{FF2B5EF4-FFF2-40B4-BE49-F238E27FC236}">
                <a16:creationId xmlns:a16="http://schemas.microsoft.com/office/drawing/2014/main" id="{DAFC8237-8A98-460B-9458-FCC05796F27E}"/>
              </a:ext>
            </a:extLst>
          </p:cNvPr>
          <p:cNvPicPr>
            <a:picLocks xmlns:a="http://schemas.openxmlformats.org/drawingml/2006/main" noChangeAspect="1"/>
          </p:cNvPicPr>
          <p:nvPr/>
        </p:nvPicPr>
        <p:blipFill>
          <a:blip xmlns:r="http://schemas.openxmlformats.org/officeDocument/2006/relationships" xmlns:a="http://schemas.openxmlformats.org/drawingml/2006/main" r:embed="R7e2165c20e524552"/>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Original">
            <a:extLst xmlns:a="http://schemas.openxmlformats.org/drawingml/2006/main">
              <a:ext uri="{FF2B5EF4-FFF2-40B4-BE49-F238E27FC236}">
                <a16:creationId xmlns:a16="http://schemas.microsoft.com/office/drawing/2014/main" id="{5ADCEEBD-CD0E-49DF-8286-BECA95963984}"/>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Original</a:t>
            </a:r>
          </a:p>
        </p:txBody>
      </p:sp>
      <p:sp>
        <p:nvSpPr>
          <p:cNvPr id="13" name="비교를 위한 원본 재제시">
            <a:extLst xmlns:a="http://schemas.openxmlformats.org/drawingml/2006/main">
              <a:ext uri="{FF2B5EF4-FFF2-40B4-BE49-F238E27FC236}">
                <a16:creationId xmlns:a16="http://schemas.microsoft.com/office/drawing/2014/main" id="{6858F7DB-326B-4CB5-9690-6BD6E4F39916}"/>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비교를 위한 원본 재제시</a:t>
            </a:r>
          </a:p>
        </p:txBody>
      </p:sp>
    </p:spTree>
    <p:extLst>
      <p:ext uri="{BB962C8B-B14F-4D97-AF65-F5344CB8AC3E}">
        <p14:creationId xmlns:p14="http://schemas.microsoft.com/office/powerpoint/2010/main" val="1694127188"/>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B093FEAA-0E02-4D13-B57F-2288E19A12D0}"/>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60B9DF33-698D-445D-BEB7-2B56F06C1159}"/>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CD0B7626-8344-404A-9EE5-9805BF9BB1E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조건별 YOLOv8n 재학습">
            <a:extLst xmlns:a="http://schemas.openxmlformats.org/drawingml/2006/main">
              <a:ext uri="{FF2B5EF4-FFF2-40B4-BE49-F238E27FC236}">
                <a16:creationId xmlns:a16="http://schemas.microsoft.com/office/drawing/2014/main" id="{FA5DEF42-0B52-4B67-B2D5-7DAE4754DE8F}"/>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11EA7E2A-558C-42BC-B313-EEE028AD24F1}"/>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0FC74B4C-97AA-4CCA-9E8F-5FAB05A25701}"/>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C31925D9-8295-45CB-9185-F78AEB04A635}"/>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A6406CD1-32D3-476C-AD8E-9AB92E9550A6}"/>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A921AB65-F65F-45AD-AC8B-17D64C7EAFF6}"/>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237388288"/>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A8F1F97D-AD65-45B9-B45F-02990CE1396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0DCCE30E-90A1-44A9-8507-1F525B42C86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1A82ABBF-33BC-49FD-A7BE-D076E7EC368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mAP50-95 (%)  /  Clean  /  Seed ">
            <a:extLst xmlns:a="http://schemas.openxmlformats.org/drawingml/2006/main">
              <a:ext uri="{FF2B5EF4-FFF2-40B4-BE49-F238E27FC236}">
                <a16:creationId xmlns:a16="http://schemas.microsoft.com/office/drawing/2014/main" id="{C91031C7-E651-448B-A19C-36655BDA2909}"/>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D45E495E-C028-46D8-A4E1-88B7408D96C1}"/>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704808ea2cb34c6c"/>
          </a:graphicData>
        </a:graphic>
      </p:graphicFrame>
      <p:sp>
        <p:nvSpPr>
          <p:cNvPr id="6" name="Gamma 0.3 96.70%     Original 96">
            <a:extLst xmlns:a="http://schemas.openxmlformats.org/drawingml/2006/main">
              <a:ext uri="{FF2B5EF4-FFF2-40B4-BE49-F238E27FC236}">
                <a16:creationId xmlns:a16="http://schemas.microsoft.com/office/drawing/2014/main" id="{1E037E4E-0F0B-4A66-8B90-D854278E884F}"/>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45692361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682504EC-A059-473A-BDB3-1DBE3FE0410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CC0B9FE6-44FF-4BD1-8BAE-BD0CC3C7C6F6}"/>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DB10B915-24F6-45D3-A245-FBD26661692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mAP50-95 (%)  /  Clean  /  Seed ">
            <a:extLst xmlns:a="http://schemas.openxmlformats.org/drawingml/2006/main">
              <a:ext uri="{FF2B5EF4-FFF2-40B4-BE49-F238E27FC236}">
                <a16:creationId xmlns:a16="http://schemas.microsoft.com/office/drawing/2014/main" id="{5D85B1FE-FF56-4539-B2F4-63BB94E23E8D}"/>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F93C9E83-3E99-4F01-9315-8AF53394C51D}"/>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a50e1ea7118047c5"/>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5782803B-96F4-43C4-B41F-D6CDD7AFF10A}"/>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179979135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CE41F463-8B7A-4D72-AA4D-6F6F9DDAB34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8FFB3B9F-3346-402D-AF20-1A1798ADF579}"/>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855478BD-7AEB-4F0E-A583-AFDDE7724AF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ean / Seed 42">
            <a:extLst xmlns:a="http://schemas.openxmlformats.org/drawingml/2006/main">
              <a:ext uri="{FF2B5EF4-FFF2-40B4-BE49-F238E27FC236}">
                <a16:creationId xmlns:a16="http://schemas.microsoft.com/office/drawing/2014/main" id="{4986A340-9AAC-4ACE-AACC-EE128D6F0BD3}"/>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70026D4F-3840-4B34-9F85-F078413F85EF}"/>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21d5154f56c54a09"/>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4D495A93-A3C2-430F-8225-7B91F7234069}"/>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2032119825"/>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40">
            <a:extLst xmlns:a="http://schemas.openxmlformats.org/drawingml/2006/main">
              <a:ext uri="{FF2B5EF4-FFF2-40B4-BE49-F238E27FC236}">
                <a16:creationId xmlns:a16="http://schemas.microsoft.com/office/drawing/2014/main" id="{FE0D2EB0-CB8B-48C4-B30E-F2F1D35EB81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std=40</a:t>
            </a:r>
          </a:p>
        </p:txBody>
      </p:sp>
      <p:sp>
        <p:nvSpPr>
          <p:cNvPr id="2" name="2026 한국정보기술학회 추계 종합학술대회">
            <a:extLst xmlns:a="http://schemas.openxmlformats.org/drawingml/2006/main">
              <a:ext uri="{FF2B5EF4-FFF2-40B4-BE49-F238E27FC236}">
                <a16:creationId xmlns:a16="http://schemas.microsoft.com/office/drawing/2014/main" id="{C63F2B39-97B5-44DA-8283-35223BF7DE9B}"/>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8D8D89A0-E876-413B-9CC3-676ACE42AE3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Noise std=40을 추가한 동일 원장면의 저장 예시">
            <a:extLst xmlns:a="http://schemas.openxmlformats.org/drawingml/2006/main">
              <a:ext uri="{FF2B5EF4-FFF2-40B4-BE49-F238E27FC236}">
                <a16:creationId xmlns:a16="http://schemas.microsoft.com/office/drawing/2014/main" id="{71A54F73-DC8E-4430-B10E-6FCB33B3F402}"/>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std=40을 추가한 동일 원장면의 저장 예시</a:t>
            </a:r>
          </a:p>
        </p:txBody>
      </p:sp>
      <p:pic>
        <p:nvPicPr>
          <p:cNvPr id="5" name="">
            <a:extLst xmlns:a="http://schemas.openxmlformats.org/drawingml/2006/main">
              <a:ext uri="{FF2B5EF4-FFF2-40B4-BE49-F238E27FC236}">
                <a16:creationId xmlns:a16="http://schemas.microsoft.com/office/drawing/2014/main" id="{0037F17C-581F-4341-B412-DAA614B6C22A}"/>
              </a:ext>
            </a:extLst>
          </p:cNvPr>
          <p:cNvPicPr>
            <a:picLocks xmlns:a="http://schemas.openxmlformats.org/drawingml/2006/main" noChangeAspect="1"/>
          </p:cNvPicPr>
          <p:nvPr/>
        </p:nvPicPr>
        <p:blipFill>
          <a:blip xmlns:r="http://schemas.openxmlformats.org/officeDocument/2006/relationships" xmlns:a="http://schemas.openxmlformats.org/drawingml/2006/main" r:embed="Ra363505d9b8847d8"/>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C1D9EA7F-3AED-4424-B75F-94776529E6A3}"/>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40">
            <a:extLst xmlns:a="http://schemas.openxmlformats.org/drawingml/2006/main">
              <a:ext uri="{FF2B5EF4-FFF2-40B4-BE49-F238E27FC236}">
                <a16:creationId xmlns:a16="http://schemas.microsoft.com/office/drawing/2014/main" id="{D98727AC-03CE-4817-915D-10A4A4CBC18C}"/>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a:t>
            </a:r>
          </a:p>
        </p:txBody>
      </p:sp>
      <p:pic>
        <p:nvPicPr>
          <p:cNvPr id="8" name="">
            <a:extLst xmlns:a="http://schemas.openxmlformats.org/drawingml/2006/main">
              <a:ext uri="{FF2B5EF4-FFF2-40B4-BE49-F238E27FC236}">
                <a16:creationId xmlns:a16="http://schemas.microsoft.com/office/drawing/2014/main" id="{19EC837C-8ECF-4F85-8660-24131CBA822E}"/>
              </a:ext>
            </a:extLst>
          </p:cNvPr>
          <p:cNvPicPr>
            <a:picLocks xmlns:a="http://schemas.openxmlformats.org/drawingml/2006/main" noChangeAspect="1"/>
          </p:cNvPicPr>
          <p:nvPr/>
        </p:nvPicPr>
        <p:blipFill>
          <a:blip xmlns:r="http://schemas.openxmlformats.org/officeDocument/2006/relationships" xmlns:a="http://schemas.openxmlformats.org/drawingml/2006/main" r:embed="R81f4820ccbdc4fd5"/>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AB994D99-BD95-4AC1-81D9-3639CBCBF40C}"/>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40 후 필터 적용">
            <a:extLst xmlns:a="http://schemas.openxmlformats.org/drawingml/2006/main">
              <a:ext uri="{FF2B5EF4-FFF2-40B4-BE49-F238E27FC236}">
                <a16:creationId xmlns:a16="http://schemas.microsoft.com/office/drawing/2014/main" id="{6B437CF5-5CD4-4FAD-B02F-839FE31C84AA}"/>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pic>
        <p:nvPicPr>
          <p:cNvPr id="11" name="">
            <a:extLst xmlns:a="http://schemas.openxmlformats.org/drawingml/2006/main">
              <a:ext uri="{FF2B5EF4-FFF2-40B4-BE49-F238E27FC236}">
                <a16:creationId xmlns:a16="http://schemas.microsoft.com/office/drawing/2014/main" id="{AACD5CD1-7F93-4279-AB88-3539C00201F9}"/>
              </a:ext>
            </a:extLst>
          </p:cNvPr>
          <p:cNvPicPr>
            <a:picLocks xmlns:a="http://schemas.openxmlformats.org/drawingml/2006/main" noChangeAspect="1"/>
          </p:cNvPicPr>
          <p:nvPr/>
        </p:nvPicPr>
        <p:blipFill>
          <a:blip xmlns:r="http://schemas.openxmlformats.org/officeDocument/2006/relationships" xmlns:a="http://schemas.openxmlformats.org/drawingml/2006/main" r:embed="R2be90e2fb97644de"/>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89E17936-A2C7-49EC-8B93-2124E6B194E8}"/>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40 후 필터 적용">
            <a:extLst xmlns:a="http://schemas.openxmlformats.org/drawingml/2006/main">
              <a:ext uri="{FF2B5EF4-FFF2-40B4-BE49-F238E27FC236}">
                <a16:creationId xmlns:a16="http://schemas.microsoft.com/office/drawing/2014/main" id="{C9B4821C-25A2-4303-97E6-7FE592A3011C}"/>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std=40 후 필터 적용</a:t>
            </a:r>
          </a:p>
        </p:txBody>
      </p:sp>
    </p:spTree>
    <p:extLst>
      <p:ext uri="{BB962C8B-B14F-4D97-AF65-F5344CB8AC3E}">
        <p14:creationId xmlns:p14="http://schemas.microsoft.com/office/powerpoint/2010/main" val="896342605"/>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가우시안 잡음 영상: Noise std=80">
            <a:extLst xmlns:a="http://schemas.openxmlformats.org/drawingml/2006/main">
              <a:ext uri="{FF2B5EF4-FFF2-40B4-BE49-F238E27FC236}">
                <a16:creationId xmlns:a16="http://schemas.microsoft.com/office/drawing/2014/main" id="{40C37FD5-F52E-4119-932A-7CDB64A9B91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가우시안 잡음 영상: Noise std=80</a:t>
            </a:r>
          </a:p>
        </p:txBody>
      </p:sp>
      <p:sp>
        <p:nvSpPr>
          <p:cNvPr id="2" name="2026 한국정보기술학회 추계 종합학술대회">
            <a:extLst xmlns:a="http://schemas.openxmlformats.org/drawingml/2006/main">
              <a:ext uri="{FF2B5EF4-FFF2-40B4-BE49-F238E27FC236}">
                <a16:creationId xmlns:a16="http://schemas.microsoft.com/office/drawing/2014/main" id="{CF1AD286-7EA6-4E7A-98D3-936E8FD0E69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4FB48B91-9D03-44EB-9B22-E1D9963A6A1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Noise std=80을 추가한 동일 원장면의 저장 예시">
            <a:extLst xmlns:a="http://schemas.openxmlformats.org/drawingml/2006/main">
              <a:ext uri="{FF2B5EF4-FFF2-40B4-BE49-F238E27FC236}">
                <a16:creationId xmlns:a16="http://schemas.microsoft.com/office/drawing/2014/main" id="{E060F8FF-9854-4D76-B384-C4622FF7EB55}"/>
              </a:ext>
            </a:extLst>
          </p:cNvPr>
          <p:cNvSpPr>
            <a:spLocks xmlns:a="http://schemas.openxmlformats.org/drawingml/2006/main" noGrp="1"/>
          </p:cNvSpPr>
          <p:nvPr/>
        </p:nvSpPr>
        <p:spPr>
          <a:xfrm xmlns:a="http://schemas.openxmlformats.org/drawingml/2006/main">
            <a:off x="742950" y="141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Noise std=80을 추가한 동일 원장면의 저장 예시</a:t>
            </a:r>
          </a:p>
        </p:txBody>
      </p:sp>
      <p:pic>
        <p:nvPicPr>
          <p:cNvPr id="5" name="">
            <a:extLst xmlns:a="http://schemas.openxmlformats.org/drawingml/2006/main">
              <a:ext uri="{FF2B5EF4-FFF2-40B4-BE49-F238E27FC236}">
                <a16:creationId xmlns:a16="http://schemas.microsoft.com/office/drawing/2014/main" id="{0DE745BF-869B-4B98-BB42-6350DFD834DD}"/>
              </a:ext>
            </a:extLst>
          </p:cNvPr>
          <p:cNvPicPr>
            <a:picLocks xmlns:a="http://schemas.openxmlformats.org/drawingml/2006/main" noChangeAspect="1"/>
          </p:cNvPicPr>
          <p:nvPr/>
        </p:nvPicPr>
        <p:blipFill>
          <a:blip xmlns:r="http://schemas.openxmlformats.org/officeDocument/2006/relationships" xmlns:a="http://schemas.openxmlformats.org/drawingml/2006/main" r:embed="Rb274fd34e9024b0e"/>
          <a:srcRect xmlns:a="http://schemas.openxmlformats.org/drawingml/2006/main" l="50000" t="0" r="0" b="0"/>
          <a:stretch xmlns:a="http://schemas.openxmlformats.org/drawingml/2006/main"/>
        </p:blipFill>
        <p:spPr>
          <a:xfrm xmlns:a="http://schemas.openxmlformats.org/drawingml/2006/main">
            <a:off x="723900" y="2390775"/>
            <a:ext cx="3333750" cy="2667000"/>
          </a:xfrm>
          <a:prstGeom xmlns:a="http://schemas.openxmlformats.org/drawingml/2006/main" prst="rect">
            <a:avLst/>
          </a:prstGeom>
        </p:spPr>
      </p:pic>
      <p:sp>
        <p:nvSpPr>
          <p:cNvPr id="6" name="Noise input">
            <a:extLst xmlns:a="http://schemas.openxmlformats.org/drawingml/2006/main">
              <a:ext uri="{FF2B5EF4-FFF2-40B4-BE49-F238E27FC236}">
                <a16:creationId xmlns:a16="http://schemas.microsoft.com/office/drawing/2014/main" id="{3DC92D34-96A6-4239-84FD-ED5675CB9619}"/>
              </a:ext>
            </a:extLst>
          </p:cNvPr>
          <p:cNvSpPr>
            <a:spLocks xmlns:a="http://schemas.openxmlformats.org/drawingml/2006/main" noGrp="1"/>
          </p:cNvSpPr>
          <p:nvPr/>
        </p:nvSpPr>
        <p:spPr>
          <a:xfrm xmlns:a="http://schemas.openxmlformats.org/drawingml/2006/main">
            <a:off x="7239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Noise input</a:t>
            </a:r>
          </a:p>
        </p:txBody>
      </p:sp>
      <p:sp>
        <p:nvSpPr>
          <p:cNvPr id="7" name="Noise std=80">
            <a:extLst xmlns:a="http://schemas.openxmlformats.org/drawingml/2006/main">
              <a:ext uri="{FF2B5EF4-FFF2-40B4-BE49-F238E27FC236}">
                <a16:creationId xmlns:a16="http://schemas.microsoft.com/office/drawing/2014/main" id="{DC29A83A-011A-47DD-AB8E-E06B65C78068}"/>
              </a:ext>
            </a:extLst>
          </p:cNvPr>
          <p:cNvSpPr>
            <a:spLocks xmlns:a="http://schemas.openxmlformats.org/drawingml/2006/main" noGrp="1"/>
          </p:cNvSpPr>
          <p:nvPr/>
        </p:nvSpPr>
        <p:spPr>
          <a:xfrm xmlns:a="http://schemas.openxmlformats.org/drawingml/2006/main">
            <a:off x="7239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a:t>
            </a:r>
          </a:p>
        </p:txBody>
      </p:sp>
      <p:pic>
        <p:nvPicPr>
          <p:cNvPr id="8" name="">
            <a:extLst xmlns:a="http://schemas.openxmlformats.org/drawingml/2006/main">
              <a:ext uri="{FF2B5EF4-FFF2-40B4-BE49-F238E27FC236}">
                <a16:creationId xmlns:a16="http://schemas.microsoft.com/office/drawing/2014/main" id="{08EB9612-28BA-428F-8FB4-DC93C2315AAD}"/>
              </a:ext>
            </a:extLst>
          </p:cNvPr>
          <p:cNvPicPr>
            <a:picLocks xmlns:a="http://schemas.openxmlformats.org/drawingml/2006/main" noChangeAspect="1"/>
          </p:cNvPicPr>
          <p:nvPr/>
        </p:nvPicPr>
        <p:blipFill>
          <a:blip xmlns:r="http://schemas.openxmlformats.org/officeDocument/2006/relationships" xmlns:a="http://schemas.openxmlformats.org/drawingml/2006/main" r:embed="R2da91e1223ed494b"/>
          <a:srcRect xmlns:a="http://schemas.openxmlformats.org/drawingml/2006/main" l="50000" t="0" r="0" b="0"/>
          <a:stretch xmlns:a="http://schemas.openxmlformats.org/drawingml/2006/main"/>
        </p:blipFill>
        <p:spPr>
          <a:xfrm xmlns:a="http://schemas.openxmlformats.org/drawingml/2006/main">
            <a:off x="4438650" y="2390775"/>
            <a:ext cx="3333750" cy="2667000"/>
          </a:xfrm>
          <a:prstGeom xmlns:a="http://schemas.openxmlformats.org/drawingml/2006/main" prst="rect">
            <a:avLst/>
          </a:prstGeom>
        </p:spPr>
      </p:pic>
      <p:sp>
        <p:nvSpPr>
          <p:cNvPr id="9" name="Gaussian Blur (max)">
            <a:extLst xmlns:a="http://schemas.openxmlformats.org/drawingml/2006/main">
              <a:ext uri="{FF2B5EF4-FFF2-40B4-BE49-F238E27FC236}">
                <a16:creationId xmlns:a16="http://schemas.microsoft.com/office/drawing/2014/main" id="{DAC54ED3-3E25-46E7-BBBA-8A43ECE1E874}"/>
              </a:ext>
            </a:extLst>
          </p:cNvPr>
          <p:cNvSpPr>
            <a:spLocks xmlns:a="http://schemas.openxmlformats.org/drawingml/2006/main" noGrp="1"/>
          </p:cNvSpPr>
          <p:nvPr/>
        </p:nvSpPr>
        <p:spPr>
          <a:xfrm xmlns:a="http://schemas.openxmlformats.org/drawingml/2006/main">
            <a:off x="443865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Gaussian Blur (max)</a:t>
            </a:r>
          </a:p>
        </p:txBody>
      </p:sp>
      <p:sp>
        <p:nvSpPr>
          <p:cNvPr id="10" name="Noise std=80 후 필터 적용">
            <a:extLst xmlns:a="http://schemas.openxmlformats.org/drawingml/2006/main">
              <a:ext uri="{FF2B5EF4-FFF2-40B4-BE49-F238E27FC236}">
                <a16:creationId xmlns:a16="http://schemas.microsoft.com/office/drawing/2014/main" id="{0804FF40-1D50-438B-8980-90F11BDCB982}"/>
              </a:ext>
            </a:extLst>
          </p:cNvPr>
          <p:cNvSpPr>
            <a:spLocks xmlns:a="http://schemas.openxmlformats.org/drawingml/2006/main" noGrp="1"/>
          </p:cNvSpPr>
          <p:nvPr/>
        </p:nvSpPr>
        <p:spPr>
          <a:xfrm xmlns:a="http://schemas.openxmlformats.org/drawingml/2006/main">
            <a:off x="443865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pic>
        <p:nvPicPr>
          <p:cNvPr id="11" name="">
            <a:extLst xmlns:a="http://schemas.openxmlformats.org/drawingml/2006/main">
              <a:ext uri="{FF2B5EF4-FFF2-40B4-BE49-F238E27FC236}">
                <a16:creationId xmlns:a16="http://schemas.microsoft.com/office/drawing/2014/main" id="{23015460-E37D-4C4C-AD58-7906443CA8DB}"/>
              </a:ext>
            </a:extLst>
          </p:cNvPr>
          <p:cNvPicPr>
            <a:picLocks xmlns:a="http://schemas.openxmlformats.org/drawingml/2006/main" noChangeAspect="1"/>
          </p:cNvPicPr>
          <p:nvPr/>
        </p:nvPicPr>
        <p:blipFill>
          <a:blip xmlns:r="http://schemas.openxmlformats.org/officeDocument/2006/relationships" xmlns:a="http://schemas.openxmlformats.org/drawingml/2006/main" r:embed="R4aec31391ee542a1"/>
          <a:srcRect xmlns:a="http://schemas.openxmlformats.org/drawingml/2006/main" l="50000" t="0" r="0" b="0"/>
          <a:stretch xmlns:a="http://schemas.openxmlformats.org/drawingml/2006/main"/>
        </p:blipFill>
        <p:spPr>
          <a:xfrm xmlns:a="http://schemas.openxmlformats.org/drawingml/2006/main">
            <a:off x="8153400" y="2390775"/>
            <a:ext cx="3333750" cy="2667000"/>
          </a:xfrm>
          <a:prstGeom xmlns:a="http://schemas.openxmlformats.org/drawingml/2006/main" prst="rect">
            <a:avLst/>
          </a:prstGeom>
        </p:spPr>
      </p:pic>
      <p:sp>
        <p:nvSpPr>
          <p:cNvPr id="12" name="Emboss">
            <a:extLst xmlns:a="http://schemas.openxmlformats.org/drawingml/2006/main">
              <a:ext uri="{FF2B5EF4-FFF2-40B4-BE49-F238E27FC236}">
                <a16:creationId xmlns:a16="http://schemas.microsoft.com/office/drawing/2014/main" id="{11F9BEA9-0EC8-4A97-80CC-F731E11F059B}"/>
              </a:ext>
            </a:extLst>
          </p:cNvPr>
          <p:cNvSpPr>
            <a:spLocks xmlns:a="http://schemas.openxmlformats.org/drawingml/2006/main" noGrp="1"/>
          </p:cNvSpPr>
          <p:nvPr/>
        </p:nvSpPr>
        <p:spPr>
          <a:xfrm xmlns:a="http://schemas.openxmlformats.org/drawingml/2006/main">
            <a:off x="8153400" y="52482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FFFFFF"/>
                </a:solidFill>
                <a:latin typeface="NanumGothic"/>
                <a:ea typeface="NanumGothic"/>
                <a:cs typeface="NanumGothic"/>
              </a:defRPr>
            </a:defPPr>
            <a:lvl1pPr algn="ctr">
              <a:defRPr sz="1950" b="1">
                <a:solidFill>
                  <a:srgbClr val="FFFFFF"/>
                </a:solidFill>
                <a:latin typeface="NanumGothic"/>
                <a:ea typeface="NanumGothic"/>
                <a:cs typeface="NanumGothic"/>
              </a:defRPr>
            </a:lvl1pPr>
            <a:lvl2pPr algn="ctr">
              <a:defRPr sz="1950" b="1">
                <a:solidFill>
                  <a:srgbClr val="FFFFFF"/>
                </a:solidFill>
                <a:latin typeface="NanumGothic"/>
                <a:ea typeface="NanumGothic"/>
                <a:cs typeface="NanumGothic"/>
              </a:defRPr>
            </a:lvl2pPr>
            <a:lvl3pPr algn="ctr">
              <a:defRPr sz="1950" b="1">
                <a:solidFill>
                  <a:srgbClr val="FFFFFF"/>
                </a:solidFill>
                <a:latin typeface="NanumGothic"/>
                <a:ea typeface="NanumGothic"/>
                <a:cs typeface="NanumGothic"/>
              </a:defRPr>
            </a:lvl3pPr>
            <a:lvl4pPr algn="ctr">
              <a:defRPr sz="1950" b="1">
                <a:solidFill>
                  <a:srgbClr val="FFFFFF"/>
                </a:solidFill>
                <a:latin typeface="NanumGothic"/>
                <a:ea typeface="NanumGothic"/>
                <a:cs typeface="NanumGothic"/>
              </a:defRPr>
            </a:lvl4pPr>
            <a:lvl5pPr algn="ctr">
              <a:defRPr sz="1950" b="1">
                <a:solidFill>
                  <a:srgbClr val="FFFFFF"/>
                </a:solidFill>
                <a:latin typeface="NanumGothic"/>
                <a:ea typeface="NanumGothic"/>
                <a:cs typeface="NanumGothic"/>
              </a:defRPr>
            </a:lvl5pPr>
            <a:lvl6pPr algn="ctr">
              <a:defRPr sz="1950" b="1">
                <a:solidFill>
                  <a:srgbClr val="FFFFFF"/>
                </a:solidFill>
                <a:latin typeface="NanumGothic"/>
                <a:ea typeface="NanumGothic"/>
                <a:cs typeface="NanumGothic"/>
              </a:defRPr>
            </a:lvl6pPr>
            <a:lvl7pPr algn="ctr">
              <a:defRPr sz="1950" b="1">
                <a:solidFill>
                  <a:srgbClr val="FFFFFF"/>
                </a:solidFill>
                <a:latin typeface="NanumGothic"/>
                <a:ea typeface="NanumGothic"/>
                <a:cs typeface="NanumGothic"/>
              </a:defRPr>
            </a:lvl7pPr>
            <a:lvl8pPr algn="ctr">
              <a:defRPr sz="1950" b="1">
                <a:solidFill>
                  <a:srgbClr val="FFFFFF"/>
                </a:solidFill>
                <a:latin typeface="NanumGothic"/>
                <a:ea typeface="NanumGothic"/>
                <a:cs typeface="NanumGothic"/>
              </a:defRPr>
            </a:lvl8pPr>
            <a:lvl9pPr algn="ctr">
              <a:defRPr sz="1950" b="1">
                <a:solidFill>
                  <a:srgbClr val="FFFFFF"/>
                </a:solidFill>
                <a:latin typeface="NanumGothic"/>
                <a:ea typeface="NanumGothic"/>
                <a:cs typeface="NanumGothic"/>
              </a:defRPr>
            </a:lvl9pPr>
          </a:lstStyle>
          <a:p xmlns:a="http://schemas.openxmlformats.org/drawingml/2006/main">
            <a:pPr algn="ctr">
              <a:defRPr sz="1950" b="1">
                <a:solidFill>
                  <a:srgbClr val="FFFFFF"/>
                </a:solidFill>
                <a:latin typeface="NanumGothic"/>
                <a:ea typeface="NanumGothic"/>
                <a:cs typeface="NanumGothic"/>
              </a:defRPr>
            </a:pPr>
            <a:r>
              <a:rPr sz="1950" b="1">
                <a:solidFill>
                  <a:srgbClr val="FFFFFF"/>
                </a:solidFill>
                <a:latin typeface="NanumGothic"/>
                <a:ea typeface="NanumGothic"/>
                <a:cs typeface="NanumGothic"/>
              </a:rPr>
              <a:t>Emboss</a:t>
            </a:r>
          </a:p>
        </p:txBody>
      </p:sp>
      <p:sp>
        <p:nvSpPr>
          <p:cNvPr id="13" name="Noise std=80 후 필터 적용">
            <a:extLst xmlns:a="http://schemas.openxmlformats.org/drawingml/2006/main">
              <a:ext uri="{FF2B5EF4-FFF2-40B4-BE49-F238E27FC236}">
                <a16:creationId xmlns:a16="http://schemas.microsoft.com/office/drawing/2014/main" id="{5629033B-D06D-4706-8E97-D95F000E9141}"/>
              </a:ext>
            </a:extLst>
          </p:cNvPr>
          <p:cNvSpPr>
            <a:spLocks xmlns:a="http://schemas.openxmlformats.org/drawingml/2006/main" noGrp="1"/>
          </p:cNvSpPr>
          <p:nvPr/>
        </p:nvSpPr>
        <p:spPr>
          <a:xfrm xmlns:a="http://schemas.openxmlformats.org/drawingml/2006/main">
            <a:off x="8153400" y="5772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BDBDC2"/>
                </a:solidFill>
                <a:latin typeface="NanumGothic"/>
                <a:ea typeface="NanumGothic"/>
                <a:cs typeface="NanumGothic"/>
              </a:defRPr>
            </a:defPPr>
            <a:lvl1pPr algn="ctr">
              <a:defRPr sz="1575" b="1">
                <a:solidFill>
                  <a:srgbClr val="BDBDC2"/>
                </a:solidFill>
                <a:latin typeface="NanumGothic"/>
                <a:ea typeface="NanumGothic"/>
                <a:cs typeface="NanumGothic"/>
              </a:defRPr>
            </a:lvl1pPr>
            <a:lvl2pPr algn="ctr">
              <a:defRPr sz="1575" b="1">
                <a:solidFill>
                  <a:srgbClr val="BDBDC2"/>
                </a:solidFill>
                <a:latin typeface="NanumGothic"/>
                <a:ea typeface="NanumGothic"/>
                <a:cs typeface="NanumGothic"/>
              </a:defRPr>
            </a:lvl2pPr>
            <a:lvl3pPr algn="ctr">
              <a:defRPr sz="1575" b="1">
                <a:solidFill>
                  <a:srgbClr val="BDBDC2"/>
                </a:solidFill>
                <a:latin typeface="NanumGothic"/>
                <a:ea typeface="NanumGothic"/>
                <a:cs typeface="NanumGothic"/>
              </a:defRPr>
            </a:lvl3pPr>
            <a:lvl4pPr algn="ctr">
              <a:defRPr sz="1575" b="1">
                <a:solidFill>
                  <a:srgbClr val="BDBDC2"/>
                </a:solidFill>
                <a:latin typeface="NanumGothic"/>
                <a:ea typeface="NanumGothic"/>
                <a:cs typeface="NanumGothic"/>
              </a:defRPr>
            </a:lvl4pPr>
            <a:lvl5pPr algn="ctr">
              <a:defRPr sz="1575" b="1">
                <a:solidFill>
                  <a:srgbClr val="BDBDC2"/>
                </a:solidFill>
                <a:latin typeface="NanumGothic"/>
                <a:ea typeface="NanumGothic"/>
                <a:cs typeface="NanumGothic"/>
              </a:defRPr>
            </a:lvl5pPr>
            <a:lvl6pPr algn="ctr">
              <a:defRPr sz="1575" b="1">
                <a:solidFill>
                  <a:srgbClr val="BDBDC2"/>
                </a:solidFill>
                <a:latin typeface="NanumGothic"/>
                <a:ea typeface="NanumGothic"/>
                <a:cs typeface="NanumGothic"/>
              </a:defRPr>
            </a:lvl6pPr>
            <a:lvl7pPr algn="ctr">
              <a:defRPr sz="1575" b="1">
                <a:solidFill>
                  <a:srgbClr val="BDBDC2"/>
                </a:solidFill>
                <a:latin typeface="NanumGothic"/>
                <a:ea typeface="NanumGothic"/>
                <a:cs typeface="NanumGothic"/>
              </a:defRPr>
            </a:lvl7pPr>
            <a:lvl8pPr algn="ctr">
              <a:defRPr sz="1575" b="1">
                <a:solidFill>
                  <a:srgbClr val="BDBDC2"/>
                </a:solidFill>
                <a:latin typeface="NanumGothic"/>
                <a:ea typeface="NanumGothic"/>
                <a:cs typeface="NanumGothic"/>
              </a:defRPr>
            </a:lvl8pPr>
            <a:lvl9pPr algn="ctr">
              <a:defRPr sz="1575" b="1">
                <a:solidFill>
                  <a:srgbClr val="BDBDC2"/>
                </a:solidFill>
                <a:latin typeface="NanumGothic"/>
                <a:ea typeface="NanumGothic"/>
                <a:cs typeface="NanumGothic"/>
              </a:defRPr>
            </a:lvl9pPr>
          </a:lstStyle>
          <a:p xmlns:a="http://schemas.openxmlformats.org/drawingml/2006/main">
            <a:pPr algn="ctr">
              <a:defRPr sz="1575" b="1">
                <a:solidFill>
                  <a:srgbClr val="BDBDC2"/>
                </a:solidFill>
                <a:latin typeface="NanumGothic"/>
                <a:ea typeface="NanumGothic"/>
                <a:cs typeface="NanumGothic"/>
              </a:defRPr>
            </a:pPr>
            <a:r>
              <a:rPr sz="1575" b="1">
                <a:solidFill>
                  <a:srgbClr val="BDBDC2"/>
                </a:solidFill>
                <a:latin typeface="NanumGothic"/>
                <a:ea typeface="NanumGothic"/>
                <a:cs typeface="NanumGothic"/>
              </a:rPr>
              <a:t>Noise std=80 후 필터 적용</a:t>
            </a:r>
          </a:p>
        </p:txBody>
      </p:sp>
    </p:spTree>
    <p:extLst>
      <p:ext uri="{BB962C8B-B14F-4D97-AF65-F5344CB8AC3E}">
        <p14:creationId xmlns:p14="http://schemas.microsoft.com/office/powerpoint/2010/main" val="39113720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ABE2AE91-B68A-47A5-85BF-82D3522D1E4E}"/>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A14D71C3-6109-44D9-BB72-585687A9A7C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6">
            <a:extLst xmlns:a="http://schemas.openxmlformats.org/drawingml/2006/main">
              <a:ext uri="{FF2B5EF4-FFF2-40B4-BE49-F238E27FC236}">
                <a16:creationId xmlns:a16="http://schemas.microsoft.com/office/drawing/2014/main" id="{A7F90A99-4F8C-4D02-93F7-AD1660A9335A}"/>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16</a:t>
            </a:r>
          </a:p>
        </p:txBody>
      </p:sp>
      <p:sp>
        <p:nvSpPr>
          <p:cNvPr id="4" name="mAP50-95 (%)  /  Seed 42">
            <a:extLst xmlns:a="http://schemas.openxmlformats.org/drawingml/2006/main">
              <a:ext uri="{FF2B5EF4-FFF2-40B4-BE49-F238E27FC236}">
                <a16:creationId xmlns:a16="http://schemas.microsoft.com/office/drawing/2014/main" id="{0DA5B320-4B1B-42F6-8A06-DC96D7655353}"/>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CFF5855F-E989-4155-8E88-261E77834AB9}"/>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0980D4F9-479C-4D4A-BE37-5E50A11D7945}"/>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573330444"/>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CCF84D04-D6B0-43F3-A4BE-958243C2686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ADB6A78C-ECC9-4531-A252-4573A58235C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7">
            <a:extLst xmlns:a="http://schemas.openxmlformats.org/drawingml/2006/main">
              <a:ext uri="{FF2B5EF4-FFF2-40B4-BE49-F238E27FC236}">
                <a16:creationId xmlns:a16="http://schemas.microsoft.com/office/drawing/2014/main" id="{A086DEBA-B4F0-4070-B15C-EA844377D89B}"/>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17</a:t>
            </a:r>
          </a:p>
        </p:txBody>
      </p:sp>
      <p:sp>
        <p:nvSpPr>
          <p:cNvPr id="4" name="반복: Seed 42, 43, 44  /  평균 ± 표본 ">
            <a:extLst xmlns:a="http://schemas.openxmlformats.org/drawingml/2006/main">
              <a:ext uri="{FF2B5EF4-FFF2-40B4-BE49-F238E27FC236}">
                <a16:creationId xmlns:a16="http://schemas.microsoft.com/office/drawing/2014/main" id="{8BC0938E-F1AE-4CAA-8211-9E1C44488DB7}"/>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4D565B52-2107-4036-91D3-FCB0CA8B691C}"/>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DCB36CE7-A826-466C-8BB4-3C6A513205F8}"/>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D5F565C7-BF4A-4C69-B537-3DB130CDE086}"/>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2477a8acfde74cbc"/>
          </a:graphicData>
        </a:graphic>
      </p:graphicFrame>
      <p:graphicFrame>
        <p:nvGraphicFramePr>
          <p:cNvPr id="8" name="Chart">
            <a:extLst xmlns:a="http://schemas.openxmlformats.org/drawingml/2006/main">
              <a:ext uri="{FF2B5EF4-FFF2-40B4-BE49-F238E27FC236}">
                <a16:creationId xmlns:a16="http://schemas.microsoft.com/office/drawing/2014/main" id="{254ECE75-9AF6-43C3-99E6-D4A0574D84B8}"/>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ea5843a85183494c"/>
          </a:graphicData>
        </a:graphic>
      </p:graphicFrame>
      <p:sp>
        <p:nvSpPr>
          <p:cNvPr id="9" name="Original 95.40 ± 0.53&#10;Invert+CLA">
            <a:extLst xmlns:a="http://schemas.openxmlformats.org/drawingml/2006/main">
              <a:ext uri="{FF2B5EF4-FFF2-40B4-BE49-F238E27FC236}">
                <a16:creationId xmlns:a16="http://schemas.microsoft.com/office/drawing/2014/main" id="{76CD691D-2F06-4B9F-BDE3-182960CA228F}"/>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2B215AEC-2189-4B45-9E41-8F71FE70AB4E}"/>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692417285"/>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0E304B93-745E-4955-B9DE-5E9F6951CA1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9DF5E92A-DDA6-4A08-A2A4-762EBEAD870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8">
            <a:extLst xmlns:a="http://schemas.openxmlformats.org/drawingml/2006/main">
              <a:ext uri="{FF2B5EF4-FFF2-40B4-BE49-F238E27FC236}">
                <a16:creationId xmlns:a16="http://schemas.microsoft.com/office/drawing/2014/main" id="{2C82A45C-4FF4-4423-B4AA-3C341D90616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18</a:t>
            </a:r>
          </a:p>
        </p:txBody>
      </p:sp>
      <p:sp>
        <p:nvSpPr>
          <p:cNvPr id="4" name="조건별 재학습의 비교 결과">
            <a:extLst xmlns:a="http://schemas.openxmlformats.org/drawingml/2006/main">
              <a:ext uri="{FF2B5EF4-FFF2-40B4-BE49-F238E27FC236}">
                <a16:creationId xmlns:a16="http://schemas.microsoft.com/office/drawing/2014/main" id="{8249AC5A-D6E0-4ED2-B966-8AC1B42E25F0}"/>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029FE02B-97D4-49D9-927F-A568B14716D7}"/>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B2F1014D-7464-4C35-A282-E51F6FF9B59C}"/>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47770FAF-478E-44C8-B104-73B2483FE6C6}"/>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1AA44798-2A4C-43EE-A137-313092F2908A}"/>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073840534"/>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결론">
            <a:extLst xmlns:a="http://schemas.openxmlformats.org/drawingml/2006/main">
              <a:ext uri="{FF2B5EF4-FFF2-40B4-BE49-F238E27FC236}">
                <a16:creationId xmlns:a16="http://schemas.microsoft.com/office/drawing/2014/main" id="{690D13C0-FB24-4D2F-96CF-8D4A9372D8A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D005C820-D22B-4DE3-AE69-CFA0D31B183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9">
            <a:extLst xmlns:a="http://schemas.openxmlformats.org/drawingml/2006/main">
              <a:ext uri="{FF2B5EF4-FFF2-40B4-BE49-F238E27FC236}">
                <a16:creationId xmlns:a16="http://schemas.microsoft.com/office/drawing/2014/main" id="{27ADE008-DB45-42BE-A598-6446A1CEE73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19</a:t>
            </a:r>
          </a:p>
        </p:txBody>
      </p:sp>
      <p:sp>
        <p:nvSpPr>
          <p:cNvPr id="4" name="영상 조건과 목적 지표에 따른 필터 선택">
            <a:extLst xmlns:a="http://schemas.openxmlformats.org/drawingml/2006/main">
              <a:ext uri="{FF2B5EF4-FFF2-40B4-BE49-F238E27FC236}">
                <a16:creationId xmlns:a16="http://schemas.microsoft.com/office/drawing/2014/main" id="{A54ECC06-4471-494A-8A8B-F610D056F5CF}"/>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AC2CAEC2-C915-484C-8A6B-30E80B6949A1}"/>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더 우수한 구성 필터의 mAP를 넘지 ">
            <a:extLst xmlns:a="http://schemas.openxmlformats.org/drawingml/2006/main">
              <a:ext uri="{FF2B5EF4-FFF2-40B4-BE49-F238E27FC236}">
                <a16:creationId xmlns:a16="http://schemas.microsoft.com/office/drawing/2014/main" id="{527DFF87-9557-4DB4-9A55-5AC792C8E18E}"/>
              </a:ext>
            </a:extLst>
          </p:cNvPr>
          <p:cNvSpPr>
            <a:spLocks xmlns:a="http://schemas.openxmlformats.org/drawingml/2006/main" noGrp="1"/>
          </p:cNvSpPr>
          <p:nvPr/>
        </p:nvSpPr>
        <p:spPr>
          <a:xfrm xmlns:a="http://schemas.openxmlformats.org/drawingml/2006/main">
            <a:off x="742950" y="3562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평가한 5개 조합은 더 우수한 구성 필터의 mAP를 넘지 못함</a:t>
            </a:r>
          </a:p>
        </p:txBody>
      </p:sp>
      <p:sp>
        <p:nvSpPr>
          <p:cNvPr id="7" name="독립 촬영 자료와 내부 그룹 분리를 통한 후속 검증">
            <a:extLst xmlns:a="http://schemas.openxmlformats.org/drawingml/2006/main">
              <a:ext uri="{FF2B5EF4-FFF2-40B4-BE49-F238E27FC236}">
                <a16:creationId xmlns:a16="http://schemas.microsoft.com/office/drawing/2014/main" id="{954EFB6C-8E32-413C-BF82-86A3EB995C36}"/>
              </a:ext>
            </a:extLst>
          </p:cNvPr>
          <p:cNvSpPr>
            <a:spLocks xmlns:a="http://schemas.openxmlformats.org/drawingml/2006/main" noGrp="1"/>
          </p:cNvSpPr>
          <p:nvPr/>
        </p:nvSpPr>
        <p:spPr>
          <a:xfrm xmlns:a="http://schemas.openxmlformats.org/drawingml/2006/main">
            <a:off x="742950" y="4695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독립 촬영 자료와 내부 그룹 분리를 통한 후속 검증</a:t>
            </a:r>
          </a:p>
        </p:txBody>
      </p:sp>
    </p:spTree>
    <p:extLst>
      <p:ext uri="{BB962C8B-B14F-4D97-AF65-F5344CB8AC3E}">
        <p14:creationId xmlns:p14="http://schemas.microsoft.com/office/powerpoint/2010/main" val="2040805152"/>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감사합니다">
            <a:extLst xmlns:a="http://schemas.openxmlformats.org/drawingml/2006/main">
              <a:ext uri="{FF2B5EF4-FFF2-40B4-BE49-F238E27FC236}">
                <a16:creationId xmlns:a16="http://schemas.microsoft.com/office/drawing/2014/main" id="{2636A7CA-FD41-4314-A364-F50F38DB2139}"/>
              </a:ext>
            </a:extLst>
          </p:cNvPr>
          <p:cNvSpPr>
            <a:spLocks xmlns:a="http://schemas.openxmlformats.org/drawingml/2006/main" noGrp="1"/>
          </p:cNvSpPr>
          <p:nvPr/>
        </p:nvSpPr>
        <p:spPr>
          <a:xfrm xmlns:a="http://schemas.openxmlformats.org/drawingml/2006/main">
            <a:off x="723900" y="189547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FFFFF"/>
                </a:solidFill>
                <a:latin typeface="NanumGothic"/>
                <a:ea typeface="NanumGothic"/>
                <a:cs typeface="NanumGothic"/>
              </a:defRPr>
            </a:defPPr>
            <a:lvl1pPr algn="l">
              <a:defRPr sz="7050" b="1">
                <a:solidFill>
                  <a:srgbClr val="FFFFFF"/>
                </a:solidFill>
                <a:latin typeface="NanumGothic"/>
                <a:ea typeface="NanumGothic"/>
                <a:cs typeface="NanumGothic"/>
              </a:defRPr>
            </a:lvl1pPr>
            <a:lvl2pPr algn="l">
              <a:defRPr sz="7050" b="1">
                <a:solidFill>
                  <a:srgbClr val="FFFFFF"/>
                </a:solidFill>
                <a:latin typeface="NanumGothic"/>
                <a:ea typeface="NanumGothic"/>
                <a:cs typeface="NanumGothic"/>
              </a:defRPr>
            </a:lvl2pPr>
            <a:lvl3pPr algn="l">
              <a:defRPr sz="7050" b="1">
                <a:solidFill>
                  <a:srgbClr val="FFFFFF"/>
                </a:solidFill>
                <a:latin typeface="NanumGothic"/>
                <a:ea typeface="NanumGothic"/>
                <a:cs typeface="NanumGothic"/>
              </a:defRPr>
            </a:lvl3pPr>
            <a:lvl4pPr algn="l">
              <a:defRPr sz="7050" b="1">
                <a:solidFill>
                  <a:srgbClr val="FFFFFF"/>
                </a:solidFill>
                <a:latin typeface="NanumGothic"/>
                <a:ea typeface="NanumGothic"/>
                <a:cs typeface="NanumGothic"/>
              </a:defRPr>
            </a:lvl4pPr>
            <a:lvl5pPr algn="l">
              <a:defRPr sz="7050" b="1">
                <a:solidFill>
                  <a:srgbClr val="FFFFFF"/>
                </a:solidFill>
                <a:latin typeface="NanumGothic"/>
                <a:ea typeface="NanumGothic"/>
                <a:cs typeface="NanumGothic"/>
              </a:defRPr>
            </a:lvl5pPr>
            <a:lvl6pPr algn="l">
              <a:defRPr sz="7050" b="1">
                <a:solidFill>
                  <a:srgbClr val="FFFFFF"/>
                </a:solidFill>
                <a:latin typeface="NanumGothic"/>
                <a:ea typeface="NanumGothic"/>
                <a:cs typeface="NanumGothic"/>
              </a:defRPr>
            </a:lvl6pPr>
            <a:lvl7pPr algn="l">
              <a:defRPr sz="7050" b="1">
                <a:solidFill>
                  <a:srgbClr val="FFFFFF"/>
                </a:solidFill>
                <a:latin typeface="NanumGothic"/>
                <a:ea typeface="NanumGothic"/>
                <a:cs typeface="NanumGothic"/>
              </a:defRPr>
            </a:lvl7pPr>
            <a:lvl8pPr algn="l">
              <a:defRPr sz="7050" b="1">
                <a:solidFill>
                  <a:srgbClr val="FFFFFF"/>
                </a:solidFill>
                <a:latin typeface="NanumGothic"/>
                <a:ea typeface="NanumGothic"/>
                <a:cs typeface="NanumGothic"/>
              </a:defRPr>
            </a:lvl8pPr>
            <a:lvl9pPr algn="l">
              <a:defRPr sz="7050" b="1">
                <a:solidFill>
                  <a:srgbClr val="FFFFFF"/>
                </a:solidFill>
                <a:latin typeface="NanumGothic"/>
                <a:ea typeface="NanumGothic"/>
                <a:cs typeface="NanumGothic"/>
              </a:defRPr>
            </a:lvl9pPr>
          </a:lstStyle>
          <a:p xmlns:a="http://schemas.openxmlformats.org/drawingml/2006/main">
            <a:pPr algn="l">
              <a:defRPr sz="7050" b="1">
                <a:solidFill>
                  <a:srgbClr val="FFFFFF"/>
                </a:solidFill>
                <a:latin typeface="NanumGothic"/>
                <a:ea typeface="NanumGothic"/>
                <a:cs typeface="NanumGothic"/>
              </a:defRPr>
            </a:pPr>
            <a:r>
              <a:rPr sz="7050" b="1">
                <a:solidFill>
                  <a:srgbClr val="FFFFFF"/>
                </a:solidFill>
                <a:latin typeface="NanumGothic"/>
                <a:ea typeface="NanumGothic"/>
                <a:cs typeface="NanumGothic"/>
              </a:rPr>
              <a:t>감사합니다</a:t>
            </a:r>
          </a:p>
        </p:txBody>
      </p:sp>
      <p:sp>
        <p:nvSpPr>
          <p:cNvPr id="2" name="질의응답">
            <a:extLst xmlns:a="http://schemas.openxmlformats.org/drawingml/2006/main">
              <a:ext uri="{FF2B5EF4-FFF2-40B4-BE49-F238E27FC236}">
                <a16:creationId xmlns:a16="http://schemas.microsoft.com/office/drawing/2014/main" id="{6EAFD718-86F4-4DC3-9EBE-5C531051E2D7}"/>
              </a:ext>
            </a:extLst>
          </p:cNvPr>
          <p:cNvSpPr>
            <a:spLocks xmlns:a="http://schemas.openxmlformats.org/drawingml/2006/main" noGrp="1"/>
          </p:cNvSpPr>
          <p:nvPr/>
        </p:nvSpPr>
        <p:spPr>
          <a:xfrm xmlns:a="http://schemas.openxmlformats.org/drawingml/2006/main">
            <a:off x="762000" y="37338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A84FF"/>
                </a:solidFill>
                <a:latin typeface="NanumGothic"/>
                <a:ea typeface="NanumGothic"/>
                <a:cs typeface="NanumGothic"/>
              </a:defRPr>
            </a:defPPr>
            <a:lvl1pPr algn="l">
              <a:defRPr sz="2625" b="1">
                <a:solidFill>
                  <a:srgbClr val="0A84FF"/>
                </a:solidFill>
                <a:latin typeface="NanumGothic"/>
                <a:ea typeface="NanumGothic"/>
                <a:cs typeface="NanumGothic"/>
              </a:defRPr>
            </a:lvl1pPr>
            <a:lvl2pPr algn="l">
              <a:defRPr sz="2625" b="1">
                <a:solidFill>
                  <a:srgbClr val="0A84FF"/>
                </a:solidFill>
                <a:latin typeface="NanumGothic"/>
                <a:ea typeface="NanumGothic"/>
                <a:cs typeface="NanumGothic"/>
              </a:defRPr>
            </a:lvl2pPr>
            <a:lvl3pPr algn="l">
              <a:defRPr sz="2625" b="1">
                <a:solidFill>
                  <a:srgbClr val="0A84FF"/>
                </a:solidFill>
                <a:latin typeface="NanumGothic"/>
                <a:ea typeface="NanumGothic"/>
                <a:cs typeface="NanumGothic"/>
              </a:defRPr>
            </a:lvl3pPr>
            <a:lvl4pPr algn="l">
              <a:defRPr sz="2625" b="1">
                <a:solidFill>
                  <a:srgbClr val="0A84FF"/>
                </a:solidFill>
                <a:latin typeface="NanumGothic"/>
                <a:ea typeface="NanumGothic"/>
                <a:cs typeface="NanumGothic"/>
              </a:defRPr>
            </a:lvl4pPr>
            <a:lvl5pPr algn="l">
              <a:defRPr sz="2625" b="1">
                <a:solidFill>
                  <a:srgbClr val="0A84FF"/>
                </a:solidFill>
                <a:latin typeface="NanumGothic"/>
                <a:ea typeface="NanumGothic"/>
                <a:cs typeface="NanumGothic"/>
              </a:defRPr>
            </a:lvl5pPr>
            <a:lvl6pPr algn="l">
              <a:defRPr sz="2625" b="1">
                <a:solidFill>
                  <a:srgbClr val="0A84FF"/>
                </a:solidFill>
                <a:latin typeface="NanumGothic"/>
                <a:ea typeface="NanumGothic"/>
                <a:cs typeface="NanumGothic"/>
              </a:defRPr>
            </a:lvl6pPr>
            <a:lvl7pPr algn="l">
              <a:defRPr sz="2625" b="1">
                <a:solidFill>
                  <a:srgbClr val="0A84FF"/>
                </a:solidFill>
                <a:latin typeface="NanumGothic"/>
                <a:ea typeface="NanumGothic"/>
                <a:cs typeface="NanumGothic"/>
              </a:defRPr>
            </a:lvl7pPr>
            <a:lvl8pPr algn="l">
              <a:defRPr sz="2625" b="1">
                <a:solidFill>
                  <a:srgbClr val="0A84FF"/>
                </a:solidFill>
                <a:latin typeface="NanumGothic"/>
                <a:ea typeface="NanumGothic"/>
                <a:cs typeface="NanumGothic"/>
              </a:defRPr>
            </a:lvl8pPr>
            <a:lvl9pPr algn="l">
              <a:defRPr sz="2625" b="1">
                <a:solidFill>
                  <a:srgbClr val="0A84FF"/>
                </a:solidFill>
                <a:latin typeface="NanumGothic"/>
                <a:ea typeface="NanumGothic"/>
                <a:cs typeface="NanumGothic"/>
              </a:defRPr>
            </a:lvl9pPr>
          </a:lstStyle>
          <a:p xmlns:a="http://schemas.openxmlformats.org/drawingml/2006/main">
            <a:pPr algn="l">
              <a:defRPr sz="2625" b="1">
                <a:solidFill>
                  <a:srgbClr val="0A84FF"/>
                </a:solidFill>
                <a:latin typeface="NanumGothic"/>
                <a:ea typeface="NanumGothic"/>
                <a:cs typeface="NanumGothic"/>
              </a:defRPr>
            </a:pPr>
            <a:r>
              <a:rPr sz="2625" b="1">
                <a:solidFill>
                  <a:srgbClr val="0A84FF"/>
                </a:solidFill>
                <a:latin typeface="NanumGothic"/>
                <a:ea typeface="NanumGothic"/>
                <a:cs typeface="NanumGothic"/>
              </a:rPr>
              <a:t>질의응답</a:t>
            </a:r>
          </a:p>
        </p:txBody>
      </p:sp>
      <p:sp>
        <p:nvSpPr>
          <p:cNvPr id="3" name="곽윤석 · 김남기">
            <a:extLst xmlns:a="http://schemas.openxmlformats.org/drawingml/2006/main">
              <a:ext uri="{FF2B5EF4-FFF2-40B4-BE49-F238E27FC236}">
                <a16:creationId xmlns:a16="http://schemas.microsoft.com/office/drawing/2014/main" id="{F3AE7FB5-EE81-4343-B08B-9B6E36ACD953}"/>
              </a:ext>
            </a:extLst>
          </p:cNvPr>
          <p:cNvSpPr>
            <a:spLocks xmlns:a="http://schemas.openxmlformats.org/drawingml/2006/main" noGrp="1"/>
          </p:cNvSpPr>
          <p:nvPr/>
        </p:nvSpPr>
        <p:spPr>
          <a:xfrm xmlns:a="http://schemas.openxmlformats.org/drawingml/2006/main">
            <a:off x="762000" y="46958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곽윤석 · 김남기</a:t>
            </a:r>
          </a:p>
        </p:txBody>
      </p:sp>
      <p:sp>
        <p:nvSpPr>
          <p:cNvPr id="4" name="공식 마크 흰색 바탕">
            <a:extLst xmlns:a="http://schemas.openxmlformats.org/drawingml/2006/main">
              <a:ext uri="{FF2B5EF4-FFF2-40B4-BE49-F238E27FC236}">
                <a16:creationId xmlns:a16="http://schemas.microsoft.com/office/drawing/2014/main" id="{82DD2F05-E382-456A-AB18-B4DB0A111E02}"/>
              </a:ext>
            </a:extLst>
          </p:cNvPr>
          <p:cNvSpPr>
            <a:spLocks xmlns:a="http://schemas.openxmlformats.org/drawingml/2006/main" noGrp="1"/>
          </p:cNvSpPr>
          <p:nvPr/>
        </p:nvSpPr>
        <p:spPr>
          <a:xfrm xmlns:a="http://schemas.openxmlformats.org/drawingml/2006/main">
            <a:off x="685800" y="5419725"/>
            <a:ext cx="2628900" cy="78522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5466CA6-7888-48BB-8257-A9289A8B8C94}"/>
              </a:ext>
            </a:extLst>
          </p:cNvPr>
          <p:cNvPicPr>
            <a:picLocks xmlns:a="http://schemas.openxmlformats.org/drawingml/2006/main" noChangeAspect="1"/>
          </p:cNvPicPr>
          <p:nvPr/>
        </p:nvPicPr>
        <p:blipFill>
          <a:blip xmlns:r="http://schemas.openxmlformats.org/officeDocument/2006/relationships" xmlns:a="http://schemas.openxmlformats.org/drawingml/2006/main" r:embed="R8b84cf1b259648df"/>
          <a:stretch xmlns:a="http://schemas.openxmlformats.org/drawingml/2006/main"/>
        </p:blipFill>
        <p:spPr>
          <a:xfrm xmlns:a="http://schemas.openxmlformats.org/drawingml/2006/main">
            <a:off x="762000" y="5467350"/>
            <a:ext cx="2476500" cy="689970"/>
          </a:xfrm>
          <a:prstGeom xmlns:a="http://schemas.openxmlformats.org/drawingml/2006/main" prst="rect">
            <a:avLst/>
          </a:prstGeom>
        </p:spPr>
      </p:pic>
      <p:sp>
        <p:nvSpPr>
          <p:cNvPr id="6" name="2026 한국정보기술학회 추계 종합학술대회">
            <a:extLst xmlns:a="http://schemas.openxmlformats.org/drawingml/2006/main">
              <a:ext uri="{FF2B5EF4-FFF2-40B4-BE49-F238E27FC236}">
                <a16:creationId xmlns:a16="http://schemas.microsoft.com/office/drawing/2014/main" id="{EAFCB728-8E5D-4203-9D92-EF913B2D8C0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7" name="20">
            <a:extLst xmlns:a="http://schemas.openxmlformats.org/drawingml/2006/main">
              <a:ext uri="{FF2B5EF4-FFF2-40B4-BE49-F238E27FC236}">
                <a16:creationId xmlns:a16="http://schemas.microsoft.com/office/drawing/2014/main" id="{7272B92E-E18D-4A01-B99D-FF937A06766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a:t>
            </a:r>
          </a:p>
        </p:txBody>
      </p:sp>
    </p:spTree>
    <p:extLst>
      <p:ext uri="{BB962C8B-B14F-4D97-AF65-F5344CB8AC3E}">
        <p14:creationId xmlns:p14="http://schemas.microsoft.com/office/powerpoint/2010/main" val="3211346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2026-10-20T07:15:52.9260000Z</dcterms:created>
  <dcterms:modified xsi:type="dcterms:W3CDTF">2026-10-20T07:15:52.9260000Z</dcterms:modified>
</coreProperties>
</file>