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db4f43e98c446a" /><Relationship Type="http://schemas.openxmlformats.org/officeDocument/2006/relationships/extended-properties" Target="/docProps/app.xml" Id="R60e1081e10ce427a" /><Relationship Type="http://schemas.openxmlformats.org/officeDocument/2006/relationships/officeDocument" Target="/ppt/presentation.xml" Id="Rc800f63f6f774d58" /></Relationships>
</file>

<file path=ppt/presentation.xml><?xml version="1.0" encoding="utf-8"?>
<p:presentation xmlns:p="http://schemas.openxmlformats.org/presentationml/2006/main">
  <p:sldMasterIdLst>
    <p:sldMasterId xmlns:r="http://schemas.openxmlformats.org/officeDocument/2006/relationships" id="2147483648" r:id="Rc2ecd3de69cf429b"/>
  </p:sldMasterIdLst>
  <p:notesMasterIdLst>
    <p:notesMasterId xmlns:r="http://schemas.openxmlformats.org/officeDocument/2006/relationships" r:id="Rda0c40cc2b0946c0"/>
  </p:notesMasterIdLst>
  <p:sldIdLst>
    <p:sldId xmlns:r="http://schemas.openxmlformats.org/officeDocument/2006/relationships" id="256" r:id="R82b2cbb79c234038"/>
    <p:sldId xmlns:r="http://schemas.openxmlformats.org/officeDocument/2006/relationships" id="257" r:id="Re397f6146dd54d2d"/>
    <p:sldId xmlns:r="http://schemas.openxmlformats.org/officeDocument/2006/relationships" id="258" r:id="Rcc1f4e1019454a29"/>
    <p:sldId xmlns:r="http://schemas.openxmlformats.org/officeDocument/2006/relationships" id="259" r:id="R381da9f46ae04cd3"/>
    <p:sldId xmlns:r="http://schemas.openxmlformats.org/officeDocument/2006/relationships" id="260" r:id="Rd229f2a746fa49cc"/>
    <p:sldId xmlns:r="http://schemas.openxmlformats.org/officeDocument/2006/relationships" id="261" r:id="Rff3e209aae634d7f"/>
    <p:sldId xmlns:r="http://schemas.openxmlformats.org/officeDocument/2006/relationships" id="262" r:id="R669a8439894647c6"/>
    <p:sldId xmlns:r="http://schemas.openxmlformats.org/officeDocument/2006/relationships" id="263" r:id="Rb0d1a6d29f4a420b"/>
    <p:sldId xmlns:r="http://schemas.openxmlformats.org/officeDocument/2006/relationships" id="264" r:id="R8690d735af494f96"/>
    <p:sldId xmlns:r="http://schemas.openxmlformats.org/officeDocument/2006/relationships" id="265" r:id="Rb165aeeebbef4190"/>
    <p:sldId xmlns:r="http://schemas.openxmlformats.org/officeDocument/2006/relationships" id="266" r:id="Rfc856cc1b7224818"/>
    <p:sldId xmlns:r="http://schemas.openxmlformats.org/officeDocument/2006/relationships" id="267" r:id="R8e609a036acd4f1f"/>
    <p:sldId xmlns:r="http://schemas.openxmlformats.org/officeDocument/2006/relationships" id="268" r:id="R7322dfddbb064bf3"/>
    <p:sldId xmlns:r="http://schemas.openxmlformats.org/officeDocument/2006/relationships" id="269" r:id="Rc7354678e5e64493"/>
    <p:sldId xmlns:r="http://schemas.openxmlformats.org/officeDocument/2006/relationships" id="270" r:id="Ra06872d2548743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9ea1f43dc84009" /><Relationship Type="http://schemas.openxmlformats.org/officeDocument/2006/relationships/slideMaster" Target="/ppt/slideMasters/slideMaster1.xml" Id="Rc2ecd3de69cf429b" /><Relationship Type="http://schemas.openxmlformats.org/officeDocument/2006/relationships/notesMaster" Target="/ppt/notesMasters/notesMaster1.xml" Id="Rda0c40cc2b0946c0" /><Relationship Type="http://schemas.openxmlformats.org/officeDocument/2006/relationships/presProps" Target="/ppt/presProps.xml" Id="R573a6b31cb114aee" /><Relationship Type="http://schemas.openxmlformats.org/officeDocument/2006/relationships/tableStyles" Target="/ppt/tableStyles.xml" Id="R2c810bd95e82448a" /><Relationship Type="http://schemas.openxmlformats.org/officeDocument/2006/relationships/slide" Target="/ppt/slides/slide1.xml" Id="R82b2cbb79c234038" /><Relationship Type="http://schemas.openxmlformats.org/officeDocument/2006/relationships/slide" Target="/ppt/slides/slide2.xml" Id="Re397f6146dd54d2d" /><Relationship Type="http://schemas.openxmlformats.org/officeDocument/2006/relationships/slide" Target="/ppt/slides/slide3.xml" Id="Rcc1f4e1019454a29" /><Relationship Type="http://schemas.openxmlformats.org/officeDocument/2006/relationships/slide" Target="/ppt/slides/slide4.xml" Id="R381da9f46ae04cd3" /><Relationship Type="http://schemas.openxmlformats.org/officeDocument/2006/relationships/slide" Target="/ppt/slides/slide5.xml" Id="Rd229f2a746fa49cc" /><Relationship Type="http://schemas.openxmlformats.org/officeDocument/2006/relationships/slide" Target="/ppt/slides/slide6.xml" Id="Rff3e209aae634d7f" /><Relationship Type="http://schemas.openxmlformats.org/officeDocument/2006/relationships/slide" Target="/ppt/slides/slide7.xml" Id="R669a8439894647c6" /><Relationship Type="http://schemas.openxmlformats.org/officeDocument/2006/relationships/slide" Target="/ppt/slides/slide8.xml" Id="Rb0d1a6d29f4a420b" /><Relationship Type="http://schemas.openxmlformats.org/officeDocument/2006/relationships/slide" Target="/ppt/slides/slide9.xml" Id="R8690d735af494f96" /><Relationship Type="http://schemas.openxmlformats.org/officeDocument/2006/relationships/slide" Target="/ppt/slides/slide10.xml" Id="Rb165aeeebbef4190" /><Relationship Type="http://schemas.openxmlformats.org/officeDocument/2006/relationships/slide" Target="/ppt/slides/slide11.xml" Id="Rfc856cc1b7224818" /><Relationship Type="http://schemas.openxmlformats.org/officeDocument/2006/relationships/slide" Target="/ppt/slides/slide12.xml" Id="R8e609a036acd4f1f" /><Relationship Type="http://schemas.openxmlformats.org/officeDocument/2006/relationships/slide" Target="/ppt/slides/slide13.xml" Id="R7322dfddbb064bf3" /><Relationship Type="http://schemas.openxmlformats.org/officeDocument/2006/relationships/slide" Target="/ppt/slides/slide14.xml" Id="Rc7354678e5e64493" /><Relationship Type="http://schemas.openxmlformats.org/officeDocument/2006/relationships/slide" Target="/ppt/slides/slide15.xml" Id="Ra06872d2548743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2f615b14894d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46e47e65324c63" /><Relationship Type="http://schemas.openxmlformats.org/officeDocument/2006/relationships/notesMaster" Target="/ppt/notesMasters/notesMaster1.xml" Id="R1914314151264b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632e065b004c8b" /><Relationship Type="http://schemas.openxmlformats.org/officeDocument/2006/relationships/notesMaster" Target="/ppt/notesMasters/notesMaster1.xml" Id="R1bfeb144ef6647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2015812b1647f1" /><Relationship Type="http://schemas.openxmlformats.org/officeDocument/2006/relationships/notesMaster" Target="/ppt/notesMasters/notesMaster1.xml" Id="R1e985de8f5b146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15330c792d4043" /><Relationship Type="http://schemas.openxmlformats.org/officeDocument/2006/relationships/notesMaster" Target="/ppt/notesMasters/notesMaster1.xml" Id="R5744117e6b9a4d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6e1a87f0504cf9" /><Relationship Type="http://schemas.openxmlformats.org/officeDocument/2006/relationships/notesMaster" Target="/ppt/notesMasters/notesMaster1.xml" Id="R78efed4b102c41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9bd0fbb5a24843" /><Relationship Type="http://schemas.openxmlformats.org/officeDocument/2006/relationships/notesMaster" Target="/ppt/notesMasters/notesMaster1.xml" Id="R0dea06db504b41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207c392fef4aaa" /><Relationship Type="http://schemas.openxmlformats.org/officeDocument/2006/relationships/notesMaster" Target="/ppt/notesMasters/notesMaster1.xml" Id="R72d39846bd644d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4a944b92924cc0" /><Relationship Type="http://schemas.openxmlformats.org/officeDocument/2006/relationships/notesMaster" Target="/ppt/notesMasters/notesMaster1.xml" Id="Ra322d0c8e1d54a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e6ea584e39455f" /><Relationship Type="http://schemas.openxmlformats.org/officeDocument/2006/relationships/notesMaster" Target="/ppt/notesMasters/notesMaster1.xml" Id="R0543da33abc041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0b6c6844674711" /><Relationship Type="http://schemas.openxmlformats.org/officeDocument/2006/relationships/notesMaster" Target="/ppt/notesMasters/notesMaster1.xml" Id="Ra14dd8bacd0d46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d13aee908d414c" /><Relationship Type="http://schemas.openxmlformats.org/officeDocument/2006/relationships/notesMaster" Target="/ppt/notesMasters/notesMaster1.xml" Id="Rba09b548da0249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3024ab3f26449f" /><Relationship Type="http://schemas.openxmlformats.org/officeDocument/2006/relationships/notesMaster" Target="/ppt/notesMasters/notesMaster1.xml" Id="Rea5851dbe03844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d7afa921554601" /><Relationship Type="http://schemas.openxmlformats.org/officeDocument/2006/relationships/notesMaster" Target="/ppt/notesMasters/notesMaster1.xml" Id="R9c9f93001d544b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99df59b372420a" /><Relationship Type="http://schemas.openxmlformats.org/officeDocument/2006/relationships/notesMaster" Target="/ppt/notesMasters/notesMaster1.xml" Id="R1f8d2cb97c7e4e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5ce2769ac74971" /><Relationship Type="http://schemas.openxmlformats.org/officeDocument/2006/relationships/notesMaster" Target="/ppt/notesMasters/notesMaster1.xml" Id="Rd4a153cacdd94a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오늘은 YOLOv8n 기반 볼 검출을 위한 단일 및 복합 전처리 필터의 성능 비교 연구를 발표하겠습니다. 본 연구는 현장의 입력 영상이 달라질 수 있다는 문제에서 출발했습니다. 여러 전처리에서 검출 성능이 유지되는지, 어떤 단일 필터와 순차 조합이 유리한지를 동일한 평가 체계에서 비교했습니다. 먼저 평가 설계를 설명하고, 일반 영상과 잡음 조건의 결과를 말씀드리겠습니다.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현장에서는 조명이나 촬영 조건에 따라 밝기와 대비가 달라지고, 잡음이나 경계 표현도 변할 수 있습니다. 따라서 특정 필터의 일반 영상 성능만으로 적용성을 판단하기에는 한계가 있습니다. 이번 연구에서는 필터를 적용한 뒤에도 검출 성능이 유지되는지, 단일 필터 중 어떤 조건이 높은 성능을 보이는지, 그리고 두 필터를 순차적으로 적용하면 구성 필터보다 개선되는지를 확인했습니다. 성능 비교의 대상은 볼 검출이며, 객체의 위치와 영상 전체의 검출 완전성을 함께 살펴보았습니다. 다만 실제 현장의 모든 변화를 재현한 실험은 아니므로, 결과는 일반 영상과 합성 가우시안 잡음의 범위에서 해석하겠습니다.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필터는 화면에 제시한 열 종입니다. 밝기와 대비를 바꾸는 변환, 평활화, 경계 강조, 이진화를 포함하여 서로 다른 영상 표현을 비교했습니다. 각 필터의 파라미터는 실험 전체에서 고정했으며, 이름에 포함한 max는 이번 연구에서 설정한 강도를 나타냅니다. 최적값을 탐색하여 얻은 결과는 아닙니다. 복합 필터는 Invert+CLAHE 등 다섯 가지를 사용했습니다. 여기서 더하기 기호는 두 결과를 합친다는 뜻이 아니라, 앞의 필터를 적용한 영상에 뒤의 필터를 순차적으로 적용한다는 뜻입니다. 가능한 모든 조합이나 역순을 평가하지 않았으므로, 조합의 결론도 이 다섯 가지 순서에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사전학습된 YOLOv8n을 별도로 학습했습니다. 같은 조건의 학습, 검증, 평가 자료에는 동일한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이 결과는 전처리를 적용해도 대부분의 조건에서 성능을 보존할 수 있었지만, 모든 변환이 동일하게 유효하지는 않았음을 보여줍니다. 다음으로 두 필터를 함께 적용했을 때의 결과를 보겠습니다.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다만 이것을 모든 조합에 대한 부정적인 결론으로 확대할 수는 없습니다. 이번에 평가한 다섯 가지 순서와 고정 파라미터에서 관찰한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보조 지표를 보면 해석이 달라집니다. 일반 영상의 엄격 검출 정확도에서 CLAHE 단독은 구십육 점 사 퍼센트로 단일 필터 중 가장 높았습니다. 반면 mAP의 단일 필터 최고값은 앞서 설명한 Gamma에서 나왔습니다. Invert+CLAHE의 엄격 검출 정확도는 단일 시드에서 구십팔 퍼센트로, CLAHE 단독보다 일점 육 퍼센트포인트 높았습니다. 그러나 같은 조합의 mAP는 CLAHE보다 낮았습니다. 이는 위치의 겹침을 평가하는 지표와 영상 전체의 누락 및 추가 검출을 평가하는 지표가 서로 다른 정보를 제공하기 때문입니다. 또한 추론 임계값도 다르므로, 하나의 정확도 순위로 합쳐서 해석하면 안 됩니다. 구십팔 퍼센트라는 단일 결과의 재현성은 잠시 뒤 반복 평가에서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잡음은 팔 비트 밝기값에 가우시안 잡음을 더하고 범위를 제한한 뒤 필터를 적용하여 구성했습니다.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정리하겠습니다. 일반 영상에서는 Gamma 0.3, 합성 잡음 조건에서는 Gaussian Blur가 가장 높은 mAP를 보였습니다. 평가한 다섯 조합은 더 우수한 구성 필터의 mAP를 넘지 못했습니다. 따라서 영상 조건과 목적 지표를 구분하여 필터를 선택해야 합니다. 이상으로 발표를 마치겠습니다. 경청해 주셔서 감사합니다.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있을 때 참고할 실험 파라미터입니다. CLAHE는 clip limit 40과 16×16 격자, Gaussian Blur는 표준편차 20 화소와 121×121 커널을 사용했습니다. 이 값들은 사전에 고정한 비교 조건이며 최적 파라미터라는 의미는 아닙니다.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질문에 대한 답변입니다. 첫째, 98.0%가 가장 좋은 필터라는 뜻인지를 물으신다면 단일 시드의 엄격 검출 정확도에서만 해당하며, 반복 결과와 mAP에서는 안정적 우월성을 확인하지 못했다고 답변하겠습니다. 둘째, 외부 평가의 그룹 중복은 없지만 내부 학습과 검증에는 9~20개 그룹이 중복되었다고 구분하여 설명하겠습니다. 셋째, 미지 현장에서 바로 사용할 수 있는지는 촬영 로트가 다른 독립 자료와 고정 모델의 별도 검증이 필요하다고 답변하겠습니다.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 연구에서 사용한 YOLOv8, CLAHE와 Kornia의 문헌입니다. 발표 본문의 데이터와 수치는 제출 논문의 원자료에 근거했습니다.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공식 문헌: https://docs.ultralytics.com/models/yolov8/</a:t>
            </a:r>
          </a:p>
          <a:p xmlns:a="http://schemas.openxmlformats.org/drawingml/2006/main">
            <a:r>
              <a:t>https://doi.org/10.1016/B978-0-12-336156-1.50061-6</a:t>
            </a:r>
          </a:p>
          <a:p xmlns:a="http://schemas.openxmlformats.org/drawingml/2006/main">
            <a:r>
              <a:t>https://arxiv.org/abs/1910.02190</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ffa6215aa848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8b14602b2441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ec86a7932e49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42c586e9b347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5ca94f71f45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5527acb91c46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260646-2D67-4F38-8BBD-E69EAE48AE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7FF19D-4D19-4AF6-8F7E-FF133ED1AB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974BAD8-8AD7-4EB0-84DE-36C2A3F3028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1A56A7-4B80-47D8-A8CF-D755550F8B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0846C4-1715-4B2C-AF1D-F44DC96A86D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AAA1B8-8C4B-4BC9-8715-8DF8EE1130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B6BD97-65BD-466C-8589-3C43E91F85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0CB551-1876-4348-A89B-B02B7FB4017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AA3FEA-1B0C-4D42-A3A0-1A510FD430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7DF4AD-2DD4-4E4A-BA9D-5E628065E1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24738081914791" /><Relationship Type="http://schemas.openxmlformats.org/officeDocument/2006/relationships/slideLayout" Target="/ppt/slideLayouts/slideLayout1.xml" Id="Rf0d1e50930f8442f" /><Relationship Type="http://schemas.openxmlformats.org/officeDocument/2006/relationships/slideLayout" Target="/ppt/slideLayouts/slideLayout2.xml" Id="R22850d22dfbf4bbe" /><Relationship Type="http://schemas.openxmlformats.org/officeDocument/2006/relationships/slideLayout" Target="/ppt/slideLayouts/slideLayout3.xml" Id="Rf9e198bb272047d5" /><Relationship Type="http://schemas.openxmlformats.org/officeDocument/2006/relationships/slideLayout" Target="/ppt/slideLayouts/slideLayout4.xml" Id="Rcf8e0915f37044aa" /><Relationship Type="http://schemas.openxmlformats.org/officeDocument/2006/relationships/slideLayout" Target="/ppt/slideLayouts/slideLayout5.xml" Id="R012112a0249a4be4" /><Relationship Type="http://schemas.openxmlformats.org/officeDocument/2006/relationships/slideLayout" Target="/ppt/slideLayouts/slideLayout6.xml" Id="Rf62b2307df5440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d1e50930f8442f"/>
    <p:sldLayoutId xmlns:r="http://schemas.openxmlformats.org/officeDocument/2006/relationships" id="2147483650" r:id="R22850d22dfbf4bbe"/>
    <p:sldLayoutId xmlns:r="http://schemas.openxmlformats.org/officeDocument/2006/relationships" id="2147483651" r:id="Rf9e198bb272047d5"/>
    <p:sldLayoutId xmlns:r="http://schemas.openxmlformats.org/officeDocument/2006/relationships" id="2147483652" r:id="Rcf8e0915f37044aa"/>
    <p:sldLayoutId xmlns:r="http://schemas.openxmlformats.org/officeDocument/2006/relationships" id="2147483653" r:id="R012112a0249a4be4"/>
    <p:sldLayoutId xmlns:r="http://schemas.openxmlformats.org/officeDocument/2006/relationships" id="2147483654" r:id="Rf62b2307df5440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27e0675f3a4df3" /><Relationship Type="http://schemas.openxmlformats.org/officeDocument/2006/relationships/image" Target="/ppt/media/image.png" Id="R00443868ec074bb9" /><Relationship Type="http://schemas.openxmlformats.org/officeDocument/2006/relationships/notesSlide" Target="/ppt/notesSlides/notesSlide1.xml" Id="Ref30cde776df4b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2a520274774462" /><Relationship Type="http://schemas.openxmlformats.org/officeDocument/2006/relationships/notesSlide" Target="/ppt/notesSlides/notesSlide2.xml" Id="R8de425eb09074a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3caac5b8e54704" /><Relationship Type="http://schemas.openxmlformats.org/officeDocument/2006/relationships/image" Target="/ppt/media/image2.png" Id="R93f2fa99d94c407a" /><Relationship Type="http://schemas.openxmlformats.org/officeDocument/2006/relationships/notesSlide" Target="/ppt/notesSlides/notesSlide3.xml" Id="R8ef0ed4ed16540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7a204e19c04963" /><Relationship Type="http://schemas.openxmlformats.org/officeDocument/2006/relationships/notesSlide" Target="/ppt/notesSlides/notesSlide4.xml" Id="R37c4f83545e54c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424b8e724646f0" /><Relationship Type="http://schemas.openxmlformats.org/officeDocument/2006/relationships/notesSlide" Target="/ppt/notesSlides/notesSlide5.xml" Id="Rb5bc16e63f484e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adaa67ae944ff7" /><Relationship Type="http://schemas.openxmlformats.org/officeDocument/2006/relationships/chart" Target="/ppt/slides/charts/chart1.xml" Id="R6cb6dfd9dcdc4303" /><Relationship Type="http://schemas.openxmlformats.org/officeDocument/2006/relationships/notesSlide" Target="/ppt/notesSlides/notesSlide6.xml" Id="R2bc9eaf9a0334a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464ed810564211" /><Relationship Type="http://schemas.openxmlformats.org/officeDocument/2006/relationships/chart" Target="/ppt/slides/charts/chart2.xml" Id="R2c6613e2a4434159" /><Relationship Type="http://schemas.openxmlformats.org/officeDocument/2006/relationships/notesSlide" Target="/ppt/notesSlides/notesSlide7.xml" Id="R3ba572382e9545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d94710bbb74a60" /><Relationship Type="http://schemas.openxmlformats.org/officeDocument/2006/relationships/chart" Target="/ppt/slides/charts/chart3.xml" Id="R418470cef0fc40ec" /><Relationship Type="http://schemas.openxmlformats.org/officeDocument/2006/relationships/notesSlide" Target="/ppt/notesSlides/notesSlide8.xml" Id="Rf95528ab91f14a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3fc849d40b48b4" /><Relationship Type="http://schemas.openxmlformats.org/officeDocument/2006/relationships/notesSlide" Target="/ppt/notesSlides/notesSlide9.xml" Id="Rc939675088a74f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9d7001274d4e35" /><Relationship Type="http://schemas.openxmlformats.org/officeDocument/2006/relationships/chart" Target="/ppt/slides/charts/chart4.xml" Id="Rad04bddd624846da" /><Relationship Type="http://schemas.openxmlformats.org/officeDocument/2006/relationships/chart" Target="/ppt/slides/charts/chart5.xml" Id="R85ed7e274da44eaf" /><Relationship Type="http://schemas.openxmlformats.org/officeDocument/2006/relationships/notesSlide" Target="/ppt/notesSlides/notesSlide10.xml" Id="R6d2be54155ba4b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f83c7081b714b2a" /><Relationship Type="http://schemas.openxmlformats.org/officeDocument/2006/relationships/notesSlide" Target="/ppt/notesSlides/notesSlide11.xml" Id="Rd20c8a78333743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905a156f3d4546" /><Relationship Type="http://schemas.openxmlformats.org/officeDocument/2006/relationships/image" Target="/ppt/media/image3.png" Id="R40a5d01a7ace4d48" /><Relationship Type="http://schemas.openxmlformats.org/officeDocument/2006/relationships/notesSlide" Target="/ppt/notesSlides/notesSlide12.xml" Id="Rc109deee8f2b4a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ae854f1d694d77" /><Relationship Type="http://schemas.openxmlformats.org/officeDocument/2006/relationships/notesSlide" Target="/ppt/notesSlides/notesSlide13.xml" Id="Ra7d0d69f795d4e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d8f2381eb84e71" /><Relationship Type="http://schemas.openxmlformats.org/officeDocument/2006/relationships/notesSlide" Target="/ppt/notesSlides/notesSlide14.xml" Id="R569cbb8f3fc041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31055cca23f4171" /><Relationship Type="http://schemas.openxmlformats.org/officeDocument/2006/relationships/notesSlide" Target="/ppt/notesSlides/notesSlide15.xml" Id="R44e1a1c52d66434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Ref>
              <c:f>'Chart Data'!$A$2:$A$12</c:f>
              <c:strCache>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Cache>
            </c:strRef>
          </c:cat>
          <c:val>
            <c:numRef>
              <c:f>'Chart Data'!$B$2:$B$12</c:f>
              <c:numCache>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Ref>
              <c:f>'Chart Data'!$A$2:$A$7</c:f>
              <c:strCache>
                <c:ptCount val="6"/>
                <c:pt idx="0">
                  <c:v>Original</c:v>
                </c:pt>
                <c:pt idx="1">
                  <c:v>Invert+
CLAHE</c:v>
                </c:pt>
                <c:pt idx="2">
                  <c:v>Blur+
Otsu</c:v>
                </c:pt>
                <c:pt idx="3">
                  <c:v>Sobel+
Invert</c:v>
                </c:pt>
                <c:pt idx="4">
                  <c:v>HistEq+
Emboss</c:v>
                </c:pt>
                <c:pt idx="5">
                  <c:v>Unsharp+
Sobel</c:v>
                </c:pt>
              </c:strCache>
            </c:strRef>
          </c:cat>
          <c:val>
            <c:numRef>
              <c:f>'Chart Data'!$B$2:$B$7</c:f>
              <c:numCache>
                <c:formatCode>0.00</c:formatCode>
                <c:ptCount val="6"/>
                <c:pt idx="0">
                  <c:v>96.5279976671671</c:v>
                </c:pt>
                <c:pt idx="1">
                  <c:v>95.7521155759119</c:v>
                </c:pt>
                <c:pt idx="2">
                  <c:v>59.5766758039794</c:v>
                </c:pt>
                <c:pt idx="3">
                  <c:v>95.7148843234106</c:v>
                </c:pt>
                <c:pt idx="4">
                  <c:v>95.4223106676088</c:v>
                </c:pt>
                <c:pt idx="5">
                  <c:v>94.7323908217321</c:v>
                </c:pt>
              </c:numCache>
            </c:numRef>
          </c:val>
        </c:ser>
        <c:ser>
          <c:idx val="1"/>
          <c:order val="1"/>
          <c:tx>
            <c:v>Better component</c:v>
          </c:tx>
          <c:spPr>
            <a:solidFill xmlns:a="http://schemas.openxmlformats.org/drawingml/2006/main">
              <a:srgbClr val="85858C"/>
            </a:solidFill>
          </c:spPr>
          <c:invertIfNegative val="0"/>
          <c:cat>
            <c:strRef>
              <c:f>'Chart Data'!$C$2:$C$7</c:f>
              <c:strCache>
                <c:ptCount val="6"/>
                <c:pt idx="0">
                  <c:v>Original</c:v>
                </c:pt>
                <c:pt idx="1">
                  <c:v>Invert+
CLAHE</c:v>
                </c:pt>
                <c:pt idx="2">
                  <c:v>Blur+
Otsu</c:v>
                </c:pt>
                <c:pt idx="3">
                  <c:v>Sobel+
Invert</c:v>
                </c:pt>
                <c:pt idx="4">
                  <c:v>HistEq+
Emboss</c:v>
                </c:pt>
                <c:pt idx="5">
                  <c:v>Unsharp+
Sobel</c:v>
                </c:pt>
              </c:strCache>
            </c:strRef>
          </c:cat>
          <c:val>
            <c:numRef>
              <c:f>'Chart Data'!$D$2:$D$7</c:f>
              <c:numCache>
                <c:formatCode>0.00</c:formatCode>
                <c:ptCount val="6"/>
                <c:pt idx="0">
                  <c:v>96.5279976671671</c:v>
                </c:pt>
                <c:pt idx="1">
                  <c:v>95.9760500118378</c:v>
                </c:pt>
                <c:pt idx="2">
                  <c:v>93.3650494926198</c:v>
                </c:pt>
                <c:pt idx="3">
                  <c:v>96.4356478134763</c:v>
                </c:pt>
                <c:pt idx="4">
                  <c:v>96.2666397590254</c:v>
                </c:pt>
                <c:pt idx="5">
                  <c:v>96.4356478134763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Ref>
              <c:f>'Chart Data'!$A$2:$A$5</c:f>
              <c:strCache>
                <c:ptCount val="4"/>
                <c:pt idx="0">
                  <c:v>Original</c:v>
                </c:pt>
                <c:pt idx="1">
                  <c:v>Gamma 0.3</c:v>
                </c:pt>
                <c:pt idx="2">
                  <c:v>CLAHE (max)</c:v>
                </c:pt>
                <c:pt idx="3">
                  <c:v>Invert+CLAHE</c:v>
                </c:pt>
              </c:strCache>
            </c:strRef>
          </c:cat>
          <c:val>
            <c:numRef>
              <c:f>'Chart Data'!$B$2:$B$5</c:f>
              <c:numCache>
                <c:formatCode>0.00</c:formatCode>
                <c:ptCount val="4"/>
                <c:pt idx="0">
                  <c:v>96.5279976671671</c:v>
                </c:pt>
                <c:pt idx="1">
                  <c:v>96.701438764475</c:v>
                </c:pt>
                <c:pt idx="2">
                  <c:v>95.9760500118378</c:v>
                </c:pt>
                <c:pt idx="3">
                  <c:v>95.7521155759119</c:v>
                </c:pt>
              </c:numCache>
            </c:numRef>
          </c:val>
        </c:ser>
        <c:ser>
          <c:idx val="1"/>
          <c:order val="1"/>
          <c:tx>
            <c:v>Strict detection accuracy (%)</c:v>
          </c:tx>
          <c:spPr>
            <a:solidFill xmlns:a="http://schemas.openxmlformats.org/drawingml/2006/main">
              <a:srgbClr val="FFFFFF"/>
            </a:solidFill>
          </c:spPr>
          <c:invertIfNegative val="0"/>
          <c:cat>
            <c:strRef>
              <c:f>'Chart Data'!$C$2:$C$5</c:f>
              <c:strCache>
                <c:ptCount val="4"/>
                <c:pt idx="0">
                  <c:v>Original</c:v>
                </c:pt>
                <c:pt idx="1">
                  <c:v>Gamma 0.3</c:v>
                </c:pt>
                <c:pt idx="2">
                  <c:v>CLAHE (max)</c:v>
                </c:pt>
                <c:pt idx="3">
                  <c:v>Invert+CLAHE</c:v>
                </c:pt>
              </c:strCache>
            </c:strRef>
          </c:cat>
          <c:val>
            <c:numRef>
              <c:f>'Chart Data'!$D$2:$D$5</c:f>
              <c:numCache>
                <c:formatCode>0.00</c:formatCode>
                <c:ptCount val="4"/>
                <c:pt idx="0">
                  <c:v>94.8</c:v>
                </c:pt>
                <c:pt idx="1">
                  <c:v>96.2</c:v>
                </c:pt>
                <c:pt idx="2">
                  <c:v>96.4</c:v>
                </c:pt>
                <c:pt idx="3">
                  <c:v>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94.8</c:v>
                </c:pt>
                <c:pt idx="1">
                  <c:v>95.6</c:v>
                </c:pt>
                <c:pt idx="2">
                  <c:v>95.8</c:v>
                </c:pt>
              </c:numCache>
            </c:numRef>
          </c:val>
          <c:smooth val="0"/>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98</c:v>
                </c:pt>
                <c:pt idx="1">
                  <c:v>93.6</c:v>
                </c:pt>
                <c:pt idx="2">
                  <c:v>94.8</c:v>
                </c:pt>
              </c:numCache>
            </c:numRef>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79.3168837024659</c:v>
                </c:pt>
                <c:pt idx="1">
                  <c:v>79.6432490823884</c:v>
                </c:pt>
                <c:pt idx="2">
                  <c:v>79.8321417516051</c:v>
                </c:pt>
              </c:numCache>
            </c:numRef>
          </c:val>
          <c:smooth val="0"/>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82.937759460975</c:v>
                </c:pt>
                <c:pt idx="1">
                  <c:v>82.8704437446863</c:v>
                </c:pt>
                <c:pt idx="2">
                  <c:v>82.7738015289921</c:v>
                </c:pt>
              </c:numCache>
            </c:numRef>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B5592199-8967-4F0C-9604-97DA6FA84816}"/>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FD5DA140-57D7-4CCD-84CE-B0D2B23B0534}"/>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2BC5C68F-C3A9-4C82-9397-FA06D5AE6FC8}"/>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844B4B36-4404-40E5-8F36-2F66FA3908E7}"/>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95ADF566-0103-4F61-88FF-282E49B90616}"/>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F563BC27-F885-4269-86FA-0805A3DA6E3F}"/>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EAD5507-757A-49B6-A5D6-95A82E3127C7}"/>
              </a:ext>
            </a:extLst>
          </p:cNvPr>
          <p:cNvPicPr>
            <a:picLocks xmlns:a="http://schemas.openxmlformats.org/drawingml/2006/main" noChangeAspect="1"/>
          </p:cNvPicPr>
          <p:nvPr/>
        </p:nvPicPr>
        <p:blipFill>
          <a:blip xmlns:r="http://schemas.openxmlformats.org/officeDocument/2006/relationships" xmlns:a="http://schemas.openxmlformats.org/drawingml/2006/main" r:embed="R00443868ec074bb9"/>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123933925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7A8E77A2-8779-48DC-A652-57C6C1B4713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A0D079A9-1500-4F6B-9515-467A27D6782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B7C8C08B-B1CA-49AC-9416-2C60775B89D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30D981D3-CDC6-473C-BCDC-0260BAD682AF}"/>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81D46C66-FC11-4170-8747-F9E919B067FC}"/>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635EE487-0F8F-4ADF-9E45-631AC4E91357}"/>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749CAB70-A9F8-4168-BACC-F80AC9BA9E82}"/>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5B3E5397-81A9-481D-884B-58BEA54E23B9}"/>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45253030"/>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65807184-5EFA-4B4F-928C-4CD733976371}"/>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C893F8A0-69B5-44A1-9D35-5FC0CEB27A9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6D04FCBD-F499-410D-A9CB-29CC7A209E1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493847AA-6263-439F-BDB5-F4D61936C83C}"/>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A3106011-517A-405A-9625-82A13D8CA1F7}"/>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F13CC34D-86E9-4C65-8940-FB3B5FCD2653}"/>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4597E1E9-CD37-4ED3-A8C0-875846842BCE}"/>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CD0E7E32-2FA5-4C9B-A6DB-23F0DEDC725C}"/>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FC270B00-B402-4651-A98B-D0855747F7FF}"/>
              </a:ext>
            </a:extLst>
          </p:cNvPr>
          <p:cNvPicPr>
            <a:picLocks xmlns:a="http://schemas.openxmlformats.org/drawingml/2006/main" noChangeAspect="1"/>
          </p:cNvPicPr>
          <p:nvPr/>
        </p:nvPicPr>
        <p:blipFill>
          <a:blip xmlns:r="http://schemas.openxmlformats.org/officeDocument/2006/relationships" xmlns:a="http://schemas.openxmlformats.org/drawingml/2006/main" r:embed="R93f2fa99d94c407a"/>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A88F3604-7071-47F2-860C-BAFA16096979}"/>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2035905635"/>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단일 필터와 순차 조합">
            <a:extLst xmlns:a="http://schemas.openxmlformats.org/drawingml/2006/main">
              <a:ext uri="{FF2B5EF4-FFF2-40B4-BE49-F238E27FC236}">
                <a16:creationId xmlns:a16="http://schemas.microsoft.com/office/drawing/2014/main" id="{6ADD6C09-40A8-4A21-8582-158C86F17B6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필터와 순차 조합</a:t>
            </a:r>
          </a:p>
        </p:txBody>
      </p:sp>
      <p:sp>
        <p:nvSpPr>
          <p:cNvPr id="2" name="2026 한국정보기술학회 추계 종합학술대회">
            <a:extLst xmlns:a="http://schemas.openxmlformats.org/drawingml/2006/main">
              <a:ext uri="{FF2B5EF4-FFF2-40B4-BE49-F238E27FC236}">
                <a16:creationId xmlns:a16="http://schemas.microsoft.com/office/drawing/2014/main" id="{1A8F4058-17E2-4D6C-BB45-4D86EE6AC0D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CF01B716-A314-4C87-9B94-51BADA4F473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단일 필터 10종">
            <a:extLst xmlns:a="http://schemas.openxmlformats.org/drawingml/2006/main">
              <a:ext uri="{FF2B5EF4-FFF2-40B4-BE49-F238E27FC236}">
                <a16:creationId xmlns:a16="http://schemas.microsoft.com/office/drawing/2014/main" id="{1FB87468-7FE7-4CA1-A55F-44CEF7F24D4C}"/>
              </a:ext>
            </a:extLst>
          </p:cNvPr>
          <p:cNvSpPr>
            <a:spLocks xmlns:a="http://schemas.openxmlformats.org/drawingml/2006/main" noGrp="1"/>
          </p:cNvSpPr>
          <p:nvPr/>
        </p:nvSpPr>
        <p:spPr>
          <a:xfrm xmlns:a="http://schemas.openxmlformats.org/drawingml/2006/main">
            <a:off x="742950" y="15335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단일 필터 10종</a:t>
            </a:r>
          </a:p>
        </p:txBody>
      </p:sp>
      <p:sp>
        <p:nvSpPr>
          <p:cNvPr id="5" name="순차 조합 5종">
            <a:extLst xmlns:a="http://schemas.openxmlformats.org/drawingml/2006/main">
              <a:ext uri="{FF2B5EF4-FFF2-40B4-BE49-F238E27FC236}">
                <a16:creationId xmlns:a16="http://schemas.microsoft.com/office/drawing/2014/main" id="{D798BB34-EBA6-4082-818A-2AF5169054D0}"/>
              </a:ext>
            </a:extLst>
          </p:cNvPr>
          <p:cNvSpPr>
            <a:spLocks xmlns:a="http://schemas.openxmlformats.org/drawingml/2006/main" noGrp="1"/>
          </p:cNvSpPr>
          <p:nvPr/>
        </p:nvSpPr>
        <p:spPr>
          <a:xfrm xmlns:a="http://schemas.openxmlformats.org/drawingml/2006/main">
            <a:off x="6572250" y="153352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순차 조합 5종</a:t>
            </a:r>
          </a:p>
        </p:txBody>
      </p:sp>
      <p:sp>
        <p:nvSpPr>
          <p:cNvPr id="6" name="Invert&#10;Otsu Threshold&#10;Solarize&#10;H">
            <a:extLst xmlns:a="http://schemas.openxmlformats.org/drawingml/2006/main">
              <a:ext uri="{FF2B5EF4-FFF2-40B4-BE49-F238E27FC236}">
                <a16:creationId xmlns:a16="http://schemas.microsoft.com/office/drawing/2014/main" id="{3E8459F3-8523-4A7C-B6B5-A78FE8B11259}"/>
              </a:ext>
            </a:extLst>
          </p:cNvPr>
          <p:cNvSpPr>
            <a:spLocks xmlns:a="http://schemas.openxmlformats.org/drawingml/2006/main" noGrp="1"/>
          </p:cNvSpPr>
          <p:nvPr/>
        </p:nvSpPr>
        <p:spPr>
          <a:xfrm xmlns:a="http://schemas.openxmlformats.org/drawingml/2006/main">
            <a:off x="742950" y="2171700"/>
            <a:ext cx="5334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Invert</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Otsu Threshold</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Solarize</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Histogram Equalization</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Gaussian Blur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Sobel Edges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a:t>
            </a:r>
          </a:p>
        </p:txBody>
      </p:sp>
      <p:sp>
        <p:nvSpPr>
          <p:cNvPr id="7" name="Invert+CLAHE&#10;Blur+Otsu&#10;Sobel+Inv">
            <a:extLst xmlns:a="http://schemas.openxmlformats.org/drawingml/2006/main">
              <a:ext uri="{FF2B5EF4-FFF2-40B4-BE49-F238E27FC236}">
                <a16:creationId xmlns:a16="http://schemas.microsoft.com/office/drawing/2014/main" id="{81EFCF31-46E5-4C14-A85C-BFBC5D5FE6FE}"/>
              </a:ext>
            </a:extLst>
          </p:cNvPr>
          <p:cNvSpPr>
            <a:spLocks xmlns:a="http://schemas.openxmlformats.org/drawingml/2006/main" noGrp="1"/>
          </p:cNvSpPr>
          <p:nvPr/>
        </p:nvSpPr>
        <p:spPr>
          <a:xfrm xmlns:a="http://schemas.openxmlformats.org/drawingml/2006/main">
            <a:off x="6572250" y="225742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Invert+CLAHE</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Blur+Otsu</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Sobel+Invert</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HistEq+Emboss</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Unsharp+Sobel</a:t>
            </a:r>
          </a:p>
        </p:txBody>
      </p:sp>
      <p:sp>
        <p:nvSpPr>
          <p:cNvPr id="8" name="A+B: A를 적용한 결과에 B를 순차 적용&#10;역순·전체 조">
            <a:extLst xmlns:a="http://schemas.openxmlformats.org/drawingml/2006/main">
              <a:ext uri="{FF2B5EF4-FFF2-40B4-BE49-F238E27FC236}">
                <a16:creationId xmlns:a16="http://schemas.microsoft.com/office/drawing/2014/main" id="{300D31C2-4787-4EA1-9F0D-0812C0DC1457}"/>
              </a:ext>
            </a:extLst>
          </p:cNvPr>
          <p:cNvSpPr>
            <a:spLocks xmlns:a="http://schemas.openxmlformats.org/drawingml/2006/main" noGrp="1"/>
          </p:cNvSpPr>
          <p:nvPr/>
        </p:nvSpPr>
        <p:spPr>
          <a:xfrm xmlns:a="http://schemas.openxmlformats.org/drawingml/2006/main">
            <a:off x="6572250" y="52006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DBDC2"/>
                </a:solidFill>
                <a:latin typeface="NanumGothic"/>
                <a:ea typeface="NanumGothic"/>
                <a:cs typeface="NanumGothic"/>
              </a:defRPr>
            </a:defPPr>
            <a:lvl1pPr algn="l">
              <a:defRPr sz="1650" b="1">
                <a:solidFill>
                  <a:srgbClr val="BDBDC2"/>
                </a:solidFill>
                <a:latin typeface="NanumGothic"/>
                <a:ea typeface="NanumGothic"/>
                <a:cs typeface="NanumGothic"/>
              </a:defRPr>
            </a:lvl1pPr>
            <a:lvl2pPr algn="l">
              <a:defRPr sz="1650" b="1">
                <a:solidFill>
                  <a:srgbClr val="BDBDC2"/>
                </a:solidFill>
                <a:latin typeface="NanumGothic"/>
                <a:ea typeface="NanumGothic"/>
                <a:cs typeface="NanumGothic"/>
              </a:defRPr>
            </a:lvl2pPr>
            <a:lvl3pPr algn="l">
              <a:defRPr sz="1650" b="1">
                <a:solidFill>
                  <a:srgbClr val="BDBDC2"/>
                </a:solidFill>
                <a:latin typeface="NanumGothic"/>
                <a:ea typeface="NanumGothic"/>
                <a:cs typeface="NanumGothic"/>
              </a:defRPr>
            </a:lvl3pPr>
            <a:lvl4pPr algn="l">
              <a:defRPr sz="1650" b="1">
                <a:solidFill>
                  <a:srgbClr val="BDBDC2"/>
                </a:solidFill>
                <a:latin typeface="NanumGothic"/>
                <a:ea typeface="NanumGothic"/>
                <a:cs typeface="NanumGothic"/>
              </a:defRPr>
            </a:lvl4pPr>
            <a:lvl5pPr algn="l">
              <a:defRPr sz="1650" b="1">
                <a:solidFill>
                  <a:srgbClr val="BDBDC2"/>
                </a:solidFill>
                <a:latin typeface="NanumGothic"/>
                <a:ea typeface="NanumGothic"/>
                <a:cs typeface="NanumGothic"/>
              </a:defRPr>
            </a:lvl5pPr>
            <a:lvl6pPr algn="l">
              <a:defRPr sz="1650" b="1">
                <a:solidFill>
                  <a:srgbClr val="BDBDC2"/>
                </a:solidFill>
                <a:latin typeface="NanumGothic"/>
                <a:ea typeface="NanumGothic"/>
                <a:cs typeface="NanumGothic"/>
              </a:defRPr>
            </a:lvl6pPr>
            <a:lvl7pPr algn="l">
              <a:defRPr sz="1650" b="1">
                <a:solidFill>
                  <a:srgbClr val="BDBDC2"/>
                </a:solidFill>
                <a:latin typeface="NanumGothic"/>
                <a:ea typeface="NanumGothic"/>
                <a:cs typeface="NanumGothic"/>
              </a:defRPr>
            </a:lvl7pPr>
            <a:lvl8pPr algn="l">
              <a:defRPr sz="1650" b="1">
                <a:solidFill>
                  <a:srgbClr val="BDBDC2"/>
                </a:solidFill>
                <a:latin typeface="NanumGothic"/>
                <a:ea typeface="NanumGothic"/>
                <a:cs typeface="NanumGothic"/>
              </a:defRPr>
            </a:lvl8pPr>
            <a:lvl9pPr algn="l">
              <a:defRPr sz="1650" b="1">
                <a:solidFill>
                  <a:srgbClr val="BDBDC2"/>
                </a:solidFill>
                <a:latin typeface="NanumGothic"/>
                <a:ea typeface="NanumGothic"/>
                <a:cs typeface="NanumGothic"/>
              </a:defRPr>
            </a:lvl9pPr>
          </a:lstStyle>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A+B: A를 적용한 결과에 B를 순차 적용</a:t>
            </a:r>
          </a:p>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역순·전체 조합 및 최적 파라미터 탐색 제외</a:t>
            </a:r>
          </a:p>
        </p:txBody>
      </p:sp>
    </p:spTree>
    <p:extLst>
      <p:ext uri="{BB962C8B-B14F-4D97-AF65-F5344CB8AC3E}">
        <p14:creationId xmlns:p14="http://schemas.microsoft.com/office/powerpoint/2010/main" val="2013742342"/>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E73A0326-4562-4AF8-9A38-7751E1AC5B8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C1FC265B-602F-4CFD-9755-98447FA5C442}"/>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3B883BB8-636D-4C42-A440-9FE95C7B3A27}"/>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조건별 YOLOv8n 재학습">
            <a:extLst xmlns:a="http://schemas.openxmlformats.org/drawingml/2006/main">
              <a:ext uri="{FF2B5EF4-FFF2-40B4-BE49-F238E27FC236}">
                <a16:creationId xmlns:a16="http://schemas.microsoft.com/office/drawing/2014/main" id="{A32EB791-BCE6-4D5E-B9D6-D6D7E0BB72E0}"/>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685FA992-647B-487E-A378-CEB5A1936B74}"/>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545F2CAD-35FE-4F34-9D87-772268C6D3BA}"/>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677C95F0-FA7F-43C4-8DFB-7EF61A5D4893}"/>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1EE4693E-A1F1-4EB2-B6E1-4831783BD791}"/>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4FEF3F2E-0D08-446B-AE7D-30B8ABC1B3B6}"/>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975118454"/>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585BDC04-684B-4355-8287-E81AAA78561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5099A312-A1F8-4C81-842A-1175D5176B0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F8706AB9-9379-40BB-8A75-4E6215E024B8}"/>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mAP50-95 (%)  /  Clean  /  Seed ">
            <a:extLst xmlns:a="http://schemas.openxmlformats.org/drawingml/2006/main">
              <a:ext uri="{FF2B5EF4-FFF2-40B4-BE49-F238E27FC236}">
                <a16:creationId xmlns:a16="http://schemas.microsoft.com/office/drawing/2014/main" id="{9FDC7728-1280-4E77-8F05-2DAAEF9D40AD}"/>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89204D2E-42BF-4E59-AF9A-D91BFE976FFE}"/>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6cb6dfd9dcdc4303"/>
          </a:graphicData>
        </a:graphic>
      </p:graphicFrame>
      <p:sp>
        <p:nvSpPr>
          <p:cNvPr id="6" name="Gamma 0.3 96.70%     Original 96">
            <a:extLst xmlns:a="http://schemas.openxmlformats.org/drawingml/2006/main">
              <a:ext uri="{FF2B5EF4-FFF2-40B4-BE49-F238E27FC236}">
                <a16:creationId xmlns:a16="http://schemas.microsoft.com/office/drawing/2014/main" id="{62604A45-069F-4E9F-9ED8-F60A07C2FA20}"/>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1182531592"/>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0EDB3C84-2A08-47A4-85DF-E59FC2109D8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A3099882-EC99-4D1D-A3D0-4271239648C4}"/>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B9AB3E27-05F3-480C-893B-98A2DDF351E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mAP50-95 (%)  /  Clean  /  Seed ">
            <a:extLst xmlns:a="http://schemas.openxmlformats.org/drawingml/2006/main">
              <a:ext uri="{FF2B5EF4-FFF2-40B4-BE49-F238E27FC236}">
                <a16:creationId xmlns:a16="http://schemas.microsoft.com/office/drawing/2014/main" id="{7E6B4229-36C7-4724-BC3A-9B961EC653A9}"/>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73EE3B0B-F570-492B-9CBE-00A05A753321}"/>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2c6613e2a4434159"/>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850952A5-34C1-49E8-AA90-E0278A78E8A1}"/>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1998421014"/>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F28D7F67-2428-471F-9FEC-B4145DE63A32}"/>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8A64B384-2B98-4CB1-BAA5-7556E079514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2214B713-2C5A-40D8-908F-51B98403DAC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Clean / Seed 42">
            <a:extLst xmlns:a="http://schemas.openxmlformats.org/drawingml/2006/main">
              <a:ext uri="{FF2B5EF4-FFF2-40B4-BE49-F238E27FC236}">
                <a16:creationId xmlns:a16="http://schemas.microsoft.com/office/drawing/2014/main" id="{C90F4025-C352-489D-B928-5103612BB0E8}"/>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A76E8A4A-4A1E-4B6D-9955-4186A06FF931}"/>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418470cef0fc40ec"/>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0A2381E7-D563-4427-84A7-AE5ED42E566E}"/>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1481589201"/>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89F4A9A2-AEA5-4F8A-89EC-CB6B1E05EC00}"/>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230DFABB-7E8C-4C34-A1E8-BDC3CBBF490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2A83419E-74EB-47E2-A96D-B150F096B75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mAP50-95 (%)  /  Seed 42">
            <a:extLst xmlns:a="http://schemas.openxmlformats.org/drawingml/2006/main">
              <a:ext uri="{FF2B5EF4-FFF2-40B4-BE49-F238E27FC236}">
                <a16:creationId xmlns:a16="http://schemas.microsoft.com/office/drawing/2014/main" id="{F10F2088-F84F-430D-BBFE-890617C6D991}"/>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B7863173-9FA3-446C-9FED-141FE75ACFF6}"/>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47625" marR="47625" marT="0" marB="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47625" marR="47625" marT="0" marB="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47625" marR="47625" marT="0" marB="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47625" marR="47625" marT="0" marB="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47625" marR="47625" marT="0" marB="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47625" marR="47625" marT="0" marB="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47625" marR="47625" marT="0" marB="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47625" marR="47625" marT="0" marB="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47625" marR="47625" marT="0" marB="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47625" marR="47625" marT="0" marB="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47625" marR="47625" marT="0" marB="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47625" marR="47625" marT="0" marB="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47625" marR="47625" marT="0" marB="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47625" marR="47625" marT="0" marB="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47625" marR="47625" marT="0" marB="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47625" marR="47625" marT="0" marB="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47625" marR="47625" marT="0" marB="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47625" marR="47625" marT="0" marB="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47625" marR="47625" marT="0" marB="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7FC6F053-3A0C-4A51-BE7E-347D50156B86}"/>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187414003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B2FF4272-B70F-4124-ACDC-2D4977FD6C9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E4784DFF-5707-4B3D-B3C0-CC3CC660691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53992DF4-D218-44D3-927C-13352B0526D0}"/>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반복: Seed 42, 43, 44  /  평균 ± 표본 ">
            <a:extLst xmlns:a="http://schemas.openxmlformats.org/drawingml/2006/main">
              <a:ext uri="{FF2B5EF4-FFF2-40B4-BE49-F238E27FC236}">
                <a16:creationId xmlns:a16="http://schemas.microsoft.com/office/drawing/2014/main" id="{0D3C52BF-5D34-429D-88EB-D37CF3B5990B}"/>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8D59C12A-A175-4F1F-AC4F-CC20CB56AD90}"/>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5622FF3D-9ED8-45B9-9C90-6EC4FFF193D8}"/>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FC3D3D33-55DF-4F36-B732-964757E7EFA3}"/>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ad04bddd624846da"/>
          </a:graphicData>
        </a:graphic>
      </p:graphicFrame>
      <p:graphicFrame>
        <p:nvGraphicFramePr>
          <p:cNvPr id="8" name="Chart">
            <a:extLst xmlns:a="http://schemas.openxmlformats.org/drawingml/2006/main">
              <a:ext uri="{FF2B5EF4-FFF2-40B4-BE49-F238E27FC236}">
                <a16:creationId xmlns:a16="http://schemas.microsoft.com/office/drawing/2014/main" id="{B3FE2C2E-571A-47B8-8BC7-BCB85469522C}"/>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85ed7e274da44eaf"/>
          </a:graphicData>
        </a:graphic>
      </p:graphicFrame>
      <p:sp>
        <p:nvSpPr>
          <p:cNvPr id="9" name="Original 95.40 ± 0.53&#10;Invert+CLA">
            <a:extLst xmlns:a="http://schemas.openxmlformats.org/drawingml/2006/main">
              <a:ext uri="{FF2B5EF4-FFF2-40B4-BE49-F238E27FC236}">
                <a16:creationId xmlns:a16="http://schemas.microsoft.com/office/drawing/2014/main" id="{80AC1B55-08F3-4355-89BC-2303999D13E0}"/>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25D4083C-A65C-415A-B216-CACD3BF019BB}"/>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855989001"/>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4E5B1C3E-D33E-4E1A-9980-E64BC5437DA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4A23811E-5B9A-4152-A09D-36B2B8BBFBC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DBC3D7E8-C597-4D45-92FD-523104187F9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조건별 재학습의 비교 결과">
            <a:extLst xmlns:a="http://schemas.openxmlformats.org/drawingml/2006/main">
              <a:ext uri="{FF2B5EF4-FFF2-40B4-BE49-F238E27FC236}">
                <a16:creationId xmlns:a16="http://schemas.microsoft.com/office/drawing/2014/main" id="{D15D6EA7-7393-4166-BE5F-C965C5F3D071}"/>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FD41BCC0-E7A0-4A4C-B05A-8594CCC820FA}"/>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D12A3600-4297-4784-85E1-2CA07841ED88}"/>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F3E2C47B-0349-4FC2-B7C0-A1C2A8C2047F}"/>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C2E7422A-B4BF-47B0-846D-1D2FF3997BA6}"/>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971356618"/>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결론">
            <a:extLst xmlns:a="http://schemas.openxmlformats.org/drawingml/2006/main">
              <a:ext uri="{FF2B5EF4-FFF2-40B4-BE49-F238E27FC236}">
                <a16:creationId xmlns:a16="http://schemas.microsoft.com/office/drawing/2014/main" id="{99DC1D45-E162-43A4-A20F-C8ECCC7F2CE7}"/>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BAD77FFB-7BBC-416A-ACFF-670174A4D5C8}"/>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F0E2F417-5423-459C-B15F-3BB7B9DF27E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영상 조건과 목적 지표에 따른 필터 선택">
            <a:extLst xmlns:a="http://schemas.openxmlformats.org/drawingml/2006/main">
              <a:ext uri="{FF2B5EF4-FFF2-40B4-BE49-F238E27FC236}">
                <a16:creationId xmlns:a16="http://schemas.microsoft.com/office/drawing/2014/main" id="{533E2160-75DE-49C1-8286-0CC93F85F2F2}"/>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E93F4315-C5B1-4284-9E84-775B78461503}"/>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구성 필터의 mAP를 넘지 못함">
            <a:extLst xmlns:a="http://schemas.openxmlformats.org/drawingml/2006/main">
              <a:ext uri="{FF2B5EF4-FFF2-40B4-BE49-F238E27FC236}">
                <a16:creationId xmlns:a16="http://schemas.microsoft.com/office/drawing/2014/main" id="{6749B10C-8C5C-469D-BB0A-ECA40DDC917A}"/>
              </a:ext>
            </a:extLst>
          </p:cNvPr>
          <p:cNvSpPr>
            <a:spLocks xmlns:a="http://schemas.openxmlformats.org/drawingml/2006/main" noGrp="1"/>
          </p:cNvSpPr>
          <p:nvPr/>
        </p:nvSpPr>
        <p:spPr>
          <a:xfrm xmlns:a="http://schemas.openxmlformats.org/drawingml/2006/main">
            <a:off x="742950" y="35242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평가한 5개 조합은 구성 필터의 mAP를 넘지 못함</a:t>
            </a:r>
          </a:p>
        </p:txBody>
      </p:sp>
      <p:sp>
        <p:nvSpPr>
          <p:cNvPr id="7" name="경청해 주셔서 감사합니다">
            <a:extLst xmlns:a="http://schemas.openxmlformats.org/drawingml/2006/main">
              <a:ext uri="{FF2B5EF4-FFF2-40B4-BE49-F238E27FC236}">
                <a16:creationId xmlns:a16="http://schemas.microsoft.com/office/drawing/2014/main" id="{181BFE98-65F5-4F56-BA3E-210D3C4DF65D}"/>
              </a:ext>
            </a:extLst>
          </p:cNvPr>
          <p:cNvSpPr>
            <a:spLocks xmlns:a="http://schemas.openxmlformats.org/drawingml/2006/main" noGrp="1"/>
          </p:cNvSpPr>
          <p:nvPr/>
        </p:nvSpPr>
        <p:spPr>
          <a:xfrm xmlns:a="http://schemas.openxmlformats.org/drawingml/2006/main">
            <a:off x="742950" y="487680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FFFFF"/>
                </a:solidFill>
                <a:latin typeface="NanumGothic"/>
                <a:ea typeface="NanumGothic"/>
                <a:cs typeface="NanumGothic"/>
              </a:defRPr>
            </a:defPPr>
            <a:lvl1pPr algn="l">
              <a:defRPr sz="2925" b="1">
                <a:solidFill>
                  <a:srgbClr val="FFFFFF"/>
                </a:solidFill>
                <a:latin typeface="NanumGothic"/>
                <a:ea typeface="NanumGothic"/>
                <a:cs typeface="NanumGothic"/>
              </a:defRPr>
            </a:lvl1pPr>
            <a:lvl2pPr algn="l">
              <a:defRPr sz="2925" b="1">
                <a:solidFill>
                  <a:srgbClr val="FFFFFF"/>
                </a:solidFill>
                <a:latin typeface="NanumGothic"/>
                <a:ea typeface="NanumGothic"/>
                <a:cs typeface="NanumGothic"/>
              </a:defRPr>
            </a:lvl2pPr>
            <a:lvl3pPr algn="l">
              <a:defRPr sz="2925" b="1">
                <a:solidFill>
                  <a:srgbClr val="FFFFFF"/>
                </a:solidFill>
                <a:latin typeface="NanumGothic"/>
                <a:ea typeface="NanumGothic"/>
                <a:cs typeface="NanumGothic"/>
              </a:defRPr>
            </a:lvl3pPr>
            <a:lvl4pPr algn="l">
              <a:defRPr sz="2925" b="1">
                <a:solidFill>
                  <a:srgbClr val="FFFFFF"/>
                </a:solidFill>
                <a:latin typeface="NanumGothic"/>
                <a:ea typeface="NanumGothic"/>
                <a:cs typeface="NanumGothic"/>
              </a:defRPr>
            </a:lvl4pPr>
            <a:lvl5pPr algn="l">
              <a:defRPr sz="2925" b="1">
                <a:solidFill>
                  <a:srgbClr val="FFFFFF"/>
                </a:solidFill>
                <a:latin typeface="NanumGothic"/>
                <a:ea typeface="NanumGothic"/>
                <a:cs typeface="NanumGothic"/>
              </a:defRPr>
            </a:lvl5pPr>
            <a:lvl6pPr algn="l">
              <a:defRPr sz="2925" b="1">
                <a:solidFill>
                  <a:srgbClr val="FFFFFF"/>
                </a:solidFill>
                <a:latin typeface="NanumGothic"/>
                <a:ea typeface="NanumGothic"/>
                <a:cs typeface="NanumGothic"/>
              </a:defRPr>
            </a:lvl6pPr>
            <a:lvl7pPr algn="l">
              <a:defRPr sz="2925" b="1">
                <a:solidFill>
                  <a:srgbClr val="FFFFFF"/>
                </a:solidFill>
                <a:latin typeface="NanumGothic"/>
                <a:ea typeface="NanumGothic"/>
                <a:cs typeface="NanumGothic"/>
              </a:defRPr>
            </a:lvl7pPr>
            <a:lvl8pPr algn="l">
              <a:defRPr sz="2925" b="1">
                <a:solidFill>
                  <a:srgbClr val="FFFFFF"/>
                </a:solidFill>
                <a:latin typeface="NanumGothic"/>
                <a:ea typeface="NanumGothic"/>
                <a:cs typeface="NanumGothic"/>
              </a:defRPr>
            </a:lvl8pPr>
            <a:lvl9pPr algn="l">
              <a:defRPr sz="2925" b="1">
                <a:solidFill>
                  <a:srgbClr val="FFFFFF"/>
                </a:solidFill>
                <a:latin typeface="NanumGothic"/>
                <a:ea typeface="NanumGothic"/>
                <a:cs typeface="NanumGothic"/>
              </a:defRPr>
            </a:lvl9pPr>
          </a:lstStyle>
          <a:p xmlns:a="http://schemas.openxmlformats.org/drawingml/2006/main">
            <a:pPr algn="l">
              <a:defRPr sz="2925" b="1">
                <a:solidFill>
                  <a:srgbClr val="FFFFFF"/>
                </a:solidFill>
                <a:latin typeface="NanumGothic"/>
                <a:ea typeface="NanumGothic"/>
                <a:cs typeface="NanumGothic"/>
              </a:defRPr>
            </a:pPr>
            <a:r>
              <a:rPr sz="2925" b="1">
                <a:solidFill>
                  <a:srgbClr val="FFFFFF"/>
                </a:solidFill>
                <a:latin typeface="NanumGothic"/>
                <a:ea typeface="NanumGothic"/>
                <a:cs typeface="NanumGothic"/>
              </a:rPr>
              <a:t>경청해 주셔서 감사합니다</a:t>
            </a:r>
          </a:p>
        </p:txBody>
      </p:sp>
      <p:sp>
        <p:nvSpPr>
          <p:cNvPr id="8" name="공식 마크 흰색 바탕">
            <a:extLst xmlns:a="http://schemas.openxmlformats.org/drawingml/2006/main">
              <a:ext uri="{FF2B5EF4-FFF2-40B4-BE49-F238E27FC236}">
                <a16:creationId xmlns:a16="http://schemas.microsoft.com/office/drawing/2014/main" id="{C299C50D-6B26-4A34-B1FC-4795F3A374C5}"/>
              </a:ext>
            </a:extLst>
          </p:cNvPr>
          <p:cNvSpPr>
            <a:spLocks xmlns:a="http://schemas.openxmlformats.org/drawingml/2006/main" noGrp="1"/>
          </p:cNvSpPr>
          <p:nvPr/>
        </p:nvSpPr>
        <p:spPr>
          <a:xfrm xmlns:a="http://schemas.openxmlformats.org/drawingml/2006/main">
            <a:off x="666750" y="5629275"/>
            <a:ext cx="2057400" cy="62599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A9D96769-71B0-4464-AF8C-D18ADF4FECA0}"/>
              </a:ext>
            </a:extLst>
          </p:cNvPr>
          <p:cNvPicPr>
            <a:picLocks xmlns:a="http://schemas.openxmlformats.org/drawingml/2006/main" noChangeAspect="1"/>
          </p:cNvPicPr>
          <p:nvPr/>
        </p:nvPicPr>
        <p:blipFill>
          <a:blip xmlns:r="http://schemas.openxmlformats.org/officeDocument/2006/relationships" xmlns:a="http://schemas.openxmlformats.org/drawingml/2006/main" r:embed="R40a5d01a7ace4d48"/>
          <a:stretch xmlns:a="http://schemas.openxmlformats.org/drawingml/2006/main"/>
        </p:blipFill>
        <p:spPr>
          <a:xfrm xmlns:a="http://schemas.openxmlformats.org/drawingml/2006/main">
            <a:off x="742950" y="5676900"/>
            <a:ext cx="1905000" cy="530746"/>
          </a:xfrm>
          <a:prstGeom xmlns:a="http://schemas.openxmlformats.org/drawingml/2006/main" prst="rect">
            <a:avLst/>
          </a:prstGeom>
        </p:spPr>
      </p:pic>
    </p:spTree>
    <p:extLst>
      <p:ext uri="{BB962C8B-B14F-4D97-AF65-F5344CB8AC3E}">
        <p14:creationId xmlns:p14="http://schemas.microsoft.com/office/powerpoint/2010/main" val="912691832"/>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1. 주요 실험 파라미터">
            <a:extLst xmlns:a="http://schemas.openxmlformats.org/drawingml/2006/main">
              <a:ext uri="{FF2B5EF4-FFF2-40B4-BE49-F238E27FC236}">
                <a16:creationId xmlns:a16="http://schemas.microsoft.com/office/drawing/2014/main" id="{8CD9F0E5-8885-467C-8DDE-1885B927BA0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1. 주요 실험 파라미터</a:t>
            </a:r>
          </a:p>
        </p:txBody>
      </p:sp>
      <p:sp>
        <p:nvSpPr>
          <p:cNvPr id="2" name="2026 한국정보기술학회 추계 종합학술대회">
            <a:extLst xmlns:a="http://schemas.openxmlformats.org/drawingml/2006/main">
              <a:ext uri="{FF2B5EF4-FFF2-40B4-BE49-F238E27FC236}">
                <a16:creationId xmlns:a16="http://schemas.microsoft.com/office/drawing/2014/main" id="{3EE18F2B-59C2-4519-A8FB-E19D2952D8B8}"/>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576F4354-59C2-44AA-8B96-78C833D05B5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AHE (max)   clip limit 40, gri">
            <a:extLst xmlns:a="http://schemas.openxmlformats.org/drawingml/2006/main">
              <a:ext uri="{FF2B5EF4-FFF2-40B4-BE49-F238E27FC236}">
                <a16:creationId xmlns:a16="http://schemas.microsoft.com/office/drawing/2014/main" id="{ED44BBD4-D381-4105-86E8-AA2830B68EFF}"/>
              </a:ext>
            </a:extLst>
          </p:cNvPr>
          <p:cNvSpPr>
            <a:spLocks xmlns:a="http://schemas.openxmlformats.org/drawingml/2006/main" noGrp="1"/>
          </p:cNvSpPr>
          <p:nvPr/>
        </p:nvSpPr>
        <p:spPr>
          <a:xfrm xmlns:a="http://schemas.openxmlformats.org/drawingml/2006/main">
            <a:off x="742950" y="1571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   clip limit 40, grid 16×16</a:t>
            </a:r>
          </a:p>
        </p:txBody>
      </p:sp>
      <p:sp>
        <p:nvSpPr>
          <p:cNvPr id="5" name="Gamma 0.3   γ=0.3">
            <a:extLst xmlns:a="http://schemas.openxmlformats.org/drawingml/2006/main">
              <a:ext uri="{FF2B5EF4-FFF2-40B4-BE49-F238E27FC236}">
                <a16:creationId xmlns:a16="http://schemas.microsoft.com/office/drawing/2014/main" id="{A749765D-6515-41F6-A90B-CE5001AFB21F}"/>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   γ=0.3</a:t>
            </a:r>
          </a:p>
        </p:txBody>
      </p:sp>
      <p:sp>
        <p:nvSpPr>
          <p:cNvPr id="6" name="Gaussian Blur (max)   σ=20 px, k">
            <a:extLst xmlns:a="http://schemas.openxmlformats.org/drawingml/2006/main">
              <a:ext uri="{FF2B5EF4-FFF2-40B4-BE49-F238E27FC236}">
                <a16:creationId xmlns:a16="http://schemas.microsoft.com/office/drawing/2014/main" id="{7621FA04-CFBB-4E6E-B9AD-1F1D3D0AF85E}"/>
              </a:ext>
            </a:extLst>
          </p:cNvPr>
          <p:cNvSpPr>
            <a:spLocks xmlns:a="http://schemas.openxmlformats.org/drawingml/2006/main" noGrp="1"/>
          </p:cNvSpPr>
          <p:nvPr/>
        </p:nvSpPr>
        <p:spPr>
          <a:xfrm xmlns:a="http://schemas.openxmlformats.org/drawingml/2006/main">
            <a:off x="742950" y="30384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Gaussian Blur (max)   σ=20 px, kernel 121×121</a:t>
            </a:r>
          </a:p>
        </p:txBody>
      </p:sp>
      <p:sp>
        <p:nvSpPr>
          <p:cNvPr id="7" name="Emboss   gain=4">
            <a:extLst xmlns:a="http://schemas.openxmlformats.org/drawingml/2006/main">
              <a:ext uri="{FF2B5EF4-FFF2-40B4-BE49-F238E27FC236}">
                <a16:creationId xmlns:a16="http://schemas.microsoft.com/office/drawing/2014/main" id="{F7382D1B-20EA-4C01-8B1A-A84D0DF45A96}"/>
              </a:ext>
            </a:extLst>
          </p:cNvPr>
          <p:cNvSpPr>
            <a:spLocks xmlns:a="http://schemas.openxmlformats.org/drawingml/2006/main" noGrp="1"/>
          </p:cNvSpPr>
          <p:nvPr/>
        </p:nvSpPr>
        <p:spPr>
          <a:xfrm xmlns:a="http://schemas.openxmlformats.org/drawingml/2006/main">
            <a:off x="742950" y="37719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   gain=4</a:t>
            </a:r>
          </a:p>
        </p:txBody>
      </p:sp>
      <p:sp>
        <p:nvSpPr>
          <p:cNvPr id="8" name="Unsharp (max)   amount=8, σ=2">
            <a:extLst xmlns:a="http://schemas.openxmlformats.org/drawingml/2006/main">
              <a:ext uri="{FF2B5EF4-FFF2-40B4-BE49-F238E27FC236}">
                <a16:creationId xmlns:a16="http://schemas.microsoft.com/office/drawing/2014/main" id="{ACD4A009-0BD9-441A-BB90-7EEFA8F8D6CD}"/>
              </a:ext>
            </a:extLst>
          </p:cNvPr>
          <p:cNvSpPr>
            <a:spLocks xmlns:a="http://schemas.openxmlformats.org/drawingml/2006/main" noGrp="1"/>
          </p:cNvSpPr>
          <p:nvPr/>
        </p:nvSpPr>
        <p:spPr>
          <a:xfrm xmlns:a="http://schemas.openxmlformats.org/drawingml/2006/main">
            <a:off x="742950" y="4505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   amount=8, σ=2</a:t>
            </a:r>
          </a:p>
        </p:txBody>
      </p:sp>
      <p:sp>
        <p:nvSpPr>
          <p:cNvPr id="9" name="고정 파라미터 비교이며 최적 파라미터 탐색 결과는 아님">
            <a:extLst xmlns:a="http://schemas.openxmlformats.org/drawingml/2006/main">
              <a:ext uri="{FF2B5EF4-FFF2-40B4-BE49-F238E27FC236}">
                <a16:creationId xmlns:a16="http://schemas.microsoft.com/office/drawing/2014/main" id="{74C89425-339C-4668-9E7E-8E8E66E54500}"/>
              </a:ext>
            </a:extLst>
          </p:cNvPr>
          <p:cNvSpPr>
            <a:spLocks xmlns:a="http://schemas.openxmlformats.org/drawingml/2006/main" noGrp="1"/>
          </p:cNvSpPr>
          <p:nvPr/>
        </p:nvSpPr>
        <p:spPr>
          <a:xfrm xmlns:a="http://schemas.openxmlformats.org/drawingml/2006/main">
            <a:off x="742950" y="5648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고정 파라미터 비교이며 최적 파라미터 탐색 결과는 아님</a:t>
            </a:r>
          </a:p>
        </p:txBody>
      </p:sp>
    </p:spTree>
    <p:extLst>
      <p:ext uri="{BB962C8B-B14F-4D97-AF65-F5344CB8AC3E}">
        <p14:creationId xmlns:p14="http://schemas.microsoft.com/office/powerpoint/2010/main" val="197346056"/>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2. 지표 해석과 예상 질문">
            <a:extLst xmlns:a="http://schemas.openxmlformats.org/drawingml/2006/main">
              <a:ext uri="{FF2B5EF4-FFF2-40B4-BE49-F238E27FC236}">
                <a16:creationId xmlns:a16="http://schemas.microsoft.com/office/drawing/2014/main" id="{7736E767-AA77-4005-B908-036C438C25D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2. 지표 해석과 예상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2954C248-4CE7-453E-8C75-B749A269556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850CA686-9D45-4AD8-9007-254813EED15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mAP50-95">
            <a:extLst xmlns:a="http://schemas.openxmlformats.org/drawingml/2006/main">
              <a:ext uri="{FF2B5EF4-FFF2-40B4-BE49-F238E27FC236}">
                <a16:creationId xmlns:a16="http://schemas.microsoft.com/office/drawing/2014/main" id="{4484FB50-CA4E-458F-8FDB-9BCEC9AD21CE}"/>
              </a:ext>
            </a:extLst>
          </p:cNvPr>
          <p:cNvSpPr>
            <a:spLocks xmlns:a="http://schemas.openxmlformats.org/drawingml/2006/main" noGrp="1"/>
          </p:cNvSpPr>
          <p:nvPr/>
        </p:nvSpPr>
        <p:spPr>
          <a:xfrm xmlns:a="http://schemas.openxmlformats.org/drawingml/2006/main">
            <a:off x="742950" y="15906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mAP50-95</a:t>
            </a:r>
          </a:p>
        </p:txBody>
      </p:sp>
      <p:sp>
        <p:nvSpPr>
          <p:cNvPr id="5" name="엄격 검출 정확도">
            <a:extLst xmlns:a="http://schemas.openxmlformats.org/drawingml/2006/main">
              <a:ext uri="{FF2B5EF4-FFF2-40B4-BE49-F238E27FC236}">
                <a16:creationId xmlns:a16="http://schemas.microsoft.com/office/drawing/2014/main" id="{B7088CE3-BAE6-49F7-AE02-F5874B341924}"/>
              </a:ext>
            </a:extLst>
          </p:cNvPr>
          <p:cNvSpPr>
            <a:spLocks xmlns:a="http://schemas.openxmlformats.org/drawingml/2006/main" noGrp="1"/>
          </p:cNvSpPr>
          <p:nvPr/>
        </p:nvSpPr>
        <p:spPr>
          <a:xfrm xmlns:a="http://schemas.openxmlformats.org/drawingml/2006/main">
            <a:off x="6572250" y="15906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엄격 검출 정확도</a:t>
            </a:r>
          </a:p>
        </p:txBody>
      </p:sp>
      <p:sp>
        <p:nvSpPr>
          <p:cNvPr id="6" name="IoU 0.50–0.95의 AP 평균&#10;경계 상자 겹침 평가">
            <a:extLst xmlns:a="http://schemas.openxmlformats.org/drawingml/2006/main">
              <a:ext uri="{FF2B5EF4-FFF2-40B4-BE49-F238E27FC236}">
                <a16:creationId xmlns:a16="http://schemas.microsoft.com/office/drawing/2014/main" id="{192405B9-34EF-4487-AD00-F4C52788F57E}"/>
              </a:ext>
            </a:extLst>
          </p:cNvPr>
          <p:cNvSpPr>
            <a:spLocks xmlns:a="http://schemas.openxmlformats.org/drawingml/2006/main" noGrp="1"/>
          </p:cNvSpPr>
          <p:nvPr/>
        </p:nvSpPr>
        <p:spPr>
          <a:xfrm xmlns:a="http://schemas.openxmlformats.org/drawingml/2006/main">
            <a:off x="742950" y="2314575"/>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IoU 0.50–0.95의 AP 평균</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경계 상자 겹침 평가</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0.001 / NMS IoU 0.7</a:t>
            </a:r>
          </a:p>
        </p:txBody>
      </p:sp>
      <p:sp>
        <p:nvSpPr>
          <p:cNvPr id="7" name="누락·추가 검출 모두 없는 영상&#10;중심점 거리 순 일대일 대">
            <a:extLst xmlns:a="http://schemas.openxmlformats.org/drawingml/2006/main">
              <a:ext uri="{FF2B5EF4-FFF2-40B4-BE49-F238E27FC236}">
                <a16:creationId xmlns:a16="http://schemas.microsoft.com/office/drawing/2014/main" id="{92655855-1A34-45AC-BFC8-7F37FF92B7A9}"/>
              </a:ext>
            </a:extLst>
          </p:cNvPr>
          <p:cNvSpPr>
            <a:spLocks xmlns:a="http://schemas.openxmlformats.org/drawingml/2006/main" noGrp="1"/>
          </p:cNvSpPr>
          <p:nvPr/>
        </p:nvSpPr>
        <p:spPr>
          <a:xfrm xmlns:a="http://schemas.openxmlformats.org/drawingml/2006/main">
            <a:off x="6572250" y="23145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누락·추가 검출 모두 없는 영상</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중심점 거리 순 일대일 대응</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0.25 / NMS IoU 0.5</a:t>
            </a:r>
          </a:p>
        </p:txBody>
      </p:sp>
      <p:sp>
        <p:nvSpPr>
          <p:cNvPr id="8" name="허용 중심 거리 ≤ 주석 상자의 긴 변 × 0.5">
            <a:extLst xmlns:a="http://schemas.openxmlformats.org/drawingml/2006/main">
              <a:ext uri="{FF2B5EF4-FFF2-40B4-BE49-F238E27FC236}">
                <a16:creationId xmlns:a16="http://schemas.microsoft.com/office/drawing/2014/main" id="{FD351FB5-576E-4427-8C9D-AE0A5EED40DC}"/>
              </a:ext>
            </a:extLst>
          </p:cNvPr>
          <p:cNvSpPr>
            <a:spLocks xmlns:a="http://schemas.openxmlformats.org/drawingml/2006/main" noGrp="1"/>
          </p:cNvSpPr>
          <p:nvPr/>
        </p:nvSpPr>
        <p:spPr>
          <a:xfrm xmlns:a="http://schemas.openxmlformats.org/drawingml/2006/main">
            <a:off x="74295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허용 중심 거리 ≤ 주석 상자의 긴 변 × 0.5</a:t>
            </a:r>
          </a:p>
        </p:txBody>
      </p:sp>
      <p:sp>
        <p:nvSpPr>
          <p:cNvPr id="9" name="98.0%는 단일 시드의 보조 지표 결과이며 반복 우월성 ">
            <a:extLst xmlns:a="http://schemas.openxmlformats.org/drawingml/2006/main">
              <a:ext uri="{FF2B5EF4-FFF2-40B4-BE49-F238E27FC236}">
                <a16:creationId xmlns:a16="http://schemas.microsoft.com/office/drawing/2014/main" id="{B31AED8A-7ED9-416A-93A7-FB5C6B6C9F16}"/>
              </a:ext>
            </a:extLst>
          </p:cNvPr>
          <p:cNvSpPr>
            <a:spLocks xmlns:a="http://schemas.openxmlformats.org/drawingml/2006/main" noGrp="1"/>
          </p:cNvSpPr>
          <p:nvPr/>
        </p:nvSpPr>
        <p:spPr>
          <a:xfrm xmlns:a="http://schemas.openxmlformats.org/drawingml/2006/main">
            <a:off x="742950" y="522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98.0%는 단일 시드의 보조 지표 결과이며 반복 우월성 근거는 제한적</a:t>
            </a:r>
          </a:p>
        </p:txBody>
      </p:sp>
    </p:spTree>
    <p:extLst>
      <p:ext uri="{BB962C8B-B14F-4D97-AF65-F5344CB8AC3E}">
        <p14:creationId xmlns:p14="http://schemas.microsoft.com/office/powerpoint/2010/main" val="926618900"/>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부록 3. 참고문헌">
            <a:extLst xmlns:a="http://schemas.openxmlformats.org/drawingml/2006/main">
              <a:ext uri="{FF2B5EF4-FFF2-40B4-BE49-F238E27FC236}">
                <a16:creationId xmlns:a16="http://schemas.microsoft.com/office/drawing/2014/main" id="{F6EF5779-DBE8-4276-AD49-8877F5307E7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3. 참고문헌</a:t>
            </a:r>
          </a:p>
        </p:txBody>
      </p:sp>
      <p:sp>
        <p:nvSpPr>
          <p:cNvPr id="2" name="2026 한국정보기술학회 추계 종합학술대회">
            <a:extLst xmlns:a="http://schemas.openxmlformats.org/drawingml/2006/main">
              <a:ext uri="{FF2B5EF4-FFF2-40B4-BE49-F238E27FC236}">
                <a16:creationId xmlns:a16="http://schemas.microsoft.com/office/drawing/2014/main" id="{7C7DCF2C-9667-448E-8989-0BCA2C5F633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E9AD75D0-E816-423E-9AED-2D2852A9988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1] Jocher, Chaurasia, Qiu. Ultr">
            <a:extLst xmlns:a="http://schemas.openxmlformats.org/drawingml/2006/main">
              <a:ext uri="{FF2B5EF4-FFF2-40B4-BE49-F238E27FC236}">
                <a16:creationId xmlns:a16="http://schemas.microsoft.com/office/drawing/2014/main" id="{E00E04C5-1F1B-4109-BD69-6139EDF5A254}"/>
              </a:ext>
            </a:extLst>
          </p:cNvPr>
          <p:cNvSpPr>
            <a:spLocks xmlns:a="http://schemas.openxmlformats.org/drawingml/2006/main" noGrp="1"/>
          </p:cNvSpPr>
          <p:nvPr/>
        </p:nvSpPr>
        <p:spPr>
          <a:xfrm xmlns:a="http://schemas.openxmlformats.org/drawingml/2006/main">
            <a:off x="742950" y="1647825"/>
            <a:ext cx="107442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[1] Jocher, Chaurasia, Qiu. Ultralytics YOLOv8. 2023.</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[2] Zuiderveld. Contrast Limited Adaptive Histogram Equalization.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Graphics Gems IV, pp. 474–485, 1994.</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[3] Riba et al. Kornia: an Open Source Differentiable Computer Vision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Library for PyTorch. arXiv:1910.02190, 2019.</a:t>
            </a:r>
          </a:p>
        </p:txBody>
      </p:sp>
      <p:sp>
        <p:nvSpPr>
          <p:cNvPr id="5" name="실험 자료: 제출 논문 및 저장 실험 결과&#10;기관 마크: 경">
            <a:extLst xmlns:a="http://schemas.openxmlformats.org/drawingml/2006/main">
              <a:ext uri="{FF2B5EF4-FFF2-40B4-BE49-F238E27FC236}">
                <a16:creationId xmlns:a16="http://schemas.microsoft.com/office/drawing/2014/main" id="{D33C4961-1A66-460F-A217-8DEA3BBA203D}"/>
              </a:ext>
            </a:extLst>
          </p:cNvPr>
          <p:cNvSpPr>
            <a:spLocks xmlns:a="http://schemas.openxmlformats.org/drawingml/2006/main" noGrp="1"/>
          </p:cNvSpPr>
          <p:nvPr/>
        </p:nvSpPr>
        <p:spPr>
          <a:xfrm xmlns:a="http://schemas.openxmlformats.org/drawingml/2006/main">
            <a:off x="74295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실험 자료: 제출 논문 및 저장 실험 결과</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기관 마크: 경기대학교 공식 홈페이지</a:t>
            </a:r>
          </a:p>
        </p:txBody>
      </p:sp>
    </p:spTree>
    <p:extLst>
      <p:ext uri="{BB962C8B-B14F-4D97-AF65-F5344CB8AC3E}">
        <p14:creationId xmlns:p14="http://schemas.microsoft.com/office/powerpoint/2010/main" val="817103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2026-10-20T05:19:14.4290000Z</dcterms:created>
  <dcterms:modified xsi:type="dcterms:W3CDTF">2026-10-20T05:19:14.4290000Z</dcterms:modified>
</coreProperties>
</file>