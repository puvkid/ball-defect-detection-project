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a257c6c2264d85" /><Relationship Type="http://schemas.openxmlformats.org/officeDocument/2006/relationships/extended-properties" Target="/docProps/app.xml" Id="R063be0e9fc1d49d0" /><Relationship Type="http://schemas.openxmlformats.org/officeDocument/2006/relationships/officeDocument" Target="/ppt/presentation.xml" Id="Rf2ccaa4936154bb6" /></Relationships>
</file>

<file path=ppt/presentation.xml><?xml version="1.0" encoding="utf-8"?>
<p:presentation xmlns:p="http://schemas.openxmlformats.org/presentationml/2006/main">
  <p:sldMasterIdLst>
    <p:sldMasterId xmlns:r="http://schemas.openxmlformats.org/officeDocument/2006/relationships" id="2147483648" r:id="R840384bf939c4828"/>
  </p:sldMasterIdLst>
  <p:notesMasterIdLst>
    <p:notesMasterId xmlns:r="http://schemas.openxmlformats.org/officeDocument/2006/relationships" r:id="R0bd598c5506048ef"/>
  </p:notesMasterIdLst>
  <p:sldIdLst>
    <p:sldId xmlns:r="http://schemas.openxmlformats.org/officeDocument/2006/relationships" id="256" r:id="Rccb55932b82249d4"/>
    <p:sldId xmlns:r="http://schemas.openxmlformats.org/officeDocument/2006/relationships" id="257" r:id="Raa945f1349c1482f"/>
    <p:sldId xmlns:r="http://schemas.openxmlformats.org/officeDocument/2006/relationships" id="258" r:id="Rdfd777ef0dcb4487"/>
    <p:sldId xmlns:r="http://schemas.openxmlformats.org/officeDocument/2006/relationships" id="259" r:id="R378300c68e0d46cb"/>
    <p:sldId xmlns:r="http://schemas.openxmlformats.org/officeDocument/2006/relationships" id="260" r:id="R8d84fd775d12447b"/>
    <p:sldId xmlns:r="http://schemas.openxmlformats.org/officeDocument/2006/relationships" id="261" r:id="R61a0fe76b65047fa"/>
    <p:sldId xmlns:r="http://schemas.openxmlformats.org/officeDocument/2006/relationships" id="262" r:id="Rf1da44a622a1402c"/>
    <p:sldId xmlns:r="http://schemas.openxmlformats.org/officeDocument/2006/relationships" id="263" r:id="R637d6de57f794b5d"/>
    <p:sldId xmlns:r="http://schemas.openxmlformats.org/officeDocument/2006/relationships" id="264" r:id="Rec7c67512f0b4dfd"/>
    <p:sldId xmlns:r="http://schemas.openxmlformats.org/officeDocument/2006/relationships" id="265" r:id="R8aada71f20ad48fb"/>
    <p:sldId xmlns:r="http://schemas.openxmlformats.org/officeDocument/2006/relationships" id="266" r:id="R3549c011bb964984"/>
    <p:sldId xmlns:r="http://schemas.openxmlformats.org/officeDocument/2006/relationships" id="267" r:id="R69c9a6409b8f4339"/>
    <p:sldId xmlns:r="http://schemas.openxmlformats.org/officeDocument/2006/relationships" id="268" r:id="Rc586ec06f12f436d"/>
    <p:sldId xmlns:r="http://schemas.openxmlformats.org/officeDocument/2006/relationships" id="269" r:id="R6b9e2a140661447c"/>
    <p:sldId xmlns:r="http://schemas.openxmlformats.org/officeDocument/2006/relationships" id="270" r:id="R4036c38f53274960"/>
    <p:sldId xmlns:r="http://schemas.openxmlformats.org/officeDocument/2006/relationships" id="271" r:id="R02b673265a9c46d3"/>
    <p:sldId xmlns:r="http://schemas.openxmlformats.org/officeDocument/2006/relationships" id="272" r:id="R4fdf061cc9b740ed"/>
    <p:sldId xmlns:r="http://schemas.openxmlformats.org/officeDocument/2006/relationships" id="273" r:id="Rd6bd3311cc754140"/>
    <p:sldId xmlns:r="http://schemas.openxmlformats.org/officeDocument/2006/relationships" id="274" r:id="Rf17b224fcee44ca6"/>
    <p:sldId xmlns:r="http://schemas.openxmlformats.org/officeDocument/2006/relationships" id="275" r:id="R2f4cf21a333f46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c63ad995d344eb" /><Relationship Type="http://schemas.openxmlformats.org/officeDocument/2006/relationships/slideMaster" Target="/ppt/slideMasters/slideMaster1.xml" Id="R840384bf939c4828" /><Relationship Type="http://schemas.openxmlformats.org/officeDocument/2006/relationships/notesMaster" Target="/ppt/notesMasters/notesMaster1.xml" Id="R0bd598c5506048ef" /><Relationship Type="http://schemas.openxmlformats.org/officeDocument/2006/relationships/presProps" Target="/ppt/presProps.xml" Id="Refbabdab15864328" /><Relationship Type="http://schemas.openxmlformats.org/officeDocument/2006/relationships/tableStyles" Target="/ppt/tableStyles.xml" Id="R4eb2af9dfc6348f2" /><Relationship Type="http://schemas.openxmlformats.org/officeDocument/2006/relationships/slide" Target="/ppt/slides/slide1.xml" Id="Rccb55932b82249d4" /><Relationship Type="http://schemas.openxmlformats.org/officeDocument/2006/relationships/slide" Target="/ppt/slides/slide2.xml" Id="Raa945f1349c1482f" /><Relationship Type="http://schemas.openxmlformats.org/officeDocument/2006/relationships/slide" Target="/ppt/slides/slide3.xml" Id="Rdfd777ef0dcb4487" /><Relationship Type="http://schemas.openxmlformats.org/officeDocument/2006/relationships/slide" Target="/ppt/slides/slide4.xml" Id="R378300c68e0d46cb" /><Relationship Type="http://schemas.openxmlformats.org/officeDocument/2006/relationships/slide" Target="/ppt/slides/slide5.xml" Id="R8d84fd775d12447b" /><Relationship Type="http://schemas.openxmlformats.org/officeDocument/2006/relationships/slide" Target="/ppt/slides/slide6.xml" Id="R61a0fe76b65047fa" /><Relationship Type="http://schemas.openxmlformats.org/officeDocument/2006/relationships/slide" Target="/ppt/slides/slide7.xml" Id="Rf1da44a622a1402c" /><Relationship Type="http://schemas.openxmlformats.org/officeDocument/2006/relationships/slide" Target="/ppt/slides/slide8.xml" Id="R637d6de57f794b5d" /><Relationship Type="http://schemas.openxmlformats.org/officeDocument/2006/relationships/slide" Target="/ppt/slides/slide9.xml" Id="Rec7c67512f0b4dfd" /><Relationship Type="http://schemas.openxmlformats.org/officeDocument/2006/relationships/slide" Target="/ppt/slides/slide10.xml" Id="R8aada71f20ad48fb" /><Relationship Type="http://schemas.openxmlformats.org/officeDocument/2006/relationships/slide" Target="/ppt/slides/slide11.xml" Id="R3549c011bb964984" /><Relationship Type="http://schemas.openxmlformats.org/officeDocument/2006/relationships/slide" Target="/ppt/slides/slide12.xml" Id="R69c9a6409b8f4339" /><Relationship Type="http://schemas.openxmlformats.org/officeDocument/2006/relationships/slide" Target="/ppt/slides/slide13.xml" Id="Rc586ec06f12f436d" /><Relationship Type="http://schemas.openxmlformats.org/officeDocument/2006/relationships/slide" Target="/ppt/slides/slide14.xml" Id="R6b9e2a140661447c" /><Relationship Type="http://schemas.openxmlformats.org/officeDocument/2006/relationships/slide" Target="/ppt/slides/slide15.xml" Id="R4036c38f53274960" /><Relationship Type="http://schemas.openxmlformats.org/officeDocument/2006/relationships/slide" Target="/ppt/slides/slide16.xml" Id="R02b673265a9c46d3" /><Relationship Type="http://schemas.openxmlformats.org/officeDocument/2006/relationships/slide" Target="/ppt/slides/slide17.xml" Id="R4fdf061cc9b740ed" /><Relationship Type="http://schemas.openxmlformats.org/officeDocument/2006/relationships/slide" Target="/ppt/slides/slide18.xml" Id="Rd6bd3311cc754140" /><Relationship Type="http://schemas.openxmlformats.org/officeDocument/2006/relationships/slide" Target="/ppt/slides/slide19.xml" Id="Rf17b224fcee44ca6" /><Relationship Type="http://schemas.openxmlformats.org/officeDocument/2006/relationships/slide" Target="/ppt/slides/slide20.xml" Id="R2f4cf21a333f46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ae1d1bd442d45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a35a7c84f94c6c" /><Relationship Type="http://schemas.openxmlformats.org/officeDocument/2006/relationships/notesMaster" Target="/ppt/notesMasters/notesMaster1.xml" Id="R918f99a607654e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8610f6f8b8437a" /><Relationship Type="http://schemas.openxmlformats.org/officeDocument/2006/relationships/notesMaster" Target="/ppt/notesMasters/notesMaster1.xml" Id="Re3d2a34c98cf4f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3cb4bc86cb497e" /><Relationship Type="http://schemas.openxmlformats.org/officeDocument/2006/relationships/notesMaster" Target="/ppt/notesMasters/notesMaster1.xml" Id="Red682246f23e40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c7a3cea78540f1" /><Relationship Type="http://schemas.openxmlformats.org/officeDocument/2006/relationships/notesMaster" Target="/ppt/notesMasters/notesMaster1.xml" Id="R90afc92bf1c54dd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dce246647d4402" /><Relationship Type="http://schemas.openxmlformats.org/officeDocument/2006/relationships/notesMaster" Target="/ppt/notesMasters/notesMaster1.xml" Id="Rbcd0ab0f939548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b60f39987c14914" /><Relationship Type="http://schemas.openxmlformats.org/officeDocument/2006/relationships/notesMaster" Target="/ppt/notesMasters/notesMaster1.xml" Id="R5e3c0fed92594f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d215f4d9ec4d1c" /><Relationship Type="http://schemas.openxmlformats.org/officeDocument/2006/relationships/notesMaster" Target="/ppt/notesMasters/notesMaster1.xml" Id="Rca3e32ae9e8f43a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b82fe63d6442f8" /><Relationship Type="http://schemas.openxmlformats.org/officeDocument/2006/relationships/notesMaster" Target="/ppt/notesMasters/notesMaster1.xml" Id="R71b8741db7ca4a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fd61d8026d164e7c" /><Relationship Type="http://schemas.openxmlformats.org/officeDocument/2006/relationships/notesMaster" Target="/ppt/notesMasters/notesMaster1.xml" Id="R4adcc4fa20124a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4b98dba32c143b8" /><Relationship Type="http://schemas.openxmlformats.org/officeDocument/2006/relationships/notesMaster" Target="/ppt/notesMasters/notesMaster1.xml" Id="Red378c5c8ee540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db63befdc9452c" /><Relationship Type="http://schemas.openxmlformats.org/officeDocument/2006/relationships/notesMaster" Target="/ppt/notesMasters/notesMaster1.xml" Id="R26e1badf8a3f429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289785e87554b13" /><Relationship Type="http://schemas.openxmlformats.org/officeDocument/2006/relationships/notesMaster" Target="/ppt/notesMasters/notesMaster1.xml" Id="R9bae44c72aa5497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56850f9f0664f18" /><Relationship Type="http://schemas.openxmlformats.org/officeDocument/2006/relationships/notesMaster" Target="/ppt/notesMasters/notesMaster1.xml" Id="Rd00ef6664c2740e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127934d84e9422d" /><Relationship Type="http://schemas.openxmlformats.org/officeDocument/2006/relationships/notesMaster" Target="/ppt/notesMasters/notesMaster1.xml" Id="Rc79e7b372638435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3f2988207be4977" /><Relationship Type="http://schemas.openxmlformats.org/officeDocument/2006/relationships/notesMaster" Target="/ppt/notesMasters/notesMaster1.xml" Id="R29ac5032c77b4e4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674788769bc4f4b" /><Relationship Type="http://schemas.openxmlformats.org/officeDocument/2006/relationships/notesMaster" Target="/ppt/notesMasters/notesMaster1.xml" Id="Rf4dff15cf0944ae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67a204711004759" /><Relationship Type="http://schemas.openxmlformats.org/officeDocument/2006/relationships/notesMaster" Target="/ppt/notesMasters/notesMaster1.xml" Id="R939034d02b4d4f6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cbdb85d46134c83" /><Relationship Type="http://schemas.openxmlformats.org/officeDocument/2006/relationships/notesMaster" Target="/ppt/notesMasters/notesMaster1.xml" Id="R2827e047cbe5401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dd088eb1b074306" /><Relationship Type="http://schemas.openxmlformats.org/officeDocument/2006/relationships/notesMaster" Target="/ppt/notesMasters/notesMaster1.xml" Id="Rd1db900d34ab449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8e4d89916bf4882" /><Relationship Type="http://schemas.openxmlformats.org/officeDocument/2006/relationships/notesMaster" Target="/ppt/notesMasters/notesMaster1.xml" Id="R01973c29dc0843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안녕하십니까. 경기대학교 컴퓨터과학과 곽윤석입니다. YOLOv8n 기반 볼 검출을 위한 단일 및 복합 전처리 필터의 성능 비교를 발표하겠습니다. 현장에서 영상 조건이 달라질 때 필터 적용 후에도 성능이 유지되는지, 어떤 필터와 조합이 유리한지를 실제 영상과 정량 결과로 설명하겠습니다.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현장의 조명이나 촬영 조건에 따라 영상의 밝기, 대비, 잡음과 경계 표현이 달라질 수 있습니다. 하나의 필터가 모든 입력에 유리하다고 가정하기 어렵기 때문에, 서로 다른 변환에서 검출 성능을 비교했습니다. 연구 질문은 성능 유지 여부, 단일 필터의 상대적 성능, 그리고 조합의 구성 필터 대비 개선 여부입니다. 평가 범위는 일반 영상과 합성 가우시안 잡음이며, 현장의 모든 변화를 포괄하지는 않습니다.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사용한 자료는 가로 이천구백사십사, 세로 이천삼백오십이 화소의 회색조 영상 오백 장과 볼 경계 상자 주석입니다. 별도로 수집한 외부 시험 자료 없이 기존 학습 및 검증 영상을 재분할했습니다. 유사 영상이 학습과 외부 평가에 동시에 들어가는 문제를 줄이기 위해, 축소 영상 사이의 평균 절대차를 기준으로 삼백육십팔 개의 그룹을 구성했습니다. 외부 평가는 이 그룹 단위의 오 겹 교차검증으로 수행했으며, 외부 평가 그룹과 나머지 자료 사이의 중복은 없었습니다. 각 영상은 자신을 학습에 사용하지 않은 모델로 평가했습니다. 다만 내부 학습과 검증 사이에는 아홉 개에서 스무 개의 그룹이 중복되어, 모델 선택 과정의 독립성에는 제한이 남습니다.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입력 영상 출처: DataSet/images/train/1001.png, 원본 밝기·비율 유지. 예측 결과가 아닌 원본 입력 영상.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이제 실제 연구 코드에서 저장한 동일 영상의 변환 예시를 보시겠습니다. Original은 전처리하지 않은 입력이고, Invert는 밝기값을 반전합니다. Otsu Threshold는 히스토그램에서 자동으로 정한 임계값으로 이진화합니다. 사진은 변환 효과를 설명하는 한 장의 예시이며, 이후 성능 수치는 전체 오백 장의 평가 결과입니다.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2026-2:/root/추계학술대회/yolo_filter_samples/original_example.png</a:t>
            </a:r>
          </a:p>
          <a:p xmlns:a="http://schemas.openxmlformats.org/drawingml/2006/main">
            <a:r>
              <a:t>SHA-256: 124eb9541afa8e3147d2211a25c83c2a6c8ef4bf0cad612249ca4a241daa4b1b</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2026-2:/root/추계학술대회/yolo_filter_samples/invert_example.png</a:t>
            </a:r>
          </a:p>
          <a:p xmlns:a="http://schemas.openxmlformats.org/drawingml/2006/main">
            <a:r>
              <a:t>SHA-256: b213194cf4211feafe7163b8969d49c835eba47e242fb1ac12b3a11d79802178</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2026-2:/root/추계학술대회/yolo_filter_samples/otsu_threshold_example.png</a:t>
            </a:r>
          </a:p>
          <a:p xmlns:a="http://schemas.openxmlformats.org/drawingml/2006/main">
            <a:r>
              <a:t>SHA-256: 76749449341e7bf4ba32be970066d2e83b227adcaa527b3769ddc7374b49dd35</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Solarize는 이번 구현에서 영상의 평균 밝기보다 큰 값만 반전합니다. Histogram Equalization은 전체 밝기 분포를 변환하고, CLAHE는 영역별 대비를 조정합니다. CLAHE의 clip limit은 사십, 격자는 십육 곱하기 십육입니다. 서로 다른 영상 표현이 만들어지는 것을 확인할 수 있습니다.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2026-2:/root/추계학술대회/yolo_filter_samples/solarize_example.png</a:t>
            </a:r>
          </a:p>
          <a:p xmlns:a="http://schemas.openxmlformats.org/drawingml/2006/main">
            <a:r>
              <a:t>SHA-256: 6b47ea7beeaa591e8659fe39bdcb3d88b367151f14f005f616a2f99764065bf0</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2026-2:/root/추계학술대회/yolo_filter_samples/histogram_equalization_example.png</a:t>
            </a:r>
          </a:p>
          <a:p xmlns:a="http://schemas.openxmlformats.org/drawingml/2006/main">
            <a:r>
              <a:t>SHA-256: c1306240f653c00e29ab77d626ff4f995197151352edbbc83689b0106af361a9</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2026-2:/root/추계학술대회/yolo_filter_samples/clahe__max_example.png</a:t>
            </a:r>
          </a:p>
          <a:p xmlns:a="http://schemas.openxmlformats.org/drawingml/2006/main">
            <a:r>
              <a:t>SHA-256: fc5b827e16f0a300acb88c8953e01b7c63c07d520e32113cc35c3de1bcebf99b</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Gamma는 영부터 일로 정규화한 밝기값을 영점 삼 제곱한 결과입니다. Gaussian Blur는 표준편차 이십 화소, 백이십일 곱하기 백이십일 커널로 평활화합니다. Sobel Edges는 경계 응답을 계산한 뒤 최댓값으로 정규화하고 제곱근을 적용합니다. 일반적인 필터 이름만이 아니라 실제 구현과 고정 파라미터를 기준으로 비교했습니다.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2026-2:/root/추계학술대회/yolo_filter_samples/gamma_0_3_example.png</a:t>
            </a:r>
          </a:p>
          <a:p xmlns:a="http://schemas.openxmlformats.org/drawingml/2006/main">
            <a:r>
              <a:t>SHA-256: e444caf6e27f565cdb2a9f9183115e2c89bc29585e06c4678378325c0a31f885</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2026-2:/root/추계학술대회/yolo_filter_samples/gaussian_blur__max_example.png</a:t>
            </a:r>
          </a:p>
          <a:p xmlns:a="http://schemas.openxmlformats.org/drawingml/2006/main">
            <a:r>
              <a:t>SHA-256: b29607d384d2d4a7ced2addcabc8cc48f069a08ec35fd0ac10d6760725be2b89</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2026-2:/root/추계학술대회/yolo_filter_samples/sobel_edges_example.png</a:t>
            </a:r>
          </a:p>
          <a:p xmlns:a="http://schemas.openxmlformats.org/drawingml/2006/main">
            <a:r>
              <a:t>SHA-256: 46e27b544f0967ef822ca714dcf5cf7b03f2ab192e42fae1a5e3c3af95fecc15</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Emboss는 방향성 합성곱 응답에 gain 사를 적용하고 밝기 범위를 제한합니다. Unsharp는 표준편차 이의 평활화 영상과 원본의 차이를 여덟 배 가산합니다. 원본 사진을 함께 배치하여 변환 효과를 비교했습니다. 사진에 보이는 차이가 검출 성능의 향상을 바로 뜻하지는 않습니다.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2026-2:/root/추계학술대회/yolo_filter_samples/emboss_example.png</a:t>
            </a:r>
          </a:p>
          <a:p xmlns:a="http://schemas.openxmlformats.org/drawingml/2006/main">
            <a:r>
              <a:t>SHA-256: 3431315e5c702063ab56f996df32fbd016986b05286f16736e597bed45070a37</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2026-2:/root/추계학술대회/yolo_filter_samples/unsharp__max_example.png</a:t>
            </a:r>
          </a:p>
          <a:p xmlns:a="http://schemas.openxmlformats.org/drawingml/2006/main">
            <a:r>
              <a:t>SHA-256: eadd64b09e3eab92a9c162af40fe1fc470a8986b2b9f38c580d7830f8afebe6b</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2026-2:/root/추계학술대회/yolo_filter_samples/original_example.png</a:t>
            </a:r>
          </a:p>
          <a:p xmlns:a="http://schemas.openxmlformats.org/drawingml/2006/main">
            <a:r>
              <a:t>SHA-256: 124eb9541afa8e3147d2211a25c83c2a6c8ef4bf0cad612249ca4a241daa4b1b</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복합 필터는 앞의 변환 결과에 뒤의 변환을 순차 적용합니다. Invert+CLAHE는 반전 후 지역 대비 조정, Blur+Otsu는 평활화 후 이진화, Sobel+Invert는 경계 표현 후 반전입니다. 가능한 모든 조합이나 역순을 평가한 것은 아니며, 이름에 표시한 적용 순서를 유지했습니다.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2026-2:/root/추계학술대회/yolo_filter_samples/invert_clahe_example.png</a:t>
            </a:r>
          </a:p>
          <a:p xmlns:a="http://schemas.openxmlformats.org/drawingml/2006/main">
            <a:r>
              <a:t>SHA-256: 04562ff80be4291bd36b4a97c6458228587153788b721fb69d888660c7aa113d</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2026-2:/root/추계학술대회/yolo_filter_samples/blur_otsu_example.png</a:t>
            </a:r>
          </a:p>
          <a:p xmlns:a="http://schemas.openxmlformats.org/drawingml/2006/main">
            <a:r>
              <a:t>SHA-256: 51e25a583014106f5fe9c7185d535484d2f52c6bf3b39a30ce479b414b39c8a4</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2026-2:/root/추계학술대회/yolo_filter_samples/sobel_invert_example.png</a:t>
            </a:r>
          </a:p>
          <a:p xmlns:a="http://schemas.openxmlformats.org/drawingml/2006/main">
            <a:r>
              <a:t>SHA-256: 4f2aa74bf066830a661ffdbff327960cd588b7332630144ca189fe6437b9a5d3</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나머지 조합은 Histogram Equalization 뒤에 Emboss를 적용하는 HistEq+Emboss와 Unsharp 뒤에 Sobel을 적용하는 Unsharp+Sobel입니다. 원본과 비교하면 각 단계가 입력 표현을 추가로 바꾸는 것을 볼 수 있습니다. 이러한 변화의 유효성은 구성 필터 대비 성능으로 확인하겠습니다.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2026-2:/root/추계학술대회/yolo_filter_samples/histeq_emboss_example.png</a:t>
            </a:r>
          </a:p>
          <a:p xmlns:a="http://schemas.openxmlformats.org/drawingml/2006/main">
            <a:r>
              <a:t>SHA-256: 8ff6f57255804774589976eed30d2478e89b3fb44ad43bc71d39d304e07836d8</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2026-2:/root/추계학술대회/yolo_filter_samples/unsharp_sobel_example.png</a:t>
            </a:r>
          </a:p>
          <a:p xmlns:a="http://schemas.openxmlformats.org/drawingml/2006/main">
            <a:r>
              <a:t>SHA-256: 0fbaa487e47d4ea604244630224c581e7effc68c5b8e42f66b72024a9301396f</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2026-2:/root/추계학술대회/yolo_filter_samples/original_example.png</a:t>
            </a:r>
          </a:p>
          <a:p xmlns:a="http://schemas.openxmlformats.org/drawingml/2006/main">
            <a:r>
              <a:t>SHA-256: 124eb9541afa8e3147d2211a25c83c2a6c8ef4bf0cad612249ca4a241daa4b1b</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전처리와 영상 조건마다 YOLOv8n을 별도로 학습하고, 학습과 평가에 같은 전처리를 적용했습니다. 공통 설정은 최대 삼십 에폭, 입력 크기 천이백팔십, 배치 여덟, 조기 종료 patience 십오입니다. 주 지표인 mAP50-95는 IoU 영점 오부터 영점 구오까지의 평균 정밀도를 종합하고, 외부 평가 다섯 폴드의 평균으로 보고했습니다. 보조 지표인 엄격 검출 정확도는 중심점 기반 일대일 대응에서 누락과 추가 검출이 모두 없는 영상의 비율입니다. 두 지표는 대응 기준뿐 아니라 confidence와 NMS 임계값도 다릅니다. 따라서 숫자를 같은 의미의 정확도로 비교하지 않고, 각각 객체 수준의 검출 성능과 영상 단위 검출 완전성의 관점에서 해석합니다.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일반 영상의 단일 시드 결과입니다. 원본 영상의 mAP50-95는 구십육 점 오삼 퍼센트였으며, Gamma 0.3이 구십육 점 칠공 퍼센트로 가장 높았습니다. 그러나 차이는 영점 일칠 퍼센트포인트로 작습니다. 일반 영상의 Gamma 조건을 여러 시드로 반복하지 않았으므로, 이 결과만으로 안정적인 우월성을 단정하기는 어렵습니다. 단일 필터 열 종 중 아홉 종은 구십삼 점 삼칠 퍼센트 이상을 보였습니다. 반면 Otsu Threshold는 육십 점 사육 퍼센트에 그쳐, 이번 이진화 설정에서는 원본에 가까운 검출 성능이 유지되지 않았습니다. 따라서 모든 변환에서 동일하게 성능이 유지되지는 않았습니다.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복합 필터 중 가장 높은 mAP50-95는 Invert+CLAHE의 구십오 점 칠오 퍼센트입니다. 다만 Original의 구십육 점 오삼 퍼센트보다 낮고, 구성 필터인 CLAHE 단독의 구십오 점 구팔 퍼센트에도 미치지 못했습니다. 각 조합을 더 우수한 구성 필터의 결과와 비교했습니다. 평가한 다섯 조합 모두 더 우수한 구성 필터의 mAP를 넘지 못했습니다. 특히 Blur+Otsu는 오십구 점 오팔 퍼센트로 낮았습니다. 따라서 이번 조건에서는 두 변환을 순차적으로 적용하는 것만으로 객체 수준 성능이 개선되지는 않았습니다. 결론은 평가한 다섯 가지 순서와 고정 파라미터에 한정합니다.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일반 영상의 엄격 검출 정확도는 CLAHE 단독이 구십육 점 사 퍼센트로 단일 필터 중 가장 높았습니다. 반면 mAP는 Gamma가 가장 높았습니다. Invert+CLAHE의 엄격 검출 정확도는 구십팔 퍼센트로, CLAHE보다 일점 육 퍼센트포인트 높았지만 mAP는 낮았습니다. 두 지표는 대응 기준과 추론 임계값이 달라 서로 다른 정보를 제공합니다. 구십팔 퍼센트라는 단일 결과의 재현성은 뒤에서 반복 평가로 확인하겠습니다.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표준편차 사십의 잡음을 추가한 실제 저장 예시입니다. 왼쪽은 잡음 입력, 가운데는 그 입력에 Gaussian Blur를, 오른쪽은 Emboss를 적용한 결과입니다. 사진은 동일 원장면의 시각화 예시이며, 이후 정량 수치는 전체 평가 영상에서 계산했습니다.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2026-2:/root/추계학술대회/yolo_filter_samples/noise_std_40_example.png</a:t>
            </a:r>
          </a:p>
          <a:p xmlns:a="http://schemas.openxmlformats.org/drawingml/2006/main">
            <a:r>
              <a:t>SHA-256: f7417be81b66576ec8beb41fb186b8a63b66400d8ab9c0cea05736c32c45a2d3</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2026-2:/root/추계학술대회/yolo_filter_samples/gaussian_blur__max____noise_40_example.png</a:t>
            </a:r>
          </a:p>
          <a:p xmlns:a="http://schemas.openxmlformats.org/drawingml/2006/main">
            <a:r>
              <a:t>SHA-256: e3915505a0152e6e505d2913954e1665e58e3daf099849e82de0651e7be8ef97</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2026-2:/root/추계학술대회/yolo_filter_samples/emboss___noise_40_example.png</a:t>
            </a:r>
          </a:p>
          <a:p xmlns:a="http://schemas.openxmlformats.org/drawingml/2006/main">
            <a:r>
              <a:t>SHA-256: 99ab9bb5c18afd8455e68d7b150c9ce1d2a4739679847cb387da29f458634b51</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표준편차 팔십에서는 잡음이 더 강합니다. 밝기값에 잡음을 더하고 영부터 이백오십오 사이로 제한한 뒤 필터를 적용했습니다. 평활화와 경계 응답의 차이가 보이지만, 사진의 외관만으로 성능을 판단하지 않고 전체 영상의 지표를 비교하겠습니다.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2026-2:/root/추계학술대회/yolo_filter_samples/noise_std_80_example.png</a:t>
            </a:r>
          </a:p>
          <a:p xmlns:a="http://schemas.openxmlformats.org/drawingml/2006/main">
            <a:r>
              <a:t>SHA-256: 78681c74c655d0fff8b3b6a86504e3719c4f5ec961513c99a0a24aab0d442394</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2026-2:/root/추계학술대회/yolo_filter_samples/gaussian_blur__max____noise_80_example.png</a:t>
            </a:r>
          </a:p>
          <a:p xmlns:a="http://schemas.openxmlformats.org/drawingml/2006/main">
            <a:r>
              <a:t>SHA-256: 2f19ba545c499253e627228fd378988f38498a9f2c0f3adc71d8f3d5f264ee5d</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2026-2:/root/추계학술대회/yolo_filter_samples/emboss___noise_80_example.png</a:t>
            </a:r>
          </a:p>
          <a:p xmlns:a="http://schemas.openxmlformats.org/drawingml/2006/main">
            <a:r>
              <a:t>SHA-256: 10b72af7e9d0b3ce4ddf74004411aa5304876758f30d06661872b439178d5fd9</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화면은 일반 영상과 잡음 표준편차 사십, 팔십에서 전체 단일 필터의 mAP를 비교한 결과입니다. Gaussian Blur는 잡음 사십에서 팔십팔 점 칠구 퍼센트, 잡음 팔십에서 팔십이 점 구사 퍼센트로 가장 높았습니다. 일반 영상에서는 원본보다 낮았지만, 잡음이 있는 조건에서는 상대적으로 유리했습니다. 반대로 Emboss는 일반 영상에서 구십육 점 영육 퍼센트였으나, 잡음 사십과 팔십에서 각각 영점 팔칠과 영점 영팔 퍼센트로 크게 감소했습니다. 이 대비는 일반 영상에서 좋은 필터도 입력 조건이 달라지면 성능을 유지하지 못할 수 있음을 보여줍니다. 복합 필터의 잡음 조건은 이번 비교에 포함하지 않았습니다.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주요 후보는 시드 사십이, 사십삼, 사십사에서 반복했습니다. 화면의 각 점은 시드별 결과이며, 함께 제시한 값은 세 시드 평균과 표본 표준편차입니다. 일반 영상에서 Invert+CLAHE의 엄격 검출 정확도는 구십오 점 사칠 플러스마이너스 이점 이칠 퍼센트였습니다. Original은 구십오 점 사공 플러스마이너스 영점 오삼 퍼센트로, 평균 차이는 영점 영칠 퍼센트포인트에 그쳤습니다. 단일 시드의 구십팔 퍼센트가 일관된 향상으로 이어지지 않은 것입니다. 반면 잡음 팔십에서 Gaussian Blur의 mAP는 팔십이 점 팔육 플러스마이너스 영점 영팔 퍼센트로, Original의 칠십구 점 육공보다 세 시드 모두 높았습니다. 다만 시드마다 분할과 잡음 실현도 함께 바뀌었으므로, 변동 전체를 학습 난수 하나의 영향으로 해석하지는 않습니다.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결과의 해석에는 세 가지 제한이 있습니다. 우선 조건마다 모델을 다시 학습했으므로, 하나의 고정 모델이 미지의 현장 영상에 그대로 대응한다는 근거는 아닙니다. 또한 외부 평가 그룹은 분리했지만 내부 검증에는 유사 그룹의 중복이 남았습니다. 마지막으로 전체 후보의 다중 시드 반복과 복합 필터의 잡음 조건 평가는 수행하지 않았습니다. 후속 연구에서는 내부 분할도 그룹 단위로 분리하고, 촬영 로트가 다른 독립 자료로 검증할 필요가 있습니다. 이 범위를 명확히 한 상태에서 필터 선택의 기준으로 결과를 활용하고자 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일반 영상의 단일 시드에서는 Gamma, 합성 잡음 조건에서는 Gaussian Blur가 가장 높은 mAP를 보였습니다. 평가한 다섯 조합은 더 우수한 구성 필터의 mAP를 넘지 못했습니다. 따라서 영상 조건과 평가 지표를 구분하여 필터를 선택해야 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이상으로 발표를 마치겠습니다. 경청해 주셔서 감사합니다.</a:t>
            </a:r>
          </a:p>
          <a:p xmlns:a="http://schemas.openxmlformats.org/drawingml/2006/main">
            <a:r>
              <a:t/>
            </a:r>
          </a:p>
          <a:p xmlns:a="http://schemas.openxmlformats.org/drawingml/2006/main">
            <a:r>
              <a:t>[출처]</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f4cbc565df4b1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935d511c2a2424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a4fa8128d0d4d6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c9fe75037784f0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d9d4e3dd6d64db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15c230db81d47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D2FC75-4844-4796-9E45-F65BC9B3383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230F3CD-24FD-4C45-8190-53D92A0059F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F4027DB-70A2-4387-A511-864FCA09F29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B9CB29-C3BA-4130-BCF6-12693EAD58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C2983CC-6AB6-47A4-8946-7F26B064E68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F89A11D-6D55-455A-B076-EE2527417B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D3015F-4059-4ED2-9E7C-FF366AA63DE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D9BE3B4-C58B-4EC5-B697-03BDF1BC0E7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5EC11D-6679-4B06-8FA4-556543F1053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CF7E80-0E4F-4598-8F44-FEDB257B5C4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c011f7a32040c0" /><Relationship Type="http://schemas.openxmlformats.org/officeDocument/2006/relationships/slideLayout" Target="/ppt/slideLayouts/slideLayout1.xml" Id="R4dfff801a3e94484" /><Relationship Type="http://schemas.openxmlformats.org/officeDocument/2006/relationships/slideLayout" Target="/ppt/slideLayouts/slideLayout2.xml" Id="Rbc545133c0c147e7" /><Relationship Type="http://schemas.openxmlformats.org/officeDocument/2006/relationships/slideLayout" Target="/ppt/slideLayouts/slideLayout3.xml" Id="Rdaa070fcc9e04c82" /><Relationship Type="http://schemas.openxmlformats.org/officeDocument/2006/relationships/slideLayout" Target="/ppt/slideLayouts/slideLayout4.xml" Id="R7096f2641f2f4ffe" /><Relationship Type="http://schemas.openxmlformats.org/officeDocument/2006/relationships/slideLayout" Target="/ppt/slideLayouts/slideLayout5.xml" Id="R65e4500d4cef4615" /><Relationship Type="http://schemas.openxmlformats.org/officeDocument/2006/relationships/slideLayout" Target="/ppt/slideLayouts/slideLayout6.xml" Id="R5e776edebbd641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fff801a3e94484"/>
    <p:sldLayoutId xmlns:r="http://schemas.openxmlformats.org/officeDocument/2006/relationships" id="2147483650" r:id="Rbc545133c0c147e7"/>
    <p:sldLayoutId xmlns:r="http://schemas.openxmlformats.org/officeDocument/2006/relationships" id="2147483651" r:id="Rdaa070fcc9e04c82"/>
    <p:sldLayoutId xmlns:r="http://schemas.openxmlformats.org/officeDocument/2006/relationships" id="2147483652" r:id="R7096f2641f2f4ffe"/>
    <p:sldLayoutId xmlns:r="http://schemas.openxmlformats.org/officeDocument/2006/relationships" id="2147483653" r:id="R65e4500d4cef4615"/>
    <p:sldLayoutId xmlns:r="http://schemas.openxmlformats.org/officeDocument/2006/relationships" id="2147483654" r:id="R5e776edebbd641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0354d9b2a094a03" /><Relationship Type="http://schemas.openxmlformats.org/officeDocument/2006/relationships/image" Target="/ppt/media/image.png" Id="Raaca64e906c94828" /><Relationship Type="http://schemas.openxmlformats.org/officeDocument/2006/relationships/notesSlide" Target="/ppt/notesSlides/notesSlide1.xml" Id="R400e4acc02d944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375681431434389" /><Relationship Type="http://schemas.openxmlformats.org/officeDocument/2006/relationships/notesSlide" Target="/ppt/notesSlides/notesSlide2.xml" Id="R543864b9e5b8429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5047e11b199460f" /><Relationship Type="http://schemas.openxmlformats.org/officeDocument/2006/relationships/image" Target="/ppt/media/image2.png" Id="R247fd13297934782" /><Relationship Type="http://schemas.openxmlformats.org/officeDocument/2006/relationships/notesSlide" Target="/ppt/notesSlides/notesSlide3.xml" Id="R05eabb1472964f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ecfcba5766c4ae1" /><Relationship Type="http://schemas.openxmlformats.org/officeDocument/2006/relationships/image" Target="/ppt/media/image3.png" Id="R51b01e03fe4e4153" /><Relationship Type="http://schemas.openxmlformats.org/officeDocument/2006/relationships/image" Target="/ppt/media/image4.png" Id="R2b7bffa412874c9f" /><Relationship Type="http://schemas.openxmlformats.org/officeDocument/2006/relationships/image" Target="/ppt/media/image5.png" Id="Rdb3e7796fbc5472e" /><Relationship Type="http://schemas.openxmlformats.org/officeDocument/2006/relationships/notesSlide" Target="/ppt/notesSlides/notesSlide4.xml" Id="R7ad1282c68534f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011c64d091d4490" /><Relationship Type="http://schemas.openxmlformats.org/officeDocument/2006/relationships/image" Target="/ppt/media/image6.png" Id="Rb5884ff955e44ea8" /><Relationship Type="http://schemas.openxmlformats.org/officeDocument/2006/relationships/image" Target="/ppt/media/image7.png" Id="R265c9a8c01404785" /><Relationship Type="http://schemas.openxmlformats.org/officeDocument/2006/relationships/image" Target="/ppt/media/image8.png" Id="R776c87b0a4f44424" /><Relationship Type="http://schemas.openxmlformats.org/officeDocument/2006/relationships/notesSlide" Target="/ppt/notesSlides/notesSlide5.xml" Id="R152eca2864eb42c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082b3d6ff90454d" /><Relationship Type="http://schemas.openxmlformats.org/officeDocument/2006/relationships/image" Target="/ppt/media/image9.png" Id="R5783997909214a0c" /><Relationship Type="http://schemas.openxmlformats.org/officeDocument/2006/relationships/image" Target="/ppt/media/image10.png" Id="R95e90c6e42414e91" /><Relationship Type="http://schemas.openxmlformats.org/officeDocument/2006/relationships/image" Target="/ppt/media/image11.png" Id="Ref41008878114b06" /><Relationship Type="http://schemas.openxmlformats.org/officeDocument/2006/relationships/notesSlide" Target="/ppt/notesSlides/notesSlide6.xml" Id="R369299b28c03407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4c75fa4124942da" /><Relationship Type="http://schemas.openxmlformats.org/officeDocument/2006/relationships/image" Target="/ppt/media/image12.png" Id="R1078e5256d1d4fa1" /><Relationship Type="http://schemas.openxmlformats.org/officeDocument/2006/relationships/image" Target="/ppt/media/image13.png" Id="Ree03333a9ef4480f" /><Relationship Type="http://schemas.openxmlformats.org/officeDocument/2006/relationships/image" Target="/ppt/media/image14.png" Id="Re5779199dcac4fac" /><Relationship Type="http://schemas.openxmlformats.org/officeDocument/2006/relationships/notesSlide" Target="/ppt/notesSlides/notesSlide7.xml" Id="R3ffc26d360914c4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7626d9de17940c9" /><Relationship Type="http://schemas.openxmlformats.org/officeDocument/2006/relationships/image" Target="/ppt/media/image15.png" Id="R0fe09e68eb4545da" /><Relationship Type="http://schemas.openxmlformats.org/officeDocument/2006/relationships/image" Target="/ppt/media/image16.png" Id="R65429ba9c7db4b2f" /><Relationship Type="http://schemas.openxmlformats.org/officeDocument/2006/relationships/image" Target="/ppt/media/image17.png" Id="R644cfd4b8e2c45e2" /><Relationship Type="http://schemas.openxmlformats.org/officeDocument/2006/relationships/notesSlide" Target="/ppt/notesSlides/notesSlide8.xml" Id="R1135d836940044f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ff9100c451d4b3c" /><Relationship Type="http://schemas.openxmlformats.org/officeDocument/2006/relationships/image" Target="/ppt/media/image18.png" Id="R0ba94a3ccba04d29" /><Relationship Type="http://schemas.openxmlformats.org/officeDocument/2006/relationships/image" Target="/ppt/media/image19.png" Id="R5b419587214a4229" /><Relationship Type="http://schemas.openxmlformats.org/officeDocument/2006/relationships/image" Target="/ppt/media/image20.png" Id="R81d192c4b23b4d90" /><Relationship Type="http://schemas.openxmlformats.org/officeDocument/2006/relationships/notesSlide" Target="/ppt/notesSlides/notesSlide9.xml" Id="R0e01d34d1c7b4b8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cb25d1da6af497d" /><Relationship Type="http://schemas.openxmlformats.org/officeDocument/2006/relationships/notesSlide" Target="/ppt/notesSlides/notesSlide10.xml" Id="R92ffe54f1e564a8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05d9d9a571341e0" /><Relationship Type="http://schemas.openxmlformats.org/officeDocument/2006/relationships/chart" Target="/ppt/slides/charts/chart1.xml" Id="R345a9e6848144ca4" /><Relationship Type="http://schemas.openxmlformats.org/officeDocument/2006/relationships/notesSlide" Target="/ppt/notesSlides/notesSlide11.xml" Id="R1a1b03b90e98455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1057c464bf94fde" /><Relationship Type="http://schemas.openxmlformats.org/officeDocument/2006/relationships/chart" Target="/ppt/slides/charts/chart2.xml" Id="Rcc9239de05cb400b" /><Relationship Type="http://schemas.openxmlformats.org/officeDocument/2006/relationships/notesSlide" Target="/ppt/notesSlides/notesSlide12.xml" Id="R489cf382223c40c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82b635afde84caa" /><Relationship Type="http://schemas.openxmlformats.org/officeDocument/2006/relationships/chart" Target="/ppt/slides/charts/chart3.xml" Id="R706467d92de7442d" /><Relationship Type="http://schemas.openxmlformats.org/officeDocument/2006/relationships/notesSlide" Target="/ppt/notesSlides/notesSlide13.xml" Id="R7f990dc1face4e9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50b5c93f3fa4f6e" /><Relationship Type="http://schemas.openxmlformats.org/officeDocument/2006/relationships/image" Target="/ppt/media/image21.png" Id="R0479a919598e4954" /><Relationship Type="http://schemas.openxmlformats.org/officeDocument/2006/relationships/image" Target="/ppt/media/image22.png" Id="R44323270140d4f87" /><Relationship Type="http://schemas.openxmlformats.org/officeDocument/2006/relationships/image" Target="/ppt/media/image23.png" Id="R042fecfe2b894d6d" /><Relationship Type="http://schemas.openxmlformats.org/officeDocument/2006/relationships/notesSlide" Target="/ppt/notesSlides/notesSlide14.xml" Id="Rd57dda41e830445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e038402b5e445ed" /><Relationship Type="http://schemas.openxmlformats.org/officeDocument/2006/relationships/image" Target="/ppt/media/image24.png" Id="R9c9b3ecd73634e6d" /><Relationship Type="http://schemas.openxmlformats.org/officeDocument/2006/relationships/image" Target="/ppt/media/image25.png" Id="Ra9fcdf3842d74bc2" /><Relationship Type="http://schemas.openxmlformats.org/officeDocument/2006/relationships/image" Target="/ppt/media/image26.png" Id="Refd96722165b4901" /><Relationship Type="http://schemas.openxmlformats.org/officeDocument/2006/relationships/notesSlide" Target="/ppt/notesSlides/notesSlide15.xml" Id="R852ef9be71ac4c9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53023ef82754cc7" /><Relationship Type="http://schemas.openxmlformats.org/officeDocument/2006/relationships/notesSlide" Target="/ppt/notesSlides/notesSlide16.xml" Id="Rf53da16ca613493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4a825bf69ef4f11" /><Relationship Type="http://schemas.openxmlformats.org/officeDocument/2006/relationships/chart" Target="/ppt/slides/charts/chart4.xml" Id="R1374bc0edc7146c2" /><Relationship Type="http://schemas.openxmlformats.org/officeDocument/2006/relationships/chart" Target="/ppt/slides/charts/chart5.xml" Id="Rd0a9bd2e63c84375" /><Relationship Type="http://schemas.openxmlformats.org/officeDocument/2006/relationships/notesSlide" Target="/ppt/notesSlides/notesSlide17.xml" Id="R3790459aa7c744f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bd4b63d19b14fd2" /><Relationship Type="http://schemas.openxmlformats.org/officeDocument/2006/relationships/notesSlide" Target="/ppt/notesSlides/notesSlide18.xml" Id="R756669abb4b8468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e28471a9f0341fb" /><Relationship Type="http://schemas.openxmlformats.org/officeDocument/2006/relationships/notesSlide" Target="/ppt/notesSlides/notesSlide19.xml" Id="R4b429e73c41a4a8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fb70fa25a8d401e" /><Relationship Type="http://schemas.openxmlformats.org/officeDocument/2006/relationships/image" Target="/ppt/media/image27.png" Id="R01afe57bd5b94886" /><Relationship Type="http://schemas.openxmlformats.org/officeDocument/2006/relationships/notesSlide" Target="/ppt/notesSlides/notesSlide20.xml" Id="R3af957dfb0194763" /></Relationships>
</file>

<file path=ppt/slides/charts/chart1.xml><?xml version="1.0" encoding="utf-8"?>
<c:chartSpace xmlns:c="http://schemas.openxmlformats.org/drawingml/2006/chart">
  <c:lang val="en-US"/>
  <c:chart>
    <c:plotArea>
      <c:barChart>
        <c:barDir val="bar"/>
        <c:grouping val="clustered"/>
        <c:varyColors val="0"/>
        <c:ser>
          <c:idx val="0"/>
          <c:order val="0"/>
          <c:tx>
            <c:v>mAP50-95</c:v>
          </c:tx>
          <c:spPr>
            <a:solidFill xmlns:a="http://schemas.openxmlformats.org/drawingml/2006/main">
              <a:srgbClr val="3B92FF"/>
            </a:solidFill>
          </c:spPr>
          <c:invertIfNegative val="0"/>
          <c:dPt>
            <c:idx val="0"/>
            <c:invertIfNegative val="0"/>
            <c:spPr>
              <a:solidFill xmlns:a="http://schemas.openxmlformats.org/drawingml/2006/main">
                <a:srgbClr val="D8E3F3"/>
              </a:solidFill>
            </c:spPr>
          </c:dPt>
          <c:dPt>
            <c:idx val="1"/>
            <c:invertIfNegative val="0"/>
            <c:spPr>
              <a:solidFill xmlns:a="http://schemas.openxmlformats.org/drawingml/2006/main">
                <a:srgbClr val="3B92FF"/>
              </a:solidFill>
            </c:spPr>
          </c:dPt>
          <c:dPt>
            <c:idx val="2"/>
            <c:invertIfNegative val="0"/>
            <c:spPr>
              <a:solidFill xmlns:a="http://schemas.openxmlformats.org/drawingml/2006/main">
                <a:srgbClr val="3B92FF"/>
              </a:solidFill>
            </c:spPr>
          </c:dPt>
          <c:dPt>
            <c:idx val="3"/>
            <c:invertIfNegative val="0"/>
            <c:spPr>
              <a:solidFill xmlns:a="http://schemas.openxmlformats.org/drawingml/2006/main">
                <a:srgbClr val="3B92FF"/>
              </a:solidFill>
            </c:spPr>
          </c:dPt>
          <c:dPt>
            <c:idx val="4"/>
            <c:invertIfNegative val="0"/>
            <c:spPr>
              <a:solidFill xmlns:a="http://schemas.openxmlformats.org/drawingml/2006/main">
                <a:srgbClr val="3B92FF"/>
              </a:solidFill>
            </c:spPr>
          </c:dPt>
          <c:dPt>
            <c:idx val="5"/>
            <c:invertIfNegative val="0"/>
            <c:spPr>
              <a:solidFill xmlns:a="http://schemas.openxmlformats.org/drawingml/2006/main">
                <a:srgbClr val="3B92FF"/>
              </a:solidFill>
            </c:spPr>
          </c:dPt>
          <c:dPt>
            <c:idx val="6"/>
            <c:invertIfNegative val="0"/>
            <c:spPr>
              <a:solidFill xmlns:a="http://schemas.openxmlformats.org/drawingml/2006/main">
                <a:srgbClr val="65D9F3"/>
              </a:solidFill>
            </c:spPr>
          </c:dPt>
          <c:dPt>
            <c:idx val="7"/>
            <c:invertIfNegative val="0"/>
            <c:spPr>
              <a:solidFill xmlns:a="http://schemas.openxmlformats.org/drawingml/2006/main">
                <a:srgbClr val="3B92FF"/>
              </a:solidFill>
            </c:spPr>
          </c:dPt>
          <c:dPt>
            <c:idx val="8"/>
            <c:invertIfNegative val="0"/>
            <c:spPr>
              <a:solidFill xmlns:a="http://schemas.openxmlformats.org/drawingml/2006/main">
                <a:srgbClr val="3B92FF"/>
              </a:solidFill>
            </c:spPr>
          </c:dPt>
          <c:dPt>
            <c:idx val="9"/>
            <c:invertIfNegative val="0"/>
            <c:spPr>
              <a:solidFill xmlns:a="http://schemas.openxmlformats.org/drawingml/2006/main">
                <a:srgbClr val="3B92FF"/>
              </a:solidFill>
            </c:spPr>
          </c:dPt>
          <c:dPt>
            <c:idx val="10"/>
            <c:invertIfNegative val="0"/>
            <c:spPr>
              <a:solidFill xmlns:a="http://schemas.openxmlformats.org/drawingml/2006/main">
                <a:srgbClr val="3B92FF"/>
              </a:solidFill>
            </c:spPr>
          </c:dPt>
          <c:cat>
            <c:strLit>
              <c:ptCount val="11"/>
              <c:pt idx="0">
                <c:v>Original</c:v>
              </c:pt>
              <c:pt idx="1">
                <c:v>Invert</c:v>
              </c:pt>
              <c:pt idx="2">
                <c:v>Otsu Threshold</c:v>
              </c:pt>
              <c:pt idx="3">
                <c:v>Solarize</c:v>
              </c:pt>
              <c:pt idx="4">
                <c:v>Histogram Eq.</c:v>
              </c:pt>
              <c:pt idx="5">
                <c:v>CLAHE (max)</c:v>
              </c:pt>
              <c:pt idx="6">
                <c:v>Gamma 0.3</c:v>
              </c:pt>
              <c:pt idx="7">
                <c:v>Gaussian Blur</c:v>
              </c:pt>
              <c:pt idx="8">
                <c:v>Sobel Edges</c:v>
              </c:pt>
              <c:pt idx="9">
                <c:v>Emboss</c:v>
              </c:pt>
              <c:pt idx="10">
                <c:v>Unsharp (max)</c:v>
              </c:pt>
            </c:strLit>
          </c:cat>
          <c:val>
            <c:numLit>
              <c:formatCode>0.00</c:formatCode>
              <c:ptCount val="11"/>
              <c:pt idx="0">
                <c:v>96.5279976671671</c:v>
              </c:pt>
              <c:pt idx="1">
                <c:v>95.6235808350769</c:v>
              </c:pt>
              <c:pt idx="2">
                <c:v>60.4562370869759</c:v>
              </c:pt>
              <c:pt idx="3">
                <c:v>96.4185870228842</c:v>
              </c:pt>
              <c:pt idx="4">
                <c:v>96.2666397590254</c:v>
              </c:pt>
              <c:pt idx="5">
                <c:v>95.9760500118378</c:v>
              </c:pt>
              <c:pt idx="6">
                <c:v>96.701438764475</c:v>
              </c:pt>
              <c:pt idx="7">
                <c:v>93.3650494926198</c:v>
              </c:pt>
              <c:pt idx="8">
                <c:v>96.4356478134763</c:v>
              </c:pt>
              <c:pt idx="9">
                <c:v>96.0567091261184</c:v>
              </c:pt>
              <c:pt idx="10">
                <c:v>96.4047343697159</c:v>
              </c:pt>
            </c:numLit>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F7FA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35"/>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52647D"/>
            </a:solidFill>
          </a:ln>
        </c:spPr>
        <c:txPr>
          <a:bodyPr xmlns:a="http://schemas.openxmlformats.org/drawingml/2006/main" anchorCtr="1"/>
          <a:lstStyle xmlns:a="http://schemas.openxmlformats.org/drawingml/2006/main"/>
          <a:p xmlns:a="http://schemas.openxmlformats.org/drawingml/2006/main">
            <a:pPr>
              <a:defRPr sz="1500" b="1">
                <a:solidFill>
                  <a:srgbClr val="F7FAFF"/>
                </a:solidFill>
                <a:latin typeface="NanumGothic"/>
                <a:ea typeface="NanumGothic"/>
                <a:cs typeface="NanumGothic"/>
              </a:defRPr>
            </a:pPr>
          </a:p>
        </c:txPr>
        <c:crossAx val="48672768"/>
      </c:catAx>
      <c:valAx>
        <c:axId val="48672768"/>
        <c:scaling>
          <c:orientation val="minMax"/>
          <c:max val="100"/>
          <c:min val="0"/>
        </c:scaling>
        <c:delete val="0"/>
        <c:axPos val="b"/>
        <c:majorGridlines>
          <c:spPr>
            <a:ln xmlns:a="http://schemas.openxmlformats.org/drawingml/2006/main" w="9525">
              <a:solidFill>
                <a:srgbClr val="283545"/>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7FA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Combination / baseline</c:v>
          </c:tx>
          <c:spPr>
            <a:solidFill xmlns:a="http://schemas.openxmlformats.org/drawingml/2006/main">
              <a:srgbClr val="3B92FF"/>
            </a:solidFill>
          </c:spPr>
          <c:invertIfNegative val="0"/>
          <c:cat>
            <c:strLit>
              <c:ptCount val="6"/>
              <c:pt idx="0">
                <c:v>Original</c:v>
              </c:pt>
              <c:pt idx="1">
                <c:v>Invert+
CLAHE</c:v>
              </c:pt>
              <c:pt idx="2">
                <c:v>Blur+
Otsu</c:v>
              </c:pt>
              <c:pt idx="3">
                <c:v>Sobel+
Invert</c:v>
              </c:pt>
              <c:pt idx="4">
                <c:v>HistEq+
Emboss</c:v>
              </c:pt>
              <c:pt idx="5">
                <c:v>Unsharp+
Sobel</c:v>
              </c:pt>
            </c:strLit>
          </c:cat>
          <c:val>
            <c:numLit>
              <c:formatCode>0.00</c:formatCode>
              <c:ptCount val="6"/>
              <c:pt idx="0">
                <c:v>96.5279976671671</c:v>
              </c:pt>
              <c:pt idx="1">
                <c:v>95.7521155759119</c:v>
              </c:pt>
              <c:pt idx="2">
                <c:v>59.5766758039794</c:v>
              </c:pt>
              <c:pt idx="3">
                <c:v>95.7148843234106</c:v>
              </c:pt>
              <c:pt idx="4">
                <c:v>95.4223106676088</c:v>
              </c:pt>
              <c:pt idx="5">
                <c:v>94.7323908217321</c:v>
              </c:pt>
            </c:numLit>
          </c:val>
        </c:ser>
        <c:ser>
          <c:idx val="1"/>
          <c:order val="1"/>
          <c:tx>
            <c:v>Better component</c:v>
          </c:tx>
          <c:spPr>
            <a:solidFill xmlns:a="http://schemas.openxmlformats.org/drawingml/2006/main">
              <a:srgbClr val="7D91AD"/>
            </a:solidFill>
          </c:spPr>
          <c:invertIfNegative val="0"/>
          <c:cat>
            <c:strLit>
              <c:ptCount val="6"/>
              <c:pt idx="0">
                <c:v>Original</c:v>
              </c:pt>
              <c:pt idx="1">
                <c:v>Invert+
CLAHE</c:v>
              </c:pt>
              <c:pt idx="2">
                <c:v>Blur+
Otsu</c:v>
              </c:pt>
              <c:pt idx="3">
                <c:v>Sobel+
Invert</c:v>
              </c:pt>
              <c:pt idx="4">
                <c:v>HistEq+
Emboss</c:v>
              </c:pt>
              <c:pt idx="5">
                <c:v>Unsharp+
Sobel</c:v>
              </c:pt>
            </c:strLit>
          </c:cat>
          <c:val>
            <c:numLit>
              <c:formatCode>0.00</c:formatCode>
              <c:ptCount val="6"/>
              <c:pt idx="0">
                <c:v>96.5279976671671</c:v>
              </c:pt>
              <c:pt idx="1">
                <c:v>95.9760500118378</c:v>
              </c:pt>
              <c:pt idx="2">
                <c:v>93.3650494926198</c:v>
              </c:pt>
              <c:pt idx="3">
                <c:v>96.4356478134763</c:v>
              </c:pt>
              <c:pt idx="4">
                <c:v>96.2666397590254</c:v>
              </c:pt>
              <c:pt idx="5">
                <c:v>96.4356478134763</c:v>
              </c:pt>
            </c:numLit>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F7FA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52647D"/>
            </a:solidFill>
          </a:ln>
        </c:spPr>
        <c:txPr>
          <a:bodyPr xmlns:a="http://schemas.openxmlformats.org/drawingml/2006/main" anchorCtr="1"/>
          <a:lstStyle xmlns:a="http://schemas.openxmlformats.org/drawingml/2006/main"/>
          <a:p xmlns:a="http://schemas.openxmlformats.org/drawingml/2006/main">
            <a:pPr>
              <a:defRPr sz="1575" b="1">
                <a:solidFill>
                  <a:srgbClr val="F7FAFF"/>
                </a:solidFill>
                <a:latin typeface="NanumGothic"/>
                <a:ea typeface="NanumGothic"/>
                <a:cs typeface="NanumGothic"/>
              </a:defRPr>
            </a:pPr>
          </a:p>
        </c:txPr>
        <c:crossAx val="48672768"/>
      </c:catAx>
      <c:valAx>
        <c:axId val="48672768"/>
        <c:scaling>
          <c:orientation val="minMax"/>
          <c:max val="100"/>
          <c:min val="0"/>
        </c:scaling>
        <c:delete val="0"/>
        <c:axPos val="l"/>
        <c:majorGridlines>
          <c:spPr>
            <a:ln xmlns:a="http://schemas.openxmlformats.org/drawingml/2006/main" w="9525">
              <a:solidFill>
                <a:srgbClr val="283545"/>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7FA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b="1">
              <a:solidFill>
                <a:srgbClr val="F7FAFF"/>
              </a:solidFill>
              <a:latin typeface="NanumGothic"/>
              <a:ea typeface="NanumGothic"/>
              <a:cs typeface="NanumGothic"/>
            </a:defRPr>
          </a:pPr>
        </a:p>
      </c:txPr>
    </c:legend>
    <c:plotVisOnly val="1"/>
  </c:chart>
  <c:spPr>
    <a:noFill xmlns:a="http://schemas.openxmlformats.org/drawingml/2006/main"/>
    <a:ln xmlns:a="http://schemas.openxmlformats.org/drawingml/2006/main" w="0">
      <a:noFill/>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mAP50-95 (%)</c:v>
          </c:tx>
          <c:spPr>
            <a:solidFill xmlns:a="http://schemas.openxmlformats.org/drawingml/2006/main">
              <a:srgbClr val="3B92FF"/>
            </a:solidFill>
          </c:spPr>
          <c:invertIfNegative val="0"/>
          <c:cat>
            <c:strLit>
              <c:ptCount val="4"/>
              <c:pt idx="0">
                <c:v>Original</c:v>
              </c:pt>
              <c:pt idx="1">
                <c:v>Gamma 0.3</c:v>
              </c:pt>
              <c:pt idx="2">
                <c:v>CLAHE (max)</c:v>
              </c:pt>
              <c:pt idx="3">
                <c:v>Invert+CLAHE</c:v>
              </c:pt>
            </c:strLit>
          </c:cat>
          <c:val>
            <c:numLit>
              <c:formatCode>0.00</c:formatCode>
              <c:ptCount val="4"/>
              <c:pt idx="0">
                <c:v>96.5279976671671</c:v>
              </c:pt>
              <c:pt idx="1">
                <c:v>96.701438764475</c:v>
              </c:pt>
              <c:pt idx="2">
                <c:v>95.9760500118378</c:v>
              </c:pt>
              <c:pt idx="3">
                <c:v>95.7521155759119</c:v>
              </c:pt>
            </c:numLit>
          </c:val>
        </c:ser>
        <c:ser>
          <c:idx val="1"/>
          <c:order val="1"/>
          <c:tx>
            <c:v>Strict detection accuracy (%)</c:v>
          </c:tx>
          <c:spPr>
            <a:solidFill xmlns:a="http://schemas.openxmlformats.org/drawingml/2006/main">
              <a:srgbClr val="65D9F3"/>
            </a:solidFill>
          </c:spPr>
          <c:invertIfNegative val="0"/>
          <c:cat>
            <c:strLit>
              <c:ptCount val="4"/>
              <c:pt idx="0">
                <c:v>Original</c:v>
              </c:pt>
              <c:pt idx="1">
                <c:v>Gamma 0.3</c:v>
              </c:pt>
              <c:pt idx="2">
                <c:v>CLAHE (max)</c:v>
              </c:pt>
              <c:pt idx="3">
                <c:v>Invert+CLAHE</c:v>
              </c:pt>
            </c:strLit>
          </c:cat>
          <c:val>
            <c:numLit>
              <c:formatCode>0.00</c:formatCode>
              <c:ptCount val="4"/>
              <c:pt idx="0">
                <c:v>94.8</c:v>
              </c:pt>
              <c:pt idx="1">
                <c:v>96.2</c:v>
              </c:pt>
              <c:pt idx="2">
                <c:v>96.4</c:v>
              </c:pt>
              <c:pt idx="3">
                <c:v>98</c:v>
              </c:pt>
            </c:numLit>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F7FA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52647D"/>
            </a:solidFill>
          </a:ln>
        </c:spPr>
        <c:txPr>
          <a:bodyPr xmlns:a="http://schemas.openxmlformats.org/drawingml/2006/main" anchorCtr="1"/>
          <a:lstStyle xmlns:a="http://schemas.openxmlformats.org/drawingml/2006/main"/>
          <a:p xmlns:a="http://schemas.openxmlformats.org/drawingml/2006/main">
            <a:pPr>
              <a:defRPr sz="1725" b="1">
                <a:solidFill>
                  <a:srgbClr val="F7FAFF"/>
                </a:solidFill>
                <a:latin typeface="NanumGothic"/>
                <a:ea typeface="NanumGothic"/>
                <a:cs typeface="NanumGothic"/>
              </a:defRPr>
            </a:pPr>
          </a:p>
        </c:txPr>
        <c:crossAx val="48672768"/>
      </c:catAx>
      <c:valAx>
        <c:axId val="48672768"/>
        <c:scaling>
          <c:orientation val="minMax"/>
          <c:max val="100"/>
          <c:min val="0"/>
        </c:scaling>
        <c:delete val="0"/>
        <c:axPos val="l"/>
        <c:majorGridlines>
          <c:spPr>
            <a:ln xmlns:a="http://schemas.openxmlformats.org/drawingml/2006/main" w="9525">
              <a:solidFill>
                <a:srgbClr val="283545"/>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7FA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b="1">
              <a:solidFill>
                <a:srgbClr val="F7FAFF"/>
              </a:solidFill>
              <a:latin typeface="NanumGothic"/>
              <a:ea typeface="NanumGothic"/>
              <a:cs typeface="NanumGothic"/>
            </a:defRPr>
          </a:pPr>
        </a:p>
      </c:txPr>
    </c:legend>
    <c:plotVisOnly val="1"/>
  </c:chart>
  <c:spPr>
    <a:noFill xmlns:a="http://schemas.openxmlformats.org/drawingml/2006/main"/>
    <a:ln xmlns:a="http://schemas.openxmlformats.org/drawingml/2006/main" w="0">
      <a:noFill/>
    </a:ln>
  </c:spPr>
</c:chartSpace>
</file>

<file path=ppt/slides/charts/chart4.xml><?xml version="1.0" encoding="utf-8"?>
<c:chartSpace xmlns:c="http://schemas.openxmlformats.org/drawingml/2006/chart">
  <c:lang val="en-US"/>
  <c:chart>
    <c:plotArea>
      <c:lineChart>
        <c:grouping val="standard"/>
        <c:varyColors val="0"/>
        <c:ser>
          <c:idx val="0"/>
          <c:order val="0"/>
          <c:tx>
            <c:v>Original</c:v>
          </c:tx>
          <c:spPr>
            <a:ln xmlns:a="http://schemas.openxmlformats.org/drawingml/2006/main" w="33338">
              <a:solidFill>
                <a:srgbClr val="3B92FF"/>
              </a:solidFill>
            </a:ln>
          </c:spPr>
          <c:marker>
            <c:symbol val="circle"/>
            <c:size val="9"/>
            <c:spPr>
              <a:solidFill xmlns:a="http://schemas.openxmlformats.org/drawingml/2006/main">
                <a:srgbClr val="3B92FF"/>
              </a:solidFill>
            </c:spPr>
          </c:marker>
          <c:cat>
            <c:strLit>
              <c:ptCount val="3"/>
              <c:pt idx="0">
                <c:v>Seed 42</c:v>
              </c:pt>
              <c:pt idx="1">
                <c:v>Seed 43</c:v>
              </c:pt>
              <c:pt idx="2">
                <c:v>Seed 44</c:v>
              </c:pt>
            </c:strLit>
          </c:cat>
          <c:val>
            <c:numLit>
              <c:formatCode>0.00</c:formatCode>
              <c:ptCount val="3"/>
              <c:pt idx="0">
                <c:v>94.8</c:v>
              </c:pt>
              <c:pt idx="1">
                <c:v>95.6</c:v>
              </c:pt>
              <c:pt idx="2">
                <c:v>95.8</c:v>
              </c:pt>
            </c:numLit>
          </c:val>
          <c:smooth val="0"/>
        </c:ser>
        <c:ser>
          <c:idx val="1"/>
          <c:order val="1"/>
          <c:tx>
            <c:v>Invert+CLAHE</c:v>
          </c:tx>
          <c:spPr>
            <a:ln xmlns:a="http://schemas.openxmlformats.org/drawingml/2006/main" w="33338">
              <a:solidFill>
                <a:srgbClr val="65D9F3"/>
              </a:solidFill>
            </a:ln>
          </c:spPr>
          <c:marker>
            <c:symbol val="circle"/>
            <c:size val="9"/>
            <c:spPr>
              <a:solidFill xmlns:a="http://schemas.openxmlformats.org/drawingml/2006/main">
                <a:srgbClr val="65D9F3"/>
              </a:solidFill>
            </c:spPr>
          </c:marker>
          <c:cat>
            <c:strLit>
              <c:ptCount val="3"/>
              <c:pt idx="0">
                <c:v>Seed 42</c:v>
              </c:pt>
              <c:pt idx="1">
                <c:v>Seed 43</c:v>
              </c:pt>
              <c:pt idx="2">
                <c:v>Seed 44</c:v>
              </c:pt>
            </c:strLit>
          </c:cat>
          <c:val>
            <c:numLit>
              <c:formatCode>0.00</c:formatCode>
              <c:ptCount val="3"/>
              <c:pt idx="0">
                <c:v>98</c:v>
              </c:pt>
              <c:pt idx="1">
                <c:v>93.6</c:v>
              </c:pt>
              <c:pt idx="2">
                <c:v>94.8</c:v>
              </c:pt>
            </c:numLit>
          </c:val>
          <c:smooth val="0"/>
        </c:ser>
        <c:dLbls>
          <c:txPr>
            <a:bodyPr xmlns:a="http://schemas.openxmlformats.org/drawingml/2006/main" anchorCtr="1"/>
            <a:lstStyle xmlns:a="http://schemas.openxmlformats.org/drawingml/2006/main"/>
            <a:p xmlns:a="http://schemas.openxmlformats.org/drawingml/2006/main">
              <a:pPr>
                <a:defRPr>
                  <a:latin typeface="NanumGothic"/>
                  <a:ea typeface="NanumGothic"/>
                  <a:cs typeface="Nanum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a:solidFill>
              <a:srgbClr val="52647D"/>
            </a:solidFill>
          </a:ln>
        </c:spPr>
        <c:txPr>
          <a:bodyPr xmlns:a="http://schemas.openxmlformats.org/drawingml/2006/main" anchorCtr="1"/>
          <a:lstStyle xmlns:a="http://schemas.openxmlformats.org/drawingml/2006/main"/>
          <a:p xmlns:a="http://schemas.openxmlformats.org/drawingml/2006/main">
            <a:pPr>
              <a:defRPr sz="1500" b="1">
                <a:solidFill>
                  <a:srgbClr val="F7FAFF"/>
                </a:solidFill>
                <a:latin typeface="NanumGothic"/>
                <a:ea typeface="NanumGothic"/>
                <a:cs typeface="NanumGothic"/>
              </a:defRPr>
            </a:pPr>
          </a:p>
        </c:txPr>
        <c:crossAx val="48672768"/>
      </c:catAx>
      <c:valAx>
        <c:axId val="48672768"/>
        <c:scaling>
          <c:orientation val="minMax"/>
          <c:max val="100"/>
          <c:min val="90"/>
        </c:scaling>
        <c:delete val="0"/>
        <c:axPos val="l"/>
        <c:majorGridlines>
          <c:spPr>
            <a:ln xmlns:a="http://schemas.openxmlformats.org/drawingml/2006/main" w="9525">
              <a:solidFill>
                <a:srgbClr val="28354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b="1">
                <a:solidFill>
                  <a:srgbClr val="F7FAFF"/>
                </a:solidFill>
                <a:latin typeface="NanumGothic"/>
                <a:ea typeface="NanumGothic"/>
                <a:cs typeface="NanumGothic"/>
              </a:defRPr>
            </a:pPr>
          </a:p>
        </c:txPr>
        <c:crossAx val="48650112"/>
        <c:crossBetween val="between"/>
        <c:majorUnit val="2"/>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b="1">
              <a:solidFill>
                <a:srgbClr val="F7FAFF"/>
              </a:solidFill>
              <a:latin typeface="NanumGothic"/>
              <a:ea typeface="NanumGothic"/>
              <a:cs typeface="NanumGothic"/>
            </a:defRPr>
          </a:pPr>
        </a:p>
      </c:txPr>
    </c:legend>
    <c:plotVisOnly val="1"/>
  </c:chart>
  <c:spPr>
    <a:noFill xmlns:a="http://schemas.openxmlformats.org/drawingml/2006/main"/>
  </c:spPr>
</c:chartSpace>
</file>

<file path=ppt/slides/charts/chart5.xml><?xml version="1.0" encoding="utf-8"?>
<c:chartSpace xmlns:c="http://schemas.openxmlformats.org/drawingml/2006/chart">
  <c:lang val="en-US"/>
  <c:chart>
    <c:plotArea>
      <c:lineChart>
        <c:grouping val="standard"/>
        <c:varyColors val="0"/>
        <c:ser>
          <c:idx val="0"/>
          <c:order val="0"/>
          <c:tx>
            <c:v>Original</c:v>
          </c:tx>
          <c:spPr>
            <a:ln xmlns:a="http://schemas.openxmlformats.org/drawingml/2006/main" w="33338">
              <a:solidFill>
                <a:srgbClr val="3B92FF"/>
              </a:solidFill>
            </a:ln>
          </c:spPr>
          <c:marker>
            <c:symbol val="circle"/>
            <c:size val="9"/>
            <c:spPr>
              <a:solidFill xmlns:a="http://schemas.openxmlformats.org/drawingml/2006/main">
                <a:srgbClr val="3B92FF"/>
              </a:solidFill>
            </c:spPr>
          </c:marker>
          <c:cat>
            <c:strLit>
              <c:ptCount val="3"/>
              <c:pt idx="0">
                <c:v>Seed 42</c:v>
              </c:pt>
              <c:pt idx="1">
                <c:v>Seed 43</c:v>
              </c:pt>
              <c:pt idx="2">
                <c:v>Seed 44</c:v>
              </c:pt>
            </c:strLit>
          </c:cat>
          <c:val>
            <c:numLit>
              <c:formatCode>0.00</c:formatCode>
              <c:ptCount val="3"/>
              <c:pt idx="0">
                <c:v>79.3168837024659</c:v>
              </c:pt>
              <c:pt idx="1">
                <c:v>79.6432490823884</c:v>
              </c:pt>
              <c:pt idx="2">
                <c:v>79.8321417516051</c:v>
              </c:pt>
            </c:numLit>
          </c:val>
          <c:smooth val="0"/>
        </c:ser>
        <c:ser>
          <c:idx val="1"/>
          <c:order val="1"/>
          <c:tx>
            <c:v>Gaussian Blur (max)</c:v>
          </c:tx>
          <c:spPr>
            <a:ln xmlns:a="http://schemas.openxmlformats.org/drawingml/2006/main" w="33338">
              <a:solidFill>
                <a:srgbClr val="65D9F3"/>
              </a:solidFill>
            </a:ln>
          </c:spPr>
          <c:marker>
            <c:symbol val="circle"/>
            <c:size val="9"/>
            <c:spPr>
              <a:solidFill xmlns:a="http://schemas.openxmlformats.org/drawingml/2006/main">
                <a:srgbClr val="65D9F3"/>
              </a:solidFill>
            </c:spPr>
          </c:marker>
          <c:cat>
            <c:strLit>
              <c:ptCount val="3"/>
              <c:pt idx="0">
                <c:v>Seed 42</c:v>
              </c:pt>
              <c:pt idx="1">
                <c:v>Seed 43</c:v>
              </c:pt>
              <c:pt idx="2">
                <c:v>Seed 44</c:v>
              </c:pt>
            </c:strLit>
          </c:cat>
          <c:val>
            <c:numLit>
              <c:formatCode>0.00</c:formatCode>
              <c:ptCount val="3"/>
              <c:pt idx="0">
                <c:v>82.937759460975</c:v>
              </c:pt>
              <c:pt idx="1">
                <c:v>82.8704437446863</c:v>
              </c:pt>
              <c:pt idx="2">
                <c:v>82.7738015289921</c:v>
              </c:pt>
            </c:numLit>
          </c:val>
          <c:smooth val="0"/>
        </c:ser>
        <c:dLbls>
          <c:txPr>
            <a:bodyPr xmlns:a="http://schemas.openxmlformats.org/drawingml/2006/main" anchorCtr="1"/>
            <a:lstStyle xmlns:a="http://schemas.openxmlformats.org/drawingml/2006/main"/>
            <a:p xmlns:a="http://schemas.openxmlformats.org/drawingml/2006/main">
              <a:pPr>
                <a:defRPr>
                  <a:latin typeface="NanumGothic"/>
                  <a:ea typeface="NanumGothic"/>
                  <a:cs typeface="Nanum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a:solidFill>
              <a:srgbClr val="52647D"/>
            </a:solidFill>
          </a:ln>
        </c:spPr>
        <c:txPr>
          <a:bodyPr xmlns:a="http://schemas.openxmlformats.org/drawingml/2006/main" anchorCtr="1"/>
          <a:lstStyle xmlns:a="http://schemas.openxmlformats.org/drawingml/2006/main"/>
          <a:p xmlns:a="http://schemas.openxmlformats.org/drawingml/2006/main">
            <a:pPr>
              <a:defRPr sz="1500" b="1">
                <a:solidFill>
                  <a:srgbClr val="F7FAFF"/>
                </a:solidFill>
                <a:latin typeface="NanumGothic"/>
                <a:ea typeface="NanumGothic"/>
                <a:cs typeface="NanumGothic"/>
              </a:defRPr>
            </a:pPr>
          </a:p>
        </c:txPr>
        <c:crossAx val="48672768"/>
      </c:catAx>
      <c:valAx>
        <c:axId val="48672768"/>
        <c:scaling>
          <c:orientation val="minMax"/>
          <c:max val="85"/>
          <c:min val="78"/>
        </c:scaling>
        <c:delete val="0"/>
        <c:axPos val="l"/>
        <c:majorGridlines>
          <c:spPr>
            <a:ln xmlns:a="http://schemas.openxmlformats.org/drawingml/2006/main" w="9525">
              <a:solidFill>
                <a:srgbClr val="28354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b="1">
                <a:solidFill>
                  <a:srgbClr val="F7FAFF"/>
                </a:solidFill>
                <a:latin typeface="NanumGothic"/>
                <a:ea typeface="NanumGothic"/>
                <a:cs typeface="NanumGothic"/>
              </a:defRPr>
            </a:pPr>
          </a:p>
        </c:txPr>
        <c:crossAx val="48650112"/>
        <c:crossBetween val="between"/>
        <c:majorUnit val="1"/>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b="1">
              <a:solidFill>
                <a:srgbClr val="F7FAFF"/>
              </a:solidFill>
              <a:latin typeface="NanumGothic"/>
              <a:ea typeface="NanumGothic"/>
              <a:cs typeface="NanumGothic"/>
            </a:defRPr>
          </a:pPr>
        </a:p>
      </c:txPr>
    </c:legend>
    <c:plotVisOnly val="1"/>
  </c:chart>
  <c:spPr>
    <a:noFill xmlns:a="http://schemas.openxmlformats.org/drawingml/2006/main"/>
  </c:spPr>
</c:chartSpace>
</file>

<file path=ppt/slides/slide1.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7" name="2026 FALL CONFERENCE">
            <a:extLst xmlns:a="http://schemas.openxmlformats.org/drawingml/2006/main">
              <a:ext uri="{FF2B5EF4-FFF2-40B4-BE49-F238E27FC236}">
                <a16:creationId xmlns:a16="http://schemas.microsoft.com/office/drawing/2014/main" id="{3DAE4F73-187A-40D2-A1CD-8509538D8BC1}"/>
              </a:ext>
            </a:extLst>
          </p:cNvPr>
          <p:cNvSpPr>
            <a:spLocks xmlns:a="http://schemas.openxmlformats.org/drawingml/2006/main" noGrp="1"/>
          </p:cNvSpPr>
          <p:nvPr/>
        </p:nvSpPr>
        <p:spPr>
          <a:xfrm xmlns:a="http://schemas.openxmlformats.org/drawingml/2006/main">
            <a:off x="609600" y="60960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65D9F3"/>
                </a:solidFill>
                <a:latin typeface="NanumGothic"/>
                <a:ea typeface="NanumGothic"/>
                <a:cs typeface="NanumGothic"/>
              </a:defRPr>
            </a:defPPr>
            <a:lvl1pPr algn="l">
              <a:defRPr sz="1500" b="1">
                <a:solidFill>
                  <a:srgbClr val="65D9F3"/>
                </a:solidFill>
                <a:latin typeface="NanumGothic"/>
                <a:ea typeface="NanumGothic"/>
                <a:cs typeface="NanumGothic"/>
              </a:defRPr>
            </a:lvl1pPr>
            <a:lvl2pPr algn="l">
              <a:defRPr sz="1500" b="1">
                <a:solidFill>
                  <a:srgbClr val="65D9F3"/>
                </a:solidFill>
                <a:latin typeface="NanumGothic"/>
                <a:ea typeface="NanumGothic"/>
                <a:cs typeface="NanumGothic"/>
              </a:defRPr>
            </a:lvl2pPr>
            <a:lvl3pPr algn="l">
              <a:defRPr sz="1500" b="1">
                <a:solidFill>
                  <a:srgbClr val="65D9F3"/>
                </a:solidFill>
                <a:latin typeface="NanumGothic"/>
                <a:ea typeface="NanumGothic"/>
                <a:cs typeface="NanumGothic"/>
              </a:defRPr>
            </a:lvl3pPr>
            <a:lvl4pPr algn="l">
              <a:defRPr sz="1500" b="1">
                <a:solidFill>
                  <a:srgbClr val="65D9F3"/>
                </a:solidFill>
                <a:latin typeface="NanumGothic"/>
                <a:ea typeface="NanumGothic"/>
                <a:cs typeface="NanumGothic"/>
              </a:defRPr>
            </a:lvl4pPr>
            <a:lvl5pPr algn="l">
              <a:defRPr sz="1500" b="1">
                <a:solidFill>
                  <a:srgbClr val="65D9F3"/>
                </a:solidFill>
                <a:latin typeface="NanumGothic"/>
                <a:ea typeface="NanumGothic"/>
                <a:cs typeface="NanumGothic"/>
              </a:defRPr>
            </a:lvl5pPr>
            <a:lvl6pPr algn="l">
              <a:defRPr sz="1500" b="1">
                <a:solidFill>
                  <a:srgbClr val="65D9F3"/>
                </a:solidFill>
                <a:latin typeface="NanumGothic"/>
                <a:ea typeface="NanumGothic"/>
                <a:cs typeface="NanumGothic"/>
              </a:defRPr>
            </a:lvl6pPr>
            <a:lvl7pPr algn="l">
              <a:defRPr sz="1500" b="1">
                <a:solidFill>
                  <a:srgbClr val="65D9F3"/>
                </a:solidFill>
                <a:latin typeface="NanumGothic"/>
                <a:ea typeface="NanumGothic"/>
                <a:cs typeface="NanumGothic"/>
              </a:defRPr>
            </a:lvl7pPr>
            <a:lvl8pPr algn="l">
              <a:defRPr sz="1500" b="1">
                <a:solidFill>
                  <a:srgbClr val="65D9F3"/>
                </a:solidFill>
                <a:latin typeface="NanumGothic"/>
                <a:ea typeface="NanumGothic"/>
                <a:cs typeface="NanumGothic"/>
              </a:defRPr>
            </a:lvl8pPr>
            <a:lvl9pPr algn="l">
              <a:defRPr sz="1500" b="1">
                <a:solidFill>
                  <a:srgbClr val="65D9F3"/>
                </a:solidFill>
                <a:latin typeface="NanumGothic"/>
                <a:ea typeface="NanumGothic"/>
                <a:cs typeface="NanumGothic"/>
              </a:defRPr>
            </a:lvl9pPr>
          </a:lstStyle>
          <a:p xmlns:a="http://schemas.openxmlformats.org/drawingml/2006/main">
            <a:pPr algn="l">
              <a:defRPr sz="1500" b="1">
                <a:solidFill>
                  <a:srgbClr val="65D9F3"/>
                </a:solidFill>
                <a:latin typeface="NanumGothic"/>
                <a:ea typeface="NanumGothic"/>
                <a:cs typeface="NanumGothic"/>
              </a:defRPr>
            </a:pPr>
            <a:r>
              <a:rPr sz="1500" b="1">
                <a:solidFill>
                  <a:srgbClr val="65D9F3"/>
                </a:solidFill>
                <a:latin typeface="NanumGothic"/>
                <a:ea typeface="NanumGothic"/>
                <a:cs typeface="NanumGothic"/>
              </a:rPr>
              <a:t>2026 FALL CONFERENCE</a:t>
            </a:r>
          </a:p>
        </p:txBody>
      </p:sp>
      <p:sp>
        <p:nvSpPr>
          <p:cNvPr id="2" name="YOLOv8n 기반 볼 검출을 위한&#10;단일 및 복합 전처리 ">
            <a:extLst xmlns:a="http://schemas.openxmlformats.org/drawingml/2006/main">
              <a:ext uri="{FF2B5EF4-FFF2-40B4-BE49-F238E27FC236}">
                <a16:creationId xmlns:a16="http://schemas.microsoft.com/office/drawing/2014/main" id="{F031FFE6-B08D-4984-B05F-48E9A60FE119}"/>
              </a:ext>
            </a:extLst>
          </p:cNvPr>
          <p:cNvSpPr>
            <a:spLocks xmlns:a="http://schemas.openxmlformats.org/drawingml/2006/main" noGrp="1"/>
          </p:cNvSpPr>
          <p:nvPr/>
        </p:nvSpPr>
        <p:spPr>
          <a:xfrm xmlns:a="http://schemas.openxmlformats.org/drawingml/2006/main">
            <a:off x="609600" y="1638300"/>
            <a:ext cx="109728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F7FAFF"/>
                </a:solidFill>
                <a:latin typeface="NanumGothic"/>
                <a:ea typeface="NanumGothic"/>
                <a:cs typeface="NanumGothic"/>
              </a:defRPr>
            </a:defPPr>
            <a:lvl1pPr algn="l">
              <a:defRPr sz="3750" b="1">
                <a:solidFill>
                  <a:srgbClr val="F7FAFF"/>
                </a:solidFill>
                <a:latin typeface="NanumGothic"/>
                <a:ea typeface="NanumGothic"/>
                <a:cs typeface="NanumGothic"/>
              </a:defRPr>
            </a:lvl1pPr>
            <a:lvl2pPr algn="l">
              <a:defRPr sz="3750" b="1">
                <a:solidFill>
                  <a:srgbClr val="F7FAFF"/>
                </a:solidFill>
                <a:latin typeface="NanumGothic"/>
                <a:ea typeface="NanumGothic"/>
                <a:cs typeface="NanumGothic"/>
              </a:defRPr>
            </a:lvl2pPr>
            <a:lvl3pPr algn="l">
              <a:defRPr sz="3750" b="1">
                <a:solidFill>
                  <a:srgbClr val="F7FAFF"/>
                </a:solidFill>
                <a:latin typeface="NanumGothic"/>
                <a:ea typeface="NanumGothic"/>
                <a:cs typeface="NanumGothic"/>
              </a:defRPr>
            </a:lvl3pPr>
            <a:lvl4pPr algn="l">
              <a:defRPr sz="3750" b="1">
                <a:solidFill>
                  <a:srgbClr val="F7FAFF"/>
                </a:solidFill>
                <a:latin typeface="NanumGothic"/>
                <a:ea typeface="NanumGothic"/>
                <a:cs typeface="NanumGothic"/>
              </a:defRPr>
            </a:lvl4pPr>
            <a:lvl5pPr algn="l">
              <a:defRPr sz="3750" b="1">
                <a:solidFill>
                  <a:srgbClr val="F7FAFF"/>
                </a:solidFill>
                <a:latin typeface="NanumGothic"/>
                <a:ea typeface="NanumGothic"/>
                <a:cs typeface="NanumGothic"/>
              </a:defRPr>
            </a:lvl5pPr>
            <a:lvl6pPr algn="l">
              <a:defRPr sz="3750" b="1">
                <a:solidFill>
                  <a:srgbClr val="F7FAFF"/>
                </a:solidFill>
                <a:latin typeface="NanumGothic"/>
                <a:ea typeface="NanumGothic"/>
                <a:cs typeface="NanumGothic"/>
              </a:defRPr>
            </a:lvl6pPr>
            <a:lvl7pPr algn="l">
              <a:defRPr sz="3750" b="1">
                <a:solidFill>
                  <a:srgbClr val="F7FAFF"/>
                </a:solidFill>
                <a:latin typeface="NanumGothic"/>
                <a:ea typeface="NanumGothic"/>
                <a:cs typeface="NanumGothic"/>
              </a:defRPr>
            </a:lvl7pPr>
            <a:lvl8pPr algn="l">
              <a:defRPr sz="3750" b="1">
                <a:solidFill>
                  <a:srgbClr val="F7FAFF"/>
                </a:solidFill>
                <a:latin typeface="NanumGothic"/>
                <a:ea typeface="NanumGothic"/>
                <a:cs typeface="NanumGothic"/>
              </a:defRPr>
            </a:lvl8pPr>
            <a:lvl9pPr algn="l">
              <a:defRPr sz="3750" b="1">
                <a:solidFill>
                  <a:srgbClr val="F7FAFF"/>
                </a:solidFill>
                <a:latin typeface="NanumGothic"/>
                <a:ea typeface="NanumGothic"/>
                <a:cs typeface="NanumGothic"/>
              </a:defRPr>
            </a:lvl9pPr>
          </a:lstStyle>
          <a:p xmlns:a="http://schemas.openxmlformats.org/drawingml/2006/main">
            <a:pPr algn="l">
              <a:defRPr sz="3750" b="1">
                <a:solidFill>
                  <a:srgbClr val="F7FAFF"/>
                </a:solidFill>
                <a:latin typeface="NanumGothic"/>
                <a:ea typeface="NanumGothic"/>
                <a:cs typeface="NanumGothic"/>
              </a:defRPr>
            </a:pPr>
            <a:r>
              <a:rPr sz="3750" b="1">
                <a:solidFill>
                  <a:srgbClr val="F7FAFF"/>
                </a:solidFill>
                <a:latin typeface="NanumGothic"/>
                <a:ea typeface="NanumGothic"/>
                <a:cs typeface="NanumGothic"/>
              </a:rPr>
              <a:t>YOLOv8n 기반 볼 검출을 위한</a:t>
            </a:r>
          </a:p>
          <a:p xmlns:a="http://schemas.openxmlformats.org/drawingml/2006/main">
            <a:pPr algn="l">
              <a:defRPr sz="3750" b="1">
                <a:solidFill>
                  <a:srgbClr val="F7FAFF"/>
                </a:solidFill>
                <a:latin typeface="NanumGothic"/>
                <a:ea typeface="NanumGothic"/>
                <a:cs typeface="NanumGothic"/>
              </a:defRPr>
            </a:pPr>
            <a:r>
              <a:rPr sz="3750" b="1">
                <a:solidFill>
                  <a:srgbClr val="F7FAFF"/>
                </a:solidFill>
                <a:latin typeface="NanumGothic"/>
                <a:ea typeface="NanumGothic"/>
                <a:cs typeface="NanumGothic"/>
              </a:rPr>
              <a:t>단일 및 복합 전처리 필터의 성능 비교</a:t>
            </a:r>
          </a:p>
        </p:txBody>
      </p:sp>
      <p:sp>
        <p:nvSpPr>
          <p:cNvPr id="3" name="Performance Comparison of Single">
            <a:extLst xmlns:a="http://schemas.openxmlformats.org/drawingml/2006/main">
              <a:ext uri="{FF2B5EF4-FFF2-40B4-BE49-F238E27FC236}">
                <a16:creationId xmlns:a16="http://schemas.microsoft.com/office/drawing/2014/main" id="{196E8E65-A4C9-41A2-812E-4FAF1D7043DA}"/>
              </a:ext>
            </a:extLst>
          </p:cNvPr>
          <p:cNvSpPr>
            <a:spLocks xmlns:a="http://schemas.openxmlformats.org/drawingml/2006/main" noGrp="1"/>
          </p:cNvSpPr>
          <p:nvPr/>
        </p:nvSpPr>
        <p:spPr>
          <a:xfrm xmlns:a="http://schemas.openxmlformats.org/drawingml/2006/main">
            <a:off x="609600" y="337185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AAB8CC"/>
                </a:solidFill>
                <a:latin typeface="NanumGothic"/>
                <a:ea typeface="NanumGothic"/>
                <a:cs typeface="NanumGothic"/>
              </a:defRPr>
            </a:defPPr>
            <a:lvl1pPr algn="l">
              <a:defRPr sz="1650" b="1">
                <a:solidFill>
                  <a:srgbClr val="AAB8CC"/>
                </a:solidFill>
                <a:latin typeface="NanumGothic"/>
                <a:ea typeface="NanumGothic"/>
                <a:cs typeface="NanumGothic"/>
              </a:defRPr>
            </a:lvl1pPr>
            <a:lvl2pPr algn="l">
              <a:defRPr sz="1650" b="1">
                <a:solidFill>
                  <a:srgbClr val="AAB8CC"/>
                </a:solidFill>
                <a:latin typeface="NanumGothic"/>
                <a:ea typeface="NanumGothic"/>
                <a:cs typeface="NanumGothic"/>
              </a:defRPr>
            </a:lvl2pPr>
            <a:lvl3pPr algn="l">
              <a:defRPr sz="1650" b="1">
                <a:solidFill>
                  <a:srgbClr val="AAB8CC"/>
                </a:solidFill>
                <a:latin typeface="NanumGothic"/>
                <a:ea typeface="NanumGothic"/>
                <a:cs typeface="NanumGothic"/>
              </a:defRPr>
            </a:lvl3pPr>
            <a:lvl4pPr algn="l">
              <a:defRPr sz="1650" b="1">
                <a:solidFill>
                  <a:srgbClr val="AAB8CC"/>
                </a:solidFill>
                <a:latin typeface="NanumGothic"/>
                <a:ea typeface="NanumGothic"/>
                <a:cs typeface="NanumGothic"/>
              </a:defRPr>
            </a:lvl4pPr>
            <a:lvl5pPr algn="l">
              <a:defRPr sz="1650" b="1">
                <a:solidFill>
                  <a:srgbClr val="AAB8CC"/>
                </a:solidFill>
                <a:latin typeface="NanumGothic"/>
                <a:ea typeface="NanumGothic"/>
                <a:cs typeface="NanumGothic"/>
              </a:defRPr>
            </a:lvl5pPr>
            <a:lvl6pPr algn="l">
              <a:defRPr sz="1650" b="1">
                <a:solidFill>
                  <a:srgbClr val="AAB8CC"/>
                </a:solidFill>
                <a:latin typeface="NanumGothic"/>
                <a:ea typeface="NanumGothic"/>
                <a:cs typeface="NanumGothic"/>
              </a:defRPr>
            </a:lvl6pPr>
            <a:lvl7pPr algn="l">
              <a:defRPr sz="1650" b="1">
                <a:solidFill>
                  <a:srgbClr val="AAB8CC"/>
                </a:solidFill>
                <a:latin typeface="NanumGothic"/>
                <a:ea typeface="NanumGothic"/>
                <a:cs typeface="NanumGothic"/>
              </a:defRPr>
            </a:lvl7pPr>
            <a:lvl8pPr algn="l">
              <a:defRPr sz="1650" b="1">
                <a:solidFill>
                  <a:srgbClr val="AAB8CC"/>
                </a:solidFill>
                <a:latin typeface="NanumGothic"/>
                <a:ea typeface="NanumGothic"/>
                <a:cs typeface="NanumGothic"/>
              </a:defRPr>
            </a:lvl8pPr>
            <a:lvl9pPr algn="l">
              <a:defRPr sz="1650" b="1">
                <a:solidFill>
                  <a:srgbClr val="AAB8CC"/>
                </a:solidFill>
                <a:latin typeface="NanumGothic"/>
                <a:ea typeface="NanumGothic"/>
                <a:cs typeface="NanumGothic"/>
              </a:defRPr>
            </a:lvl9pPr>
          </a:lstStyle>
          <a:p xmlns:a="http://schemas.openxmlformats.org/drawingml/2006/main">
            <a:pPr algn="l">
              <a:defRPr sz="1650" b="1">
                <a:solidFill>
                  <a:srgbClr val="AAB8CC"/>
                </a:solidFill>
                <a:latin typeface="NanumGothic"/>
                <a:ea typeface="NanumGothic"/>
                <a:cs typeface="NanumGothic"/>
              </a:defRPr>
            </a:pPr>
            <a:r>
              <a:rPr sz="1650" b="1">
                <a:solidFill>
                  <a:srgbClr val="AAB8CC"/>
                </a:solidFill>
                <a:latin typeface="NanumGothic"/>
                <a:ea typeface="NanumGothic"/>
                <a:cs typeface="NanumGothic"/>
              </a:rPr>
              <a:t>Performance Comparison of Single and Combined Preprocessing Filters</a:t>
            </a:r>
          </a:p>
          <a:p xmlns:a="http://schemas.openxmlformats.org/drawingml/2006/main">
            <a:pPr algn="l">
              <a:defRPr sz="1650" b="1">
                <a:solidFill>
                  <a:srgbClr val="AAB8CC"/>
                </a:solidFill>
                <a:latin typeface="NanumGothic"/>
                <a:ea typeface="NanumGothic"/>
                <a:cs typeface="NanumGothic"/>
              </a:defRPr>
            </a:pPr>
            <a:r>
              <a:rPr sz="1650" b="1">
                <a:solidFill>
                  <a:srgbClr val="AAB8CC"/>
                </a:solidFill>
                <a:latin typeface="NanumGothic"/>
                <a:ea typeface="NanumGothic"/>
                <a:cs typeface="NanumGothic"/>
              </a:rPr>
              <a:t>for YOLOv8n-Based Ball Detection</a:t>
            </a:r>
          </a:p>
        </p:txBody>
      </p:sp>
      <p:sp>
        <p:nvSpPr>
          <p:cNvPr id="4" name="곽윤석 · 김남기 (교신저자)">
            <a:extLst xmlns:a="http://schemas.openxmlformats.org/drawingml/2006/main">
              <a:ext uri="{FF2B5EF4-FFF2-40B4-BE49-F238E27FC236}">
                <a16:creationId xmlns:a16="http://schemas.microsoft.com/office/drawing/2014/main" id="{8799307B-BB4B-4C54-A745-A25BC3E64297}"/>
              </a:ext>
            </a:extLst>
          </p:cNvPr>
          <p:cNvSpPr>
            <a:spLocks xmlns:a="http://schemas.openxmlformats.org/drawingml/2006/main" noGrp="1"/>
          </p:cNvSpPr>
          <p:nvPr/>
        </p:nvSpPr>
        <p:spPr>
          <a:xfrm xmlns:a="http://schemas.openxmlformats.org/drawingml/2006/main">
            <a:off x="609600" y="475297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7FAFF"/>
                </a:solidFill>
                <a:latin typeface="NanumGothic"/>
                <a:ea typeface="NanumGothic"/>
                <a:cs typeface="NanumGothic"/>
              </a:defRPr>
            </a:defPPr>
            <a:lvl1pPr algn="l">
              <a:defRPr sz="2025" b="1">
                <a:solidFill>
                  <a:srgbClr val="F7FAFF"/>
                </a:solidFill>
                <a:latin typeface="NanumGothic"/>
                <a:ea typeface="NanumGothic"/>
                <a:cs typeface="NanumGothic"/>
              </a:defRPr>
            </a:lvl1pPr>
            <a:lvl2pPr algn="l">
              <a:defRPr sz="2025" b="1">
                <a:solidFill>
                  <a:srgbClr val="F7FAFF"/>
                </a:solidFill>
                <a:latin typeface="NanumGothic"/>
                <a:ea typeface="NanumGothic"/>
                <a:cs typeface="NanumGothic"/>
              </a:defRPr>
            </a:lvl2pPr>
            <a:lvl3pPr algn="l">
              <a:defRPr sz="2025" b="1">
                <a:solidFill>
                  <a:srgbClr val="F7FAFF"/>
                </a:solidFill>
                <a:latin typeface="NanumGothic"/>
                <a:ea typeface="NanumGothic"/>
                <a:cs typeface="NanumGothic"/>
              </a:defRPr>
            </a:lvl3pPr>
            <a:lvl4pPr algn="l">
              <a:defRPr sz="2025" b="1">
                <a:solidFill>
                  <a:srgbClr val="F7FAFF"/>
                </a:solidFill>
                <a:latin typeface="NanumGothic"/>
                <a:ea typeface="NanumGothic"/>
                <a:cs typeface="NanumGothic"/>
              </a:defRPr>
            </a:lvl4pPr>
            <a:lvl5pPr algn="l">
              <a:defRPr sz="2025" b="1">
                <a:solidFill>
                  <a:srgbClr val="F7FAFF"/>
                </a:solidFill>
                <a:latin typeface="NanumGothic"/>
                <a:ea typeface="NanumGothic"/>
                <a:cs typeface="NanumGothic"/>
              </a:defRPr>
            </a:lvl5pPr>
            <a:lvl6pPr algn="l">
              <a:defRPr sz="2025" b="1">
                <a:solidFill>
                  <a:srgbClr val="F7FAFF"/>
                </a:solidFill>
                <a:latin typeface="NanumGothic"/>
                <a:ea typeface="NanumGothic"/>
                <a:cs typeface="NanumGothic"/>
              </a:defRPr>
            </a:lvl6pPr>
            <a:lvl7pPr algn="l">
              <a:defRPr sz="2025" b="1">
                <a:solidFill>
                  <a:srgbClr val="F7FAFF"/>
                </a:solidFill>
                <a:latin typeface="NanumGothic"/>
                <a:ea typeface="NanumGothic"/>
                <a:cs typeface="NanumGothic"/>
              </a:defRPr>
            </a:lvl7pPr>
            <a:lvl8pPr algn="l">
              <a:defRPr sz="2025" b="1">
                <a:solidFill>
                  <a:srgbClr val="F7FAFF"/>
                </a:solidFill>
                <a:latin typeface="NanumGothic"/>
                <a:ea typeface="NanumGothic"/>
                <a:cs typeface="NanumGothic"/>
              </a:defRPr>
            </a:lvl8pPr>
            <a:lvl9pPr algn="l">
              <a:defRPr sz="2025" b="1">
                <a:solidFill>
                  <a:srgbClr val="F7FAFF"/>
                </a:solidFill>
                <a:latin typeface="NanumGothic"/>
                <a:ea typeface="NanumGothic"/>
                <a:cs typeface="NanumGothic"/>
              </a:defRPr>
            </a:lvl9pPr>
          </a:lstStyle>
          <a:p xmlns:a="http://schemas.openxmlformats.org/drawingml/2006/main">
            <a:pPr algn="l">
              <a:defRPr sz="2025" b="1">
                <a:solidFill>
                  <a:srgbClr val="F7FAFF"/>
                </a:solidFill>
                <a:latin typeface="NanumGothic"/>
                <a:ea typeface="NanumGothic"/>
                <a:cs typeface="NanumGothic"/>
              </a:defRPr>
            </a:pPr>
            <a:r>
              <a:rPr sz="2025" b="1">
                <a:solidFill>
                  <a:srgbClr val="F7FAFF"/>
                </a:solidFill>
                <a:latin typeface="NanumGothic"/>
                <a:ea typeface="NanumGothic"/>
                <a:cs typeface="NanumGothic"/>
              </a:rPr>
              <a:t>곽윤석 · 김남기 (교신저자)</a:t>
            </a:r>
          </a:p>
        </p:txBody>
      </p:sp>
      <p:sp>
        <p:nvSpPr>
          <p:cNvPr id="5" name="경기대학교 컴퓨터과학과">
            <a:extLst xmlns:a="http://schemas.openxmlformats.org/drawingml/2006/main">
              <a:ext uri="{FF2B5EF4-FFF2-40B4-BE49-F238E27FC236}">
                <a16:creationId xmlns:a16="http://schemas.microsoft.com/office/drawing/2014/main" id="{1F758467-0738-465A-A018-08CDD2B7708C}"/>
              </a:ext>
            </a:extLst>
          </p:cNvPr>
          <p:cNvSpPr>
            <a:spLocks xmlns:a="http://schemas.openxmlformats.org/drawingml/2006/main" noGrp="1"/>
          </p:cNvSpPr>
          <p:nvPr/>
        </p:nvSpPr>
        <p:spPr>
          <a:xfrm xmlns:a="http://schemas.openxmlformats.org/drawingml/2006/main">
            <a:off x="609600" y="5219700"/>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AAB8CC"/>
                </a:solidFill>
                <a:latin typeface="NanumGothic"/>
                <a:ea typeface="NanumGothic"/>
                <a:cs typeface="NanumGothic"/>
              </a:defRPr>
            </a:defPPr>
            <a:lvl1pPr algn="l">
              <a:defRPr sz="1650" b="1">
                <a:solidFill>
                  <a:srgbClr val="AAB8CC"/>
                </a:solidFill>
                <a:latin typeface="NanumGothic"/>
                <a:ea typeface="NanumGothic"/>
                <a:cs typeface="NanumGothic"/>
              </a:defRPr>
            </a:lvl1pPr>
            <a:lvl2pPr algn="l">
              <a:defRPr sz="1650" b="1">
                <a:solidFill>
                  <a:srgbClr val="AAB8CC"/>
                </a:solidFill>
                <a:latin typeface="NanumGothic"/>
                <a:ea typeface="NanumGothic"/>
                <a:cs typeface="NanumGothic"/>
              </a:defRPr>
            </a:lvl2pPr>
            <a:lvl3pPr algn="l">
              <a:defRPr sz="1650" b="1">
                <a:solidFill>
                  <a:srgbClr val="AAB8CC"/>
                </a:solidFill>
                <a:latin typeface="NanumGothic"/>
                <a:ea typeface="NanumGothic"/>
                <a:cs typeface="NanumGothic"/>
              </a:defRPr>
            </a:lvl3pPr>
            <a:lvl4pPr algn="l">
              <a:defRPr sz="1650" b="1">
                <a:solidFill>
                  <a:srgbClr val="AAB8CC"/>
                </a:solidFill>
                <a:latin typeface="NanumGothic"/>
                <a:ea typeface="NanumGothic"/>
                <a:cs typeface="NanumGothic"/>
              </a:defRPr>
            </a:lvl4pPr>
            <a:lvl5pPr algn="l">
              <a:defRPr sz="1650" b="1">
                <a:solidFill>
                  <a:srgbClr val="AAB8CC"/>
                </a:solidFill>
                <a:latin typeface="NanumGothic"/>
                <a:ea typeface="NanumGothic"/>
                <a:cs typeface="NanumGothic"/>
              </a:defRPr>
            </a:lvl5pPr>
            <a:lvl6pPr algn="l">
              <a:defRPr sz="1650" b="1">
                <a:solidFill>
                  <a:srgbClr val="AAB8CC"/>
                </a:solidFill>
                <a:latin typeface="NanumGothic"/>
                <a:ea typeface="NanumGothic"/>
                <a:cs typeface="NanumGothic"/>
              </a:defRPr>
            </a:lvl6pPr>
            <a:lvl7pPr algn="l">
              <a:defRPr sz="1650" b="1">
                <a:solidFill>
                  <a:srgbClr val="AAB8CC"/>
                </a:solidFill>
                <a:latin typeface="NanumGothic"/>
                <a:ea typeface="NanumGothic"/>
                <a:cs typeface="NanumGothic"/>
              </a:defRPr>
            </a:lvl7pPr>
            <a:lvl8pPr algn="l">
              <a:defRPr sz="1650" b="1">
                <a:solidFill>
                  <a:srgbClr val="AAB8CC"/>
                </a:solidFill>
                <a:latin typeface="NanumGothic"/>
                <a:ea typeface="NanumGothic"/>
                <a:cs typeface="NanumGothic"/>
              </a:defRPr>
            </a:lvl8pPr>
            <a:lvl9pPr algn="l">
              <a:defRPr sz="1650" b="1">
                <a:solidFill>
                  <a:srgbClr val="AAB8CC"/>
                </a:solidFill>
                <a:latin typeface="NanumGothic"/>
                <a:ea typeface="NanumGothic"/>
                <a:cs typeface="NanumGothic"/>
              </a:defRPr>
            </a:lvl9pPr>
          </a:lstStyle>
          <a:p xmlns:a="http://schemas.openxmlformats.org/drawingml/2006/main">
            <a:pPr algn="l">
              <a:defRPr sz="1650" b="1">
                <a:solidFill>
                  <a:srgbClr val="AAB8CC"/>
                </a:solidFill>
                <a:latin typeface="NanumGothic"/>
                <a:ea typeface="NanumGothic"/>
                <a:cs typeface="NanumGothic"/>
              </a:defRPr>
            </a:pPr>
            <a:r>
              <a:rPr sz="1650" b="1">
                <a:solidFill>
                  <a:srgbClr val="AAB8CC"/>
                </a:solidFill>
                <a:latin typeface="NanumGothic"/>
                <a:ea typeface="NanumGothic"/>
                <a:cs typeface="NanumGothic"/>
              </a:rPr>
              <a:t>경기대학교 컴퓨터과학과</a:t>
            </a:r>
          </a:p>
        </p:txBody>
      </p:sp>
      <p:pic>
        <p:nvPicPr>
          <p:cNvPr id="6" name="">
            <a:extLst xmlns:a="http://schemas.openxmlformats.org/drawingml/2006/main">
              <a:ext uri="{FF2B5EF4-FFF2-40B4-BE49-F238E27FC236}">
                <a16:creationId xmlns:a16="http://schemas.microsoft.com/office/drawing/2014/main" id="{A02AA2CE-F270-4CBA-8A09-96DC10758C09}"/>
              </a:ext>
            </a:extLst>
          </p:cNvPr>
          <p:cNvPicPr>
            <a:picLocks xmlns:a="http://schemas.openxmlformats.org/drawingml/2006/main" noChangeAspect="1"/>
          </p:cNvPicPr>
          <p:nvPr/>
        </p:nvPicPr>
        <p:blipFill>
          <a:blip xmlns:r="http://schemas.openxmlformats.org/officeDocument/2006/relationships" xmlns:a="http://schemas.openxmlformats.org/drawingml/2006/main" r:embed="Raaca64e906c94828"/>
          <a:stretch xmlns:a="http://schemas.openxmlformats.org/drawingml/2006/main"/>
        </p:blipFill>
        <p:spPr>
          <a:xfrm xmlns:a="http://schemas.openxmlformats.org/drawingml/2006/main">
            <a:off x="8896350" y="5219700"/>
            <a:ext cx="2686050" cy="748395"/>
          </a:xfrm>
          <a:prstGeom xmlns:a="http://schemas.openxmlformats.org/drawingml/2006/main" prst="rect">
            <a:avLst/>
          </a:prstGeom>
        </p:spPr>
      </p:pic>
    </p:spTree>
    <p:extLst>
      <p:ext uri="{BB962C8B-B14F-4D97-AF65-F5344CB8AC3E}">
        <p14:creationId xmlns:p14="http://schemas.microsoft.com/office/powerpoint/2010/main" val="452470119"/>
      </p:ext>
    </p:extLst>
  </p:cSld>
</p:sld>
</file>

<file path=ppt/slides/slide2.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10" name="연구 배경">
            <a:extLst xmlns:a="http://schemas.openxmlformats.org/drawingml/2006/main">
              <a:ext uri="{FF2B5EF4-FFF2-40B4-BE49-F238E27FC236}">
                <a16:creationId xmlns:a16="http://schemas.microsoft.com/office/drawing/2014/main" id="{FC20460C-056F-4FC5-BA0C-88ADAACAB47A}"/>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연구 배경</a:t>
            </a:r>
          </a:p>
        </p:txBody>
      </p:sp>
      <p:sp>
        <p:nvSpPr>
          <p:cNvPr id="2" name="현장 영상의 변화와 연구 질문">
            <a:extLst xmlns:a="http://schemas.openxmlformats.org/drawingml/2006/main">
              <a:ext uri="{FF2B5EF4-FFF2-40B4-BE49-F238E27FC236}">
                <a16:creationId xmlns:a16="http://schemas.microsoft.com/office/drawing/2014/main" id="{365FBAA7-94E0-45BC-901C-7EB77AAF0094}"/>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현장 영상의 변화와 연구 질문</a:t>
            </a:r>
          </a:p>
        </p:txBody>
      </p:sp>
      <p:sp>
        <p:nvSpPr>
          <p:cNvPr id="3" name="경기대학교 컴퓨터과학과">
            <a:extLst xmlns:a="http://schemas.openxmlformats.org/drawingml/2006/main">
              <a:ext uri="{FF2B5EF4-FFF2-40B4-BE49-F238E27FC236}">
                <a16:creationId xmlns:a16="http://schemas.microsoft.com/office/drawing/2014/main" id="{DD8104B3-6149-4A6C-9166-EE77038C2946}"/>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02">
            <a:extLst xmlns:a="http://schemas.openxmlformats.org/drawingml/2006/main">
              <a:ext uri="{FF2B5EF4-FFF2-40B4-BE49-F238E27FC236}">
                <a16:creationId xmlns:a16="http://schemas.microsoft.com/office/drawing/2014/main" id="{BF1C48C4-9F82-44D4-B7FC-2BF84A5805E1}"/>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02</a:t>
            </a:r>
          </a:p>
        </p:txBody>
      </p:sp>
      <p:sp>
        <p:nvSpPr>
          <p:cNvPr id="5" name="어떤 현장 영상이 들어올지 모르는 상황">
            <a:extLst xmlns:a="http://schemas.openxmlformats.org/drawingml/2006/main">
              <a:ext uri="{FF2B5EF4-FFF2-40B4-BE49-F238E27FC236}">
                <a16:creationId xmlns:a16="http://schemas.microsoft.com/office/drawing/2014/main" id="{C0442180-DDC1-4D29-93B5-A18C42DE55B6}"/>
              </a:ext>
            </a:extLst>
          </p:cNvPr>
          <p:cNvSpPr>
            <a:spLocks xmlns:a="http://schemas.openxmlformats.org/drawingml/2006/main" noGrp="1"/>
          </p:cNvSpPr>
          <p:nvPr/>
        </p:nvSpPr>
        <p:spPr>
          <a:xfrm xmlns:a="http://schemas.openxmlformats.org/drawingml/2006/main">
            <a:off x="609600" y="16192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3B92FF"/>
                </a:solidFill>
                <a:latin typeface="NanumGothic"/>
                <a:ea typeface="NanumGothic"/>
                <a:cs typeface="NanumGothic"/>
              </a:defRPr>
            </a:defPPr>
            <a:lvl1pPr algn="l">
              <a:defRPr sz="2775" b="1">
                <a:solidFill>
                  <a:srgbClr val="3B92FF"/>
                </a:solidFill>
                <a:latin typeface="NanumGothic"/>
                <a:ea typeface="NanumGothic"/>
                <a:cs typeface="NanumGothic"/>
              </a:defRPr>
            </a:lvl1pPr>
            <a:lvl2pPr algn="l">
              <a:defRPr sz="2775" b="1">
                <a:solidFill>
                  <a:srgbClr val="3B92FF"/>
                </a:solidFill>
                <a:latin typeface="NanumGothic"/>
                <a:ea typeface="NanumGothic"/>
                <a:cs typeface="NanumGothic"/>
              </a:defRPr>
            </a:lvl2pPr>
            <a:lvl3pPr algn="l">
              <a:defRPr sz="2775" b="1">
                <a:solidFill>
                  <a:srgbClr val="3B92FF"/>
                </a:solidFill>
                <a:latin typeface="NanumGothic"/>
                <a:ea typeface="NanumGothic"/>
                <a:cs typeface="NanumGothic"/>
              </a:defRPr>
            </a:lvl3pPr>
            <a:lvl4pPr algn="l">
              <a:defRPr sz="2775" b="1">
                <a:solidFill>
                  <a:srgbClr val="3B92FF"/>
                </a:solidFill>
                <a:latin typeface="NanumGothic"/>
                <a:ea typeface="NanumGothic"/>
                <a:cs typeface="NanumGothic"/>
              </a:defRPr>
            </a:lvl4pPr>
            <a:lvl5pPr algn="l">
              <a:defRPr sz="2775" b="1">
                <a:solidFill>
                  <a:srgbClr val="3B92FF"/>
                </a:solidFill>
                <a:latin typeface="NanumGothic"/>
                <a:ea typeface="NanumGothic"/>
                <a:cs typeface="NanumGothic"/>
              </a:defRPr>
            </a:lvl5pPr>
            <a:lvl6pPr algn="l">
              <a:defRPr sz="2775" b="1">
                <a:solidFill>
                  <a:srgbClr val="3B92FF"/>
                </a:solidFill>
                <a:latin typeface="NanumGothic"/>
                <a:ea typeface="NanumGothic"/>
                <a:cs typeface="NanumGothic"/>
              </a:defRPr>
            </a:lvl6pPr>
            <a:lvl7pPr algn="l">
              <a:defRPr sz="2775" b="1">
                <a:solidFill>
                  <a:srgbClr val="3B92FF"/>
                </a:solidFill>
                <a:latin typeface="NanumGothic"/>
                <a:ea typeface="NanumGothic"/>
                <a:cs typeface="NanumGothic"/>
              </a:defRPr>
            </a:lvl7pPr>
            <a:lvl8pPr algn="l">
              <a:defRPr sz="2775" b="1">
                <a:solidFill>
                  <a:srgbClr val="3B92FF"/>
                </a:solidFill>
                <a:latin typeface="NanumGothic"/>
                <a:ea typeface="NanumGothic"/>
                <a:cs typeface="NanumGothic"/>
              </a:defRPr>
            </a:lvl8pPr>
            <a:lvl9pPr algn="l">
              <a:defRPr sz="2775" b="1">
                <a:solidFill>
                  <a:srgbClr val="3B92FF"/>
                </a:solidFill>
                <a:latin typeface="NanumGothic"/>
                <a:ea typeface="NanumGothic"/>
                <a:cs typeface="NanumGothic"/>
              </a:defRPr>
            </a:lvl9pPr>
          </a:lstStyle>
          <a:p xmlns:a="http://schemas.openxmlformats.org/drawingml/2006/main">
            <a:pPr algn="l">
              <a:defRPr sz="2775" b="1">
                <a:solidFill>
                  <a:srgbClr val="3B92FF"/>
                </a:solidFill>
                <a:latin typeface="NanumGothic"/>
                <a:ea typeface="NanumGothic"/>
                <a:cs typeface="NanumGothic"/>
              </a:defRPr>
            </a:pPr>
            <a:r>
              <a:rPr sz="2775" b="1">
                <a:solidFill>
                  <a:srgbClr val="3B92FF"/>
                </a:solidFill>
                <a:latin typeface="NanumGothic"/>
                <a:ea typeface="NanumGothic"/>
                <a:cs typeface="NanumGothic"/>
              </a:rPr>
              <a:t>어떤 현장 영상이 들어올지 모르는 상황</a:t>
            </a:r>
          </a:p>
        </p:txBody>
      </p:sp>
      <p:sp>
        <p:nvSpPr>
          <p:cNvPr id="6" name="밝기·대비·잡음과 경계 표현의 변화">
            <a:extLst xmlns:a="http://schemas.openxmlformats.org/drawingml/2006/main">
              <a:ext uri="{FF2B5EF4-FFF2-40B4-BE49-F238E27FC236}">
                <a16:creationId xmlns:a16="http://schemas.microsoft.com/office/drawing/2014/main" id="{A9091E18-A38A-44C6-8D81-7432BF07D779}"/>
              </a:ext>
            </a:extLst>
          </p:cNvPr>
          <p:cNvSpPr>
            <a:spLocks xmlns:a="http://schemas.openxmlformats.org/drawingml/2006/main" noGrp="1"/>
          </p:cNvSpPr>
          <p:nvPr/>
        </p:nvSpPr>
        <p:spPr>
          <a:xfrm xmlns:a="http://schemas.openxmlformats.org/drawingml/2006/main">
            <a:off x="609600" y="25050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AAB8CC"/>
                </a:solidFill>
                <a:latin typeface="NanumGothic"/>
                <a:ea typeface="NanumGothic"/>
                <a:cs typeface="NanumGothic"/>
              </a:defRPr>
            </a:defPPr>
            <a:lvl1pPr algn="l">
              <a:defRPr sz="2175" b="1">
                <a:solidFill>
                  <a:srgbClr val="AAB8CC"/>
                </a:solidFill>
                <a:latin typeface="NanumGothic"/>
                <a:ea typeface="NanumGothic"/>
                <a:cs typeface="NanumGothic"/>
              </a:defRPr>
            </a:lvl1pPr>
            <a:lvl2pPr algn="l">
              <a:defRPr sz="2175" b="1">
                <a:solidFill>
                  <a:srgbClr val="AAB8CC"/>
                </a:solidFill>
                <a:latin typeface="NanumGothic"/>
                <a:ea typeface="NanumGothic"/>
                <a:cs typeface="NanumGothic"/>
              </a:defRPr>
            </a:lvl2pPr>
            <a:lvl3pPr algn="l">
              <a:defRPr sz="2175" b="1">
                <a:solidFill>
                  <a:srgbClr val="AAB8CC"/>
                </a:solidFill>
                <a:latin typeface="NanumGothic"/>
                <a:ea typeface="NanumGothic"/>
                <a:cs typeface="NanumGothic"/>
              </a:defRPr>
            </a:lvl3pPr>
            <a:lvl4pPr algn="l">
              <a:defRPr sz="2175" b="1">
                <a:solidFill>
                  <a:srgbClr val="AAB8CC"/>
                </a:solidFill>
                <a:latin typeface="NanumGothic"/>
                <a:ea typeface="NanumGothic"/>
                <a:cs typeface="NanumGothic"/>
              </a:defRPr>
            </a:lvl4pPr>
            <a:lvl5pPr algn="l">
              <a:defRPr sz="2175" b="1">
                <a:solidFill>
                  <a:srgbClr val="AAB8CC"/>
                </a:solidFill>
                <a:latin typeface="NanumGothic"/>
                <a:ea typeface="NanumGothic"/>
                <a:cs typeface="NanumGothic"/>
              </a:defRPr>
            </a:lvl5pPr>
            <a:lvl6pPr algn="l">
              <a:defRPr sz="2175" b="1">
                <a:solidFill>
                  <a:srgbClr val="AAB8CC"/>
                </a:solidFill>
                <a:latin typeface="NanumGothic"/>
                <a:ea typeface="NanumGothic"/>
                <a:cs typeface="NanumGothic"/>
              </a:defRPr>
            </a:lvl6pPr>
            <a:lvl7pPr algn="l">
              <a:defRPr sz="2175" b="1">
                <a:solidFill>
                  <a:srgbClr val="AAB8CC"/>
                </a:solidFill>
                <a:latin typeface="NanumGothic"/>
                <a:ea typeface="NanumGothic"/>
                <a:cs typeface="NanumGothic"/>
              </a:defRPr>
            </a:lvl7pPr>
            <a:lvl8pPr algn="l">
              <a:defRPr sz="2175" b="1">
                <a:solidFill>
                  <a:srgbClr val="AAB8CC"/>
                </a:solidFill>
                <a:latin typeface="NanumGothic"/>
                <a:ea typeface="NanumGothic"/>
                <a:cs typeface="NanumGothic"/>
              </a:defRPr>
            </a:lvl8pPr>
            <a:lvl9pPr algn="l">
              <a:defRPr sz="2175" b="1">
                <a:solidFill>
                  <a:srgbClr val="AAB8CC"/>
                </a:solidFill>
                <a:latin typeface="NanumGothic"/>
                <a:ea typeface="NanumGothic"/>
                <a:cs typeface="NanumGothic"/>
              </a:defRPr>
            </a:lvl9pPr>
          </a:lstStyle>
          <a:p xmlns:a="http://schemas.openxmlformats.org/drawingml/2006/main">
            <a:pPr algn="l">
              <a:defRPr sz="2175" b="1">
                <a:solidFill>
                  <a:srgbClr val="AAB8CC"/>
                </a:solidFill>
                <a:latin typeface="NanumGothic"/>
                <a:ea typeface="NanumGothic"/>
                <a:cs typeface="NanumGothic"/>
              </a:defRPr>
            </a:pPr>
            <a:r>
              <a:rPr sz="2175" b="1">
                <a:solidFill>
                  <a:srgbClr val="AAB8CC"/>
                </a:solidFill>
                <a:latin typeface="NanumGothic"/>
                <a:ea typeface="NanumGothic"/>
                <a:cs typeface="NanumGothic"/>
              </a:rPr>
              <a:t>밝기·대비·잡음과 경계 표현의 변화</a:t>
            </a:r>
          </a:p>
        </p:txBody>
      </p:sp>
      <p:sp>
        <p:nvSpPr>
          <p:cNvPr id="7" name="전처리 후에도 볼 검출 성능이 유지되는가?">
            <a:extLst xmlns:a="http://schemas.openxmlformats.org/drawingml/2006/main">
              <a:ext uri="{FF2B5EF4-FFF2-40B4-BE49-F238E27FC236}">
                <a16:creationId xmlns:a16="http://schemas.microsoft.com/office/drawing/2014/main" id="{97CE3ED7-C0B6-4D72-921C-D5C353586834}"/>
              </a:ext>
            </a:extLst>
          </p:cNvPr>
          <p:cNvSpPr>
            <a:spLocks xmlns:a="http://schemas.openxmlformats.org/drawingml/2006/main" noGrp="1"/>
          </p:cNvSpPr>
          <p:nvPr/>
        </p:nvSpPr>
        <p:spPr>
          <a:xfrm xmlns:a="http://schemas.openxmlformats.org/drawingml/2006/main">
            <a:off x="609600" y="33432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7FAFF"/>
                </a:solidFill>
                <a:latin typeface="NanumGothic"/>
                <a:ea typeface="NanumGothic"/>
                <a:cs typeface="NanumGothic"/>
              </a:defRPr>
            </a:defPPr>
            <a:lvl1pPr algn="l">
              <a:defRPr sz="2550" b="1">
                <a:solidFill>
                  <a:srgbClr val="F7FAFF"/>
                </a:solidFill>
                <a:latin typeface="NanumGothic"/>
                <a:ea typeface="NanumGothic"/>
                <a:cs typeface="NanumGothic"/>
              </a:defRPr>
            </a:lvl1pPr>
            <a:lvl2pPr algn="l">
              <a:defRPr sz="2550" b="1">
                <a:solidFill>
                  <a:srgbClr val="F7FAFF"/>
                </a:solidFill>
                <a:latin typeface="NanumGothic"/>
                <a:ea typeface="NanumGothic"/>
                <a:cs typeface="NanumGothic"/>
              </a:defRPr>
            </a:lvl2pPr>
            <a:lvl3pPr algn="l">
              <a:defRPr sz="2550" b="1">
                <a:solidFill>
                  <a:srgbClr val="F7FAFF"/>
                </a:solidFill>
                <a:latin typeface="NanumGothic"/>
                <a:ea typeface="NanumGothic"/>
                <a:cs typeface="NanumGothic"/>
              </a:defRPr>
            </a:lvl3pPr>
            <a:lvl4pPr algn="l">
              <a:defRPr sz="2550" b="1">
                <a:solidFill>
                  <a:srgbClr val="F7FAFF"/>
                </a:solidFill>
                <a:latin typeface="NanumGothic"/>
                <a:ea typeface="NanumGothic"/>
                <a:cs typeface="NanumGothic"/>
              </a:defRPr>
            </a:lvl4pPr>
            <a:lvl5pPr algn="l">
              <a:defRPr sz="2550" b="1">
                <a:solidFill>
                  <a:srgbClr val="F7FAFF"/>
                </a:solidFill>
                <a:latin typeface="NanumGothic"/>
                <a:ea typeface="NanumGothic"/>
                <a:cs typeface="NanumGothic"/>
              </a:defRPr>
            </a:lvl5pPr>
            <a:lvl6pPr algn="l">
              <a:defRPr sz="2550" b="1">
                <a:solidFill>
                  <a:srgbClr val="F7FAFF"/>
                </a:solidFill>
                <a:latin typeface="NanumGothic"/>
                <a:ea typeface="NanumGothic"/>
                <a:cs typeface="NanumGothic"/>
              </a:defRPr>
            </a:lvl6pPr>
            <a:lvl7pPr algn="l">
              <a:defRPr sz="2550" b="1">
                <a:solidFill>
                  <a:srgbClr val="F7FAFF"/>
                </a:solidFill>
                <a:latin typeface="NanumGothic"/>
                <a:ea typeface="NanumGothic"/>
                <a:cs typeface="NanumGothic"/>
              </a:defRPr>
            </a:lvl7pPr>
            <a:lvl8pPr algn="l">
              <a:defRPr sz="2550" b="1">
                <a:solidFill>
                  <a:srgbClr val="F7FAFF"/>
                </a:solidFill>
                <a:latin typeface="NanumGothic"/>
                <a:ea typeface="NanumGothic"/>
                <a:cs typeface="NanumGothic"/>
              </a:defRPr>
            </a:lvl8pPr>
            <a:lvl9pPr algn="l">
              <a:defRPr sz="2550" b="1">
                <a:solidFill>
                  <a:srgbClr val="F7FAFF"/>
                </a:solidFill>
                <a:latin typeface="NanumGothic"/>
                <a:ea typeface="NanumGothic"/>
                <a:cs typeface="NanumGothic"/>
              </a:defRPr>
            </a:lvl9pPr>
          </a:lstStyle>
          <a:p xmlns:a="http://schemas.openxmlformats.org/drawingml/2006/main">
            <a:pPr algn="l">
              <a:defRPr sz="2550" b="1">
                <a:solidFill>
                  <a:srgbClr val="F7FAFF"/>
                </a:solidFill>
                <a:latin typeface="NanumGothic"/>
                <a:ea typeface="NanumGothic"/>
                <a:cs typeface="NanumGothic"/>
              </a:defRPr>
            </a:pPr>
            <a:r>
              <a:rPr sz="2550" b="1">
                <a:solidFill>
                  <a:srgbClr val="F7FAFF"/>
                </a:solidFill>
                <a:latin typeface="NanumGothic"/>
                <a:ea typeface="NanumGothic"/>
                <a:cs typeface="NanumGothic"/>
              </a:rPr>
              <a:t>전처리 후에도 볼 검출 성능이 유지되는가?</a:t>
            </a:r>
          </a:p>
        </p:txBody>
      </p:sp>
      <p:sp>
        <p:nvSpPr>
          <p:cNvPr id="8" name="어떤 단일 필터와 순차 조합이 유리한가?">
            <a:extLst xmlns:a="http://schemas.openxmlformats.org/drawingml/2006/main">
              <a:ext uri="{FF2B5EF4-FFF2-40B4-BE49-F238E27FC236}">
                <a16:creationId xmlns:a16="http://schemas.microsoft.com/office/drawing/2014/main" id="{26BCDDC9-3D85-4593-BBEB-15F9D74F2104}"/>
              </a:ext>
            </a:extLst>
          </p:cNvPr>
          <p:cNvSpPr>
            <a:spLocks xmlns:a="http://schemas.openxmlformats.org/drawingml/2006/main" noGrp="1"/>
          </p:cNvSpPr>
          <p:nvPr/>
        </p:nvSpPr>
        <p:spPr>
          <a:xfrm xmlns:a="http://schemas.openxmlformats.org/drawingml/2006/main">
            <a:off x="609600" y="41243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7FAFF"/>
                </a:solidFill>
                <a:latin typeface="NanumGothic"/>
                <a:ea typeface="NanumGothic"/>
                <a:cs typeface="NanumGothic"/>
              </a:defRPr>
            </a:defPPr>
            <a:lvl1pPr algn="l">
              <a:defRPr sz="2550" b="1">
                <a:solidFill>
                  <a:srgbClr val="F7FAFF"/>
                </a:solidFill>
                <a:latin typeface="NanumGothic"/>
                <a:ea typeface="NanumGothic"/>
                <a:cs typeface="NanumGothic"/>
              </a:defRPr>
            </a:lvl1pPr>
            <a:lvl2pPr algn="l">
              <a:defRPr sz="2550" b="1">
                <a:solidFill>
                  <a:srgbClr val="F7FAFF"/>
                </a:solidFill>
                <a:latin typeface="NanumGothic"/>
                <a:ea typeface="NanumGothic"/>
                <a:cs typeface="NanumGothic"/>
              </a:defRPr>
            </a:lvl2pPr>
            <a:lvl3pPr algn="l">
              <a:defRPr sz="2550" b="1">
                <a:solidFill>
                  <a:srgbClr val="F7FAFF"/>
                </a:solidFill>
                <a:latin typeface="NanumGothic"/>
                <a:ea typeface="NanumGothic"/>
                <a:cs typeface="NanumGothic"/>
              </a:defRPr>
            </a:lvl3pPr>
            <a:lvl4pPr algn="l">
              <a:defRPr sz="2550" b="1">
                <a:solidFill>
                  <a:srgbClr val="F7FAFF"/>
                </a:solidFill>
                <a:latin typeface="NanumGothic"/>
                <a:ea typeface="NanumGothic"/>
                <a:cs typeface="NanumGothic"/>
              </a:defRPr>
            </a:lvl4pPr>
            <a:lvl5pPr algn="l">
              <a:defRPr sz="2550" b="1">
                <a:solidFill>
                  <a:srgbClr val="F7FAFF"/>
                </a:solidFill>
                <a:latin typeface="NanumGothic"/>
                <a:ea typeface="NanumGothic"/>
                <a:cs typeface="NanumGothic"/>
              </a:defRPr>
            </a:lvl5pPr>
            <a:lvl6pPr algn="l">
              <a:defRPr sz="2550" b="1">
                <a:solidFill>
                  <a:srgbClr val="F7FAFF"/>
                </a:solidFill>
                <a:latin typeface="NanumGothic"/>
                <a:ea typeface="NanumGothic"/>
                <a:cs typeface="NanumGothic"/>
              </a:defRPr>
            </a:lvl6pPr>
            <a:lvl7pPr algn="l">
              <a:defRPr sz="2550" b="1">
                <a:solidFill>
                  <a:srgbClr val="F7FAFF"/>
                </a:solidFill>
                <a:latin typeface="NanumGothic"/>
                <a:ea typeface="NanumGothic"/>
                <a:cs typeface="NanumGothic"/>
              </a:defRPr>
            </a:lvl7pPr>
            <a:lvl8pPr algn="l">
              <a:defRPr sz="2550" b="1">
                <a:solidFill>
                  <a:srgbClr val="F7FAFF"/>
                </a:solidFill>
                <a:latin typeface="NanumGothic"/>
                <a:ea typeface="NanumGothic"/>
                <a:cs typeface="NanumGothic"/>
              </a:defRPr>
            </a:lvl8pPr>
            <a:lvl9pPr algn="l">
              <a:defRPr sz="2550" b="1">
                <a:solidFill>
                  <a:srgbClr val="F7FAFF"/>
                </a:solidFill>
                <a:latin typeface="NanumGothic"/>
                <a:ea typeface="NanumGothic"/>
                <a:cs typeface="NanumGothic"/>
              </a:defRPr>
            </a:lvl9pPr>
          </a:lstStyle>
          <a:p xmlns:a="http://schemas.openxmlformats.org/drawingml/2006/main">
            <a:pPr algn="l">
              <a:defRPr sz="2550" b="1">
                <a:solidFill>
                  <a:srgbClr val="F7FAFF"/>
                </a:solidFill>
                <a:latin typeface="NanumGothic"/>
                <a:ea typeface="NanumGothic"/>
                <a:cs typeface="NanumGothic"/>
              </a:defRPr>
            </a:pPr>
            <a:r>
              <a:rPr sz="2550" b="1">
                <a:solidFill>
                  <a:srgbClr val="F7FAFF"/>
                </a:solidFill>
                <a:latin typeface="NanumGothic"/>
                <a:ea typeface="NanumGothic"/>
                <a:cs typeface="NanumGothic"/>
              </a:rPr>
              <a:t>어떤 단일 필터와 순차 조합이 유리한가?</a:t>
            </a:r>
          </a:p>
        </p:txBody>
      </p:sp>
      <p:sp>
        <p:nvSpPr>
          <p:cNvPr id="9" name="비교 범위: 일반 영상과 합성 가우시안 잡음">
            <a:extLst xmlns:a="http://schemas.openxmlformats.org/drawingml/2006/main">
              <a:ext uri="{FF2B5EF4-FFF2-40B4-BE49-F238E27FC236}">
                <a16:creationId xmlns:a16="http://schemas.microsoft.com/office/drawing/2014/main" id="{CC8F1377-DCC3-44A3-8A50-2BEC6EA3296C}"/>
              </a:ext>
            </a:extLst>
          </p:cNvPr>
          <p:cNvSpPr>
            <a:spLocks xmlns:a="http://schemas.openxmlformats.org/drawingml/2006/main" noGrp="1"/>
          </p:cNvSpPr>
          <p:nvPr/>
        </p:nvSpPr>
        <p:spPr>
          <a:xfrm xmlns:a="http://schemas.openxmlformats.org/drawingml/2006/main">
            <a:off x="609600" y="54768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AAB8CC"/>
                </a:solidFill>
                <a:latin typeface="NanumGothic"/>
                <a:ea typeface="NanumGothic"/>
                <a:cs typeface="NanumGothic"/>
              </a:defRPr>
            </a:defPPr>
            <a:lvl1pPr algn="l">
              <a:defRPr sz="1800" b="1">
                <a:solidFill>
                  <a:srgbClr val="AAB8CC"/>
                </a:solidFill>
                <a:latin typeface="NanumGothic"/>
                <a:ea typeface="NanumGothic"/>
                <a:cs typeface="NanumGothic"/>
              </a:defRPr>
            </a:lvl1pPr>
            <a:lvl2pPr algn="l">
              <a:defRPr sz="1800" b="1">
                <a:solidFill>
                  <a:srgbClr val="AAB8CC"/>
                </a:solidFill>
                <a:latin typeface="NanumGothic"/>
                <a:ea typeface="NanumGothic"/>
                <a:cs typeface="NanumGothic"/>
              </a:defRPr>
            </a:lvl2pPr>
            <a:lvl3pPr algn="l">
              <a:defRPr sz="1800" b="1">
                <a:solidFill>
                  <a:srgbClr val="AAB8CC"/>
                </a:solidFill>
                <a:latin typeface="NanumGothic"/>
                <a:ea typeface="NanumGothic"/>
                <a:cs typeface="NanumGothic"/>
              </a:defRPr>
            </a:lvl3pPr>
            <a:lvl4pPr algn="l">
              <a:defRPr sz="1800" b="1">
                <a:solidFill>
                  <a:srgbClr val="AAB8CC"/>
                </a:solidFill>
                <a:latin typeface="NanumGothic"/>
                <a:ea typeface="NanumGothic"/>
                <a:cs typeface="NanumGothic"/>
              </a:defRPr>
            </a:lvl4pPr>
            <a:lvl5pPr algn="l">
              <a:defRPr sz="1800" b="1">
                <a:solidFill>
                  <a:srgbClr val="AAB8CC"/>
                </a:solidFill>
                <a:latin typeface="NanumGothic"/>
                <a:ea typeface="NanumGothic"/>
                <a:cs typeface="NanumGothic"/>
              </a:defRPr>
            </a:lvl5pPr>
            <a:lvl6pPr algn="l">
              <a:defRPr sz="1800" b="1">
                <a:solidFill>
                  <a:srgbClr val="AAB8CC"/>
                </a:solidFill>
                <a:latin typeface="NanumGothic"/>
                <a:ea typeface="NanumGothic"/>
                <a:cs typeface="NanumGothic"/>
              </a:defRPr>
            </a:lvl6pPr>
            <a:lvl7pPr algn="l">
              <a:defRPr sz="1800" b="1">
                <a:solidFill>
                  <a:srgbClr val="AAB8CC"/>
                </a:solidFill>
                <a:latin typeface="NanumGothic"/>
                <a:ea typeface="NanumGothic"/>
                <a:cs typeface="NanumGothic"/>
              </a:defRPr>
            </a:lvl7pPr>
            <a:lvl8pPr algn="l">
              <a:defRPr sz="1800" b="1">
                <a:solidFill>
                  <a:srgbClr val="AAB8CC"/>
                </a:solidFill>
                <a:latin typeface="NanumGothic"/>
                <a:ea typeface="NanumGothic"/>
                <a:cs typeface="NanumGothic"/>
              </a:defRPr>
            </a:lvl8pPr>
            <a:lvl9pPr algn="l">
              <a:defRPr sz="1800" b="1">
                <a:solidFill>
                  <a:srgbClr val="AAB8CC"/>
                </a:solidFill>
                <a:latin typeface="NanumGothic"/>
                <a:ea typeface="NanumGothic"/>
                <a:cs typeface="NanumGothic"/>
              </a:defRPr>
            </a:lvl9pPr>
          </a:lstStyle>
          <a:p xmlns:a="http://schemas.openxmlformats.org/drawingml/2006/main">
            <a:pPr algn="l">
              <a:defRPr sz="1800" b="1">
                <a:solidFill>
                  <a:srgbClr val="AAB8CC"/>
                </a:solidFill>
                <a:latin typeface="NanumGothic"/>
                <a:ea typeface="NanumGothic"/>
                <a:cs typeface="NanumGothic"/>
              </a:defRPr>
            </a:pPr>
            <a:r>
              <a:rPr sz="1800" b="1">
                <a:solidFill>
                  <a:srgbClr val="AAB8CC"/>
                </a:solidFill>
                <a:latin typeface="NanumGothic"/>
                <a:ea typeface="NanumGothic"/>
                <a:cs typeface="NanumGothic"/>
              </a:rPr>
              <a:t>비교 범위: 일반 영상과 합성 가우시안 잡음</a:t>
            </a:r>
          </a:p>
        </p:txBody>
      </p:sp>
    </p:spTree>
    <p:extLst>
      <p:ext uri="{BB962C8B-B14F-4D97-AF65-F5344CB8AC3E}">
        <p14:creationId xmlns:p14="http://schemas.microsoft.com/office/powerpoint/2010/main" val="837209326"/>
      </p:ext>
    </p:extLst>
  </p:cSld>
</p:sld>
</file>

<file path=ppt/slides/slide3.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12" name="연구 배경">
            <a:extLst xmlns:a="http://schemas.openxmlformats.org/drawingml/2006/main">
              <a:ext uri="{FF2B5EF4-FFF2-40B4-BE49-F238E27FC236}">
                <a16:creationId xmlns:a16="http://schemas.microsoft.com/office/drawing/2014/main" id="{2194DFA6-CF48-4A90-B3A7-6B6FE0FC281D}"/>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연구 배경</a:t>
            </a:r>
          </a:p>
        </p:txBody>
      </p:sp>
      <p:sp>
        <p:nvSpPr>
          <p:cNvPr id="2" name="데이터와 그룹 기반 평가">
            <a:extLst xmlns:a="http://schemas.openxmlformats.org/drawingml/2006/main">
              <a:ext uri="{FF2B5EF4-FFF2-40B4-BE49-F238E27FC236}">
                <a16:creationId xmlns:a16="http://schemas.microsoft.com/office/drawing/2014/main" id="{2C816A5D-F36C-4A91-9ECC-11E643B0D16C}"/>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데이터와 그룹 기반 평가</a:t>
            </a:r>
          </a:p>
        </p:txBody>
      </p:sp>
      <p:sp>
        <p:nvSpPr>
          <p:cNvPr id="3" name="경기대학교 컴퓨터과학과">
            <a:extLst xmlns:a="http://schemas.openxmlformats.org/drawingml/2006/main">
              <a:ext uri="{FF2B5EF4-FFF2-40B4-BE49-F238E27FC236}">
                <a16:creationId xmlns:a16="http://schemas.microsoft.com/office/drawing/2014/main" id="{883D33A0-EC0E-4EB4-BE0E-D6C416280604}"/>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03">
            <a:extLst xmlns:a="http://schemas.openxmlformats.org/drawingml/2006/main">
              <a:ext uri="{FF2B5EF4-FFF2-40B4-BE49-F238E27FC236}">
                <a16:creationId xmlns:a16="http://schemas.microsoft.com/office/drawing/2014/main" id="{DB244170-DBB3-4A79-B03D-A0B7DC85A66C}"/>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03</a:t>
            </a:r>
          </a:p>
        </p:txBody>
      </p:sp>
      <p:sp>
        <p:nvSpPr>
          <p:cNvPr id="5" name="500장">
            <a:extLst xmlns:a="http://schemas.openxmlformats.org/drawingml/2006/main">
              <a:ext uri="{FF2B5EF4-FFF2-40B4-BE49-F238E27FC236}">
                <a16:creationId xmlns:a16="http://schemas.microsoft.com/office/drawing/2014/main" id="{ED147B97-0547-48C5-B52F-26EE8288CE36}"/>
              </a:ext>
            </a:extLst>
          </p:cNvPr>
          <p:cNvSpPr>
            <a:spLocks xmlns:a="http://schemas.openxmlformats.org/drawingml/2006/main" noGrp="1"/>
          </p:cNvSpPr>
          <p:nvPr/>
        </p:nvSpPr>
        <p:spPr>
          <a:xfrm xmlns:a="http://schemas.openxmlformats.org/drawingml/2006/main">
            <a:off x="609600" y="16573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3B92FF"/>
                </a:solidFill>
                <a:latin typeface="NanumGothic"/>
                <a:ea typeface="NanumGothic"/>
                <a:cs typeface="NanumGothic"/>
              </a:defRPr>
            </a:defPPr>
            <a:lvl1pPr algn="l">
              <a:defRPr sz="5850" b="1">
                <a:solidFill>
                  <a:srgbClr val="3B92FF"/>
                </a:solidFill>
                <a:latin typeface="NanumGothic"/>
                <a:ea typeface="NanumGothic"/>
                <a:cs typeface="NanumGothic"/>
              </a:defRPr>
            </a:lvl1pPr>
            <a:lvl2pPr algn="l">
              <a:defRPr sz="5850" b="1">
                <a:solidFill>
                  <a:srgbClr val="3B92FF"/>
                </a:solidFill>
                <a:latin typeface="NanumGothic"/>
                <a:ea typeface="NanumGothic"/>
                <a:cs typeface="NanumGothic"/>
              </a:defRPr>
            </a:lvl2pPr>
            <a:lvl3pPr algn="l">
              <a:defRPr sz="5850" b="1">
                <a:solidFill>
                  <a:srgbClr val="3B92FF"/>
                </a:solidFill>
                <a:latin typeface="NanumGothic"/>
                <a:ea typeface="NanumGothic"/>
                <a:cs typeface="NanumGothic"/>
              </a:defRPr>
            </a:lvl3pPr>
            <a:lvl4pPr algn="l">
              <a:defRPr sz="5850" b="1">
                <a:solidFill>
                  <a:srgbClr val="3B92FF"/>
                </a:solidFill>
                <a:latin typeface="NanumGothic"/>
                <a:ea typeface="NanumGothic"/>
                <a:cs typeface="NanumGothic"/>
              </a:defRPr>
            </a:lvl4pPr>
            <a:lvl5pPr algn="l">
              <a:defRPr sz="5850" b="1">
                <a:solidFill>
                  <a:srgbClr val="3B92FF"/>
                </a:solidFill>
                <a:latin typeface="NanumGothic"/>
                <a:ea typeface="NanumGothic"/>
                <a:cs typeface="NanumGothic"/>
              </a:defRPr>
            </a:lvl5pPr>
            <a:lvl6pPr algn="l">
              <a:defRPr sz="5850" b="1">
                <a:solidFill>
                  <a:srgbClr val="3B92FF"/>
                </a:solidFill>
                <a:latin typeface="NanumGothic"/>
                <a:ea typeface="NanumGothic"/>
                <a:cs typeface="NanumGothic"/>
              </a:defRPr>
            </a:lvl6pPr>
            <a:lvl7pPr algn="l">
              <a:defRPr sz="5850" b="1">
                <a:solidFill>
                  <a:srgbClr val="3B92FF"/>
                </a:solidFill>
                <a:latin typeface="NanumGothic"/>
                <a:ea typeface="NanumGothic"/>
                <a:cs typeface="NanumGothic"/>
              </a:defRPr>
            </a:lvl7pPr>
            <a:lvl8pPr algn="l">
              <a:defRPr sz="5850" b="1">
                <a:solidFill>
                  <a:srgbClr val="3B92FF"/>
                </a:solidFill>
                <a:latin typeface="NanumGothic"/>
                <a:ea typeface="NanumGothic"/>
                <a:cs typeface="NanumGothic"/>
              </a:defRPr>
            </a:lvl8pPr>
            <a:lvl9pPr algn="l">
              <a:defRPr sz="5850" b="1">
                <a:solidFill>
                  <a:srgbClr val="3B92FF"/>
                </a:solidFill>
                <a:latin typeface="NanumGothic"/>
                <a:ea typeface="NanumGothic"/>
                <a:cs typeface="NanumGothic"/>
              </a:defRPr>
            </a:lvl9pPr>
          </a:lstStyle>
          <a:p xmlns:a="http://schemas.openxmlformats.org/drawingml/2006/main">
            <a:pPr algn="l">
              <a:defRPr sz="5850" b="1">
                <a:solidFill>
                  <a:srgbClr val="3B92FF"/>
                </a:solidFill>
                <a:latin typeface="NanumGothic"/>
                <a:ea typeface="NanumGothic"/>
                <a:cs typeface="NanumGothic"/>
              </a:defRPr>
            </a:pPr>
            <a:r>
              <a:rPr sz="5850" b="1">
                <a:solidFill>
                  <a:srgbClr val="3B92FF"/>
                </a:solidFill>
                <a:latin typeface="NanumGothic"/>
                <a:ea typeface="NanumGothic"/>
                <a:cs typeface="NanumGothic"/>
              </a:rPr>
              <a:t>500장</a:t>
            </a:r>
          </a:p>
        </p:txBody>
      </p:sp>
      <p:sp>
        <p:nvSpPr>
          <p:cNvPr id="6" name="368개 유사 영상 그룹">
            <a:extLst xmlns:a="http://schemas.openxmlformats.org/drawingml/2006/main">
              <a:ext uri="{FF2B5EF4-FFF2-40B4-BE49-F238E27FC236}">
                <a16:creationId xmlns:a16="http://schemas.microsoft.com/office/drawing/2014/main" id="{B1A7743D-56B8-428E-B8D6-C567198C4C5A}"/>
              </a:ext>
            </a:extLst>
          </p:cNvPr>
          <p:cNvSpPr>
            <a:spLocks xmlns:a="http://schemas.openxmlformats.org/drawingml/2006/main" noGrp="1"/>
          </p:cNvSpPr>
          <p:nvPr/>
        </p:nvSpPr>
        <p:spPr>
          <a:xfrm xmlns:a="http://schemas.openxmlformats.org/drawingml/2006/main">
            <a:off x="609600" y="2800350"/>
            <a:ext cx="552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7FAFF"/>
                </a:solidFill>
                <a:latin typeface="NanumGothic"/>
                <a:ea typeface="NanumGothic"/>
                <a:cs typeface="NanumGothic"/>
              </a:defRPr>
            </a:defPPr>
            <a:lvl1pPr algn="l">
              <a:defRPr sz="2550" b="1">
                <a:solidFill>
                  <a:srgbClr val="F7FAFF"/>
                </a:solidFill>
                <a:latin typeface="NanumGothic"/>
                <a:ea typeface="NanumGothic"/>
                <a:cs typeface="NanumGothic"/>
              </a:defRPr>
            </a:lvl1pPr>
            <a:lvl2pPr algn="l">
              <a:defRPr sz="2550" b="1">
                <a:solidFill>
                  <a:srgbClr val="F7FAFF"/>
                </a:solidFill>
                <a:latin typeface="NanumGothic"/>
                <a:ea typeface="NanumGothic"/>
                <a:cs typeface="NanumGothic"/>
              </a:defRPr>
            </a:lvl2pPr>
            <a:lvl3pPr algn="l">
              <a:defRPr sz="2550" b="1">
                <a:solidFill>
                  <a:srgbClr val="F7FAFF"/>
                </a:solidFill>
                <a:latin typeface="NanumGothic"/>
                <a:ea typeface="NanumGothic"/>
                <a:cs typeface="NanumGothic"/>
              </a:defRPr>
            </a:lvl3pPr>
            <a:lvl4pPr algn="l">
              <a:defRPr sz="2550" b="1">
                <a:solidFill>
                  <a:srgbClr val="F7FAFF"/>
                </a:solidFill>
                <a:latin typeface="NanumGothic"/>
                <a:ea typeface="NanumGothic"/>
                <a:cs typeface="NanumGothic"/>
              </a:defRPr>
            </a:lvl4pPr>
            <a:lvl5pPr algn="l">
              <a:defRPr sz="2550" b="1">
                <a:solidFill>
                  <a:srgbClr val="F7FAFF"/>
                </a:solidFill>
                <a:latin typeface="NanumGothic"/>
                <a:ea typeface="NanumGothic"/>
                <a:cs typeface="NanumGothic"/>
              </a:defRPr>
            </a:lvl5pPr>
            <a:lvl6pPr algn="l">
              <a:defRPr sz="2550" b="1">
                <a:solidFill>
                  <a:srgbClr val="F7FAFF"/>
                </a:solidFill>
                <a:latin typeface="NanumGothic"/>
                <a:ea typeface="NanumGothic"/>
                <a:cs typeface="NanumGothic"/>
              </a:defRPr>
            </a:lvl6pPr>
            <a:lvl7pPr algn="l">
              <a:defRPr sz="2550" b="1">
                <a:solidFill>
                  <a:srgbClr val="F7FAFF"/>
                </a:solidFill>
                <a:latin typeface="NanumGothic"/>
                <a:ea typeface="NanumGothic"/>
                <a:cs typeface="NanumGothic"/>
              </a:defRPr>
            </a:lvl7pPr>
            <a:lvl8pPr algn="l">
              <a:defRPr sz="2550" b="1">
                <a:solidFill>
                  <a:srgbClr val="F7FAFF"/>
                </a:solidFill>
                <a:latin typeface="NanumGothic"/>
                <a:ea typeface="NanumGothic"/>
                <a:cs typeface="NanumGothic"/>
              </a:defRPr>
            </a:lvl8pPr>
            <a:lvl9pPr algn="l">
              <a:defRPr sz="2550" b="1">
                <a:solidFill>
                  <a:srgbClr val="F7FAFF"/>
                </a:solidFill>
                <a:latin typeface="NanumGothic"/>
                <a:ea typeface="NanumGothic"/>
                <a:cs typeface="NanumGothic"/>
              </a:defRPr>
            </a:lvl9pPr>
          </a:lstStyle>
          <a:p xmlns:a="http://schemas.openxmlformats.org/drawingml/2006/main">
            <a:pPr algn="l">
              <a:defRPr sz="2550" b="1">
                <a:solidFill>
                  <a:srgbClr val="F7FAFF"/>
                </a:solidFill>
                <a:latin typeface="NanumGothic"/>
                <a:ea typeface="NanumGothic"/>
                <a:cs typeface="NanumGothic"/>
              </a:defRPr>
            </a:pPr>
            <a:r>
              <a:rPr sz="2550" b="1">
                <a:solidFill>
                  <a:srgbClr val="F7FAFF"/>
                </a:solidFill>
                <a:latin typeface="NanumGothic"/>
                <a:ea typeface="NanumGothic"/>
                <a:cs typeface="NanumGothic"/>
              </a:rPr>
              <a:t>368개 유사 영상 그룹</a:t>
            </a:r>
          </a:p>
        </p:txBody>
      </p:sp>
      <p:sp>
        <p:nvSpPr>
          <p:cNvPr id="7" name="2,944 × 2,352 px 회색조 영상">
            <a:extLst xmlns:a="http://schemas.openxmlformats.org/drawingml/2006/main">
              <a:ext uri="{FF2B5EF4-FFF2-40B4-BE49-F238E27FC236}">
                <a16:creationId xmlns:a16="http://schemas.microsoft.com/office/drawing/2014/main" id="{8173F8FA-9679-47A9-BBC6-7B63D894EF03}"/>
              </a:ext>
            </a:extLst>
          </p:cNvPr>
          <p:cNvSpPr>
            <a:spLocks xmlns:a="http://schemas.openxmlformats.org/drawingml/2006/main" noGrp="1"/>
          </p:cNvSpPr>
          <p:nvPr/>
        </p:nvSpPr>
        <p:spPr>
          <a:xfrm xmlns:a="http://schemas.openxmlformats.org/drawingml/2006/main">
            <a:off x="609600" y="347662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B8CC"/>
                </a:solidFill>
                <a:latin typeface="NanumGothic"/>
                <a:ea typeface="NanumGothic"/>
                <a:cs typeface="NanumGothic"/>
              </a:defRPr>
            </a:defPPr>
            <a:lvl1pPr algn="l">
              <a:defRPr sz="1875" b="1">
                <a:solidFill>
                  <a:srgbClr val="AAB8CC"/>
                </a:solidFill>
                <a:latin typeface="NanumGothic"/>
                <a:ea typeface="NanumGothic"/>
                <a:cs typeface="NanumGothic"/>
              </a:defRPr>
            </a:lvl1pPr>
            <a:lvl2pPr algn="l">
              <a:defRPr sz="1875" b="1">
                <a:solidFill>
                  <a:srgbClr val="AAB8CC"/>
                </a:solidFill>
                <a:latin typeface="NanumGothic"/>
                <a:ea typeface="NanumGothic"/>
                <a:cs typeface="NanumGothic"/>
              </a:defRPr>
            </a:lvl2pPr>
            <a:lvl3pPr algn="l">
              <a:defRPr sz="1875" b="1">
                <a:solidFill>
                  <a:srgbClr val="AAB8CC"/>
                </a:solidFill>
                <a:latin typeface="NanumGothic"/>
                <a:ea typeface="NanumGothic"/>
                <a:cs typeface="NanumGothic"/>
              </a:defRPr>
            </a:lvl3pPr>
            <a:lvl4pPr algn="l">
              <a:defRPr sz="1875" b="1">
                <a:solidFill>
                  <a:srgbClr val="AAB8CC"/>
                </a:solidFill>
                <a:latin typeface="NanumGothic"/>
                <a:ea typeface="NanumGothic"/>
                <a:cs typeface="NanumGothic"/>
              </a:defRPr>
            </a:lvl4pPr>
            <a:lvl5pPr algn="l">
              <a:defRPr sz="1875" b="1">
                <a:solidFill>
                  <a:srgbClr val="AAB8CC"/>
                </a:solidFill>
                <a:latin typeface="NanumGothic"/>
                <a:ea typeface="NanumGothic"/>
                <a:cs typeface="NanumGothic"/>
              </a:defRPr>
            </a:lvl5pPr>
            <a:lvl6pPr algn="l">
              <a:defRPr sz="1875" b="1">
                <a:solidFill>
                  <a:srgbClr val="AAB8CC"/>
                </a:solidFill>
                <a:latin typeface="NanumGothic"/>
                <a:ea typeface="NanumGothic"/>
                <a:cs typeface="NanumGothic"/>
              </a:defRPr>
            </a:lvl6pPr>
            <a:lvl7pPr algn="l">
              <a:defRPr sz="1875" b="1">
                <a:solidFill>
                  <a:srgbClr val="AAB8CC"/>
                </a:solidFill>
                <a:latin typeface="NanumGothic"/>
                <a:ea typeface="NanumGothic"/>
                <a:cs typeface="NanumGothic"/>
              </a:defRPr>
            </a:lvl7pPr>
            <a:lvl8pPr algn="l">
              <a:defRPr sz="1875" b="1">
                <a:solidFill>
                  <a:srgbClr val="AAB8CC"/>
                </a:solidFill>
                <a:latin typeface="NanumGothic"/>
                <a:ea typeface="NanumGothic"/>
                <a:cs typeface="NanumGothic"/>
              </a:defRPr>
            </a:lvl8pPr>
            <a:lvl9pPr algn="l">
              <a:defRPr sz="1875" b="1">
                <a:solidFill>
                  <a:srgbClr val="AAB8CC"/>
                </a:solidFill>
                <a:latin typeface="NanumGothic"/>
                <a:ea typeface="NanumGothic"/>
                <a:cs typeface="NanumGothic"/>
              </a:defRPr>
            </a:lvl9pPr>
          </a:lstStyle>
          <a:p xmlns:a="http://schemas.openxmlformats.org/drawingml/2006/main">
            <a:pPr algn="l">
              <a:defRPr sz="1875" b="1">
                <a:solidFill>
                  <a:srgbClr val="AAB8CC"/>
                </a:solidFill>
                <a:latin typeface="NanumGothic"/>
                <a:ea typeface="NanumGothic"/>
                <a:cs typeface="NanumGothic"/>
              </a:defRPr>
            </a:pPr>
            <a:r>
              <a:rPr sz="1875" b="1">
                <a:solidFill>
                  <a:srgbClr val="AAB8CC"/>
                </a:solidFill>
                <a:latin typeface="NanumGothic"/>
                <a:ea typeface="NanumGothic"/>
                <a:cs typeface="NanumGothic"/>
              </a:rPr>
              <a:t>2,944 × 2,352 px 회색조 영상</a:t>
            </a:r>
          </a:p>
        </p:txBody>
      </p:sp>
      <p:sp>
        <p:nvSpPr>
          <p:cNvPr id="8" name="외부 평가: 그룹 분리 5겹 교차검증&#10;폴드별 외부 평가 9">
            <a:extLst xmlns:a="http://schemas.openxmlformats.org/drawingml/2006/main">
              <a:ext uri="{FF2B5EF4-FFF2-40B4-BE49-F238E27FC236}">
                <a16:creationId xmlns:a16="http://schemas.microsoft.com/office/drawing/2014/main" id="{CBE5F593-7298-4910-8BFD-ED12C29EC496}"/>
              </a:ext>
            </a:extLst>
          </p:cNvPr>
          <p:cNvSpPr>
            <a:spLocks xmlns:a="http://schemas.openxmlformats.org/drawingml/2006/main" noGrp="1"/>
          </p:cNvSpPr>
          <p:nvPr/>
        </p:nvSpPr>
        <p:spPr>
          <a:xfrm xmlns:a="http://schemas.openxmlformats.org/drawingml/2006/main">
            <a:off x="609600" y="4229100"/>
            <a:ext cx="5619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7FAFF"/>
                </a:solidFill>
                <a:latin typeface="NanumGothic"/>
                <a:ea typeface="NanumGothic"/>
                <a:cs typeface="NanumGothic"/>
              </a:defRPr>
            </a:defPPr>
            <a:lvl1pPr algn="l">
              <a:defRPr sz="2025" b="1">
                <a:solidFill>
                  <a:srgbClr val="F7FAFF"/>
                </a:solidFill>
                <a:latin typeface="NanumGothic"/>
                <a:ea typeface="NanumGothic"/>
                <a:cs typeface="NanumGothic"/>
              </a:defRPr>
            </a:lvl1pPr>
            <a:lvl2pPr algn="l">
              <a:defRPr sz="2025" b="1">
                <a:solidFill>
                  <a:srgbClr val="F7FAFF"/>
                </a:solidFill>
                <a:latin typeface="NanumGothic"/>
                <a:ea typeface="NanumGothic"/>
                <a:cs typeface="NanumGothic"/>
              </a:defRPr>
            </a:lvl2pPr>
            <a:lvl3pPr algn="l">
              <a:defRPr sz="2025" b="1">
                <a:solidFill>
                  <a:srgbClr val="F7FAFF"/>
                </a:solidFill>
                <a:latin typeface="NanumGothic"/>
                <a:ea typeface="NanumGothic"/>
                <a:cs typeface="NanumGothic"/>
              </a:defRPr>
            </a:lvl3pPr>
            <a:lvl4pPr algn="l">
              <a:defRPr sz="2025" b="1">
                <a:solidFill>
                  <a:srgbClr val="F7FAFF"/>
                </a:solidFill>
                <a:latin typeface="NanumGothic"/>
                <a:ea typeface="NanumGothic"/>
                <a:cs typeface="NanumGothic"/>
              </a:defRPr>
            </a:lvl4pPr>
            <a:lvl5pPr algn="l">
              <a:defRPr sz="2025" b="1">
                <a:solidFill>
                  <a:srgbClr val="F7FAFF"/>
                </a:solidFill>
                <a:latin typeface="NanumGothic"/>
                <a:ea typeface="NanumGothic"/>
                <a:cs typeface="NanumGothic"/>
              </a:defRPr>
            </a:lvl5pPr>
            <a:lvl6pPr algn="l">
              <a:defRPr sz="2025" b="1">
                <a:solidFill>
                  <a:srgbClr val="F7FAFF"/>
                </a:solidFill>
                <a:latin typeface="NanumGothic"/>
                <a:ea typeface="NanumGothic"/>
                <a:cs typeface="NanumGothic"/>
              </a:defRPr>
            </a:lvl6pPr>
            <a:lvl7pPr algn="l">
              <a:defRPr sz="2025" b="1">
                <a:solidFill>
                  <a:srgbClr val="F7FAFF"/>
                </a:solidFill>
                <a:latin typeface="NanumGothic"/>
                <a:ea typeface="NanumGothic"/>
                <a:cs typeface="NanumGothic"/>
              </a:defRPr>
            </a:lvl7pPr>
            <a:lvl8pPr algn="l">
              <a:defRPr sz="2025" b="1">
                <a:solidFill>
                  <a:srgbClr val="F7FAFF"/>
                </a:solidFill>
                <a:latin typeface="NanumGothic"/>
                <a:ea typeface="NanumGothic"/>
                <a:cs typeface="NanumGothic"/>
              </a:defRPr>
            </a:lvl8pPr>
            <a:lvl9pPr algn="l">
              <a:defRPr sz="2025" b="1">
                <a:solidFill>
                  <a:srgbClr val="F7FAFF"/>
                </a:solidFill>
                <a:latin typeface="NanumGothic"/>
                <a:ea typeface="NanumGothic"/>
                <a:cs typeface="NanumGothic"/>
              </a:defRPr>
            </a:lvl9pPr>
          </a:lstStyle>
          <a:p xmlns:a="http://schemas.openxmlformats.org/drawingml/2006/main">
            <a:pPr algn="l">
              <a:defRPr sz="2025" b="1">
                <a:solidFill>
                  <a:srgbClr val="F7FAFF"/>
                </a:solidFill>
                <a:latin typeface="NanumGothic"/>
                <a:ea typeface="NanumGothic"/>
                <a:cs typeface="NanumGothic"/>
              </a:defRPr>
            </a:pPr>
            <a:r>
              <a:rPr sz="2025" b="1">
                <a:solidFill>
                  <a:srgbClr val="F7FAFF"/>
                </a:solidFill>
                <a:latin typeface="NanumGothic"/>
                <a:ea typeface="NanumGothic"/>
                <a:cs typeface="NanumGothic"/>
              </a:rPr>
              <a:t>외부 평가: 그룹 분리 5겹 교차검증</a:t>
            </a:r>
          </a:p>
          <a:p xmlns:a="http://schemas.openxmlformats.org/drawingml/2006/main">
            <a:pPr algn="l">
              <a:defRPr sz="2025" b="1">
                <a:solidFill>
                  <a:srgbClr val="F7FAFF"/>
                </a:solidFill>
                <a:latin typeface="NanumGothic"/>
                <a:ea typeface="NanumGothic"/>
                <a:cs typeface="NanumGothic"/>
              </a:defRPr>
            </a:pPr>
            <a:r>
              <a:rPr sz="2025" b="1">
                <a:solidFill>
                  <a:srgbClr val="F7FAFF"/>
                </a:solidFill>
                <a:latin typeface="NanumGothic"/>
                <a:ea typeface="NanumGothic"/>
                <a:cs typeface="NanumGothic"/>
              </a:rPr>
              <a:t>폴드별 외부 평가 99–101장</a:t>
            </a:r>
          </a:p>
        </p:txBody>
      </p:sp>
      <p:sp>
        <p:nvSpPr>
          <p:cNvPr id="9" name="내부 학습·검증:&#10;유사 그룹 9–20개 중복">
            <a:extLst xmlns:a="http://schemas.openxmlformats.org/drawingml/2006/main">
              <a:ext uri="{FF2B5EF4-FFF2-40B4-BE49-F238E27FC236}">
                <a16:creationId xmlns:a16="http://schemas.microsoft.com/office/drawing/2014/main" id="{9A73218A-C60B-4AB0-95F9-DD3F30DCDB6F}"/>
              </a:ext>
            </a:extLst>
          </p:cNvPr>
          <p:cNvSpPr>
            <a:spLocks xmlns:a="http://schemas.openxmlformats.org/drawingml/2006/main" noGrp="1"/>
          </p:cNvSpPr>
          <p:nvPr/>
        </p:nvSpPr>
        <p:spPr>
          <a:xfrm xmlns:a="http://schemas.openxmlformats.org/drawingml/2006/main">
            <a:off x="609600" y="5314950"/>
            <a:ext cx="5619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B8CC"/>
                </a:solidFill>
                <a:latin typeface="NanumGothic"/>
                <a:ea typeface="NanumGothic"/>
                <a:cs typeface="NanumGothic"/>
              </a:defRPr>
            </a:defPPr>
            <a:lvl1pPr algn="l">
              <a:defRPr sz="1875" b="1">
                <a:solidFill>
                  <a:srgbClr val="AAB8CC"/>
                </a:solidFill>
                <a:latin typeface="NanumGothic"/>
                <a:ea typeface="NanumGothic"/>
                <a:cs typeface="NanumGothic"/>
              </a:defRPr>
            </a:lvl1pPr>
            <a:lvl2pPr algn="l">
              <a:defRPr sz="1875" b="1">
                <a:solidFill>
                  <a:srgbClr val="AAB8CC"/>
                </a:solidFill>
                <a:latin typeface="NanumGothic"/>
                <a:ea typeface="NanumGothic"/>
                <a:cs typeface="NanumGothic"/>
              </a:defRPr>
            </a:lvl2pPr>
            <a:lvl3pPr algn="l">
              <a:defRPr sz="1875" b="1">
                <a:solidFill>
                  <a:srgbClr val="AAB8CC"/>
                </a:solidFill>
                <a:latin typeface="NanumGothic"/>
                <a:ea typeface="NanumGothic"/>
                <a:cs typeface="NanumGothic"/>
              </a:defRPr>
            </a:lvl3pPr>
            <a:lvl4pPr algn="l">
              <a:defRPr sz="1875" b="1">
                <a:solidFill>
                  <a:srgbClr val="AAB8CC"/>
                </a:solidFill>
                <a:latin typeface="NanumGothic"/>
                <a:ea typeface="NanumGothic"/>
                <a:cs typeface="NanumGothic"/>
              </a:defRPr>
            </a:lvl4pPr>
            <a:lvl5pPr algn="l">
              <a:defRPr sz="1875" b="1">
                <a:solidFill>
                  <a:srgbClr val="AAB8CC"/>
                </a:solidFill>
                <a:latin typeface="NanumGothic"/>
                <a:ea typeface="NanumGothic"/>
                <a:cs typeface="NanumGothic"/>
              </a:defRPr>
            </a:lvl5pPr>
            <a:lvl6pPr algn="l">
              <a:defRPr sz="1875" b="1">
                <a:solidFill>
                  <a:srgbClr val="AAB8CC"/>
                </a:solidFill>
                <a:latin typeface="NanumGothic"/>
                <a:ea typeface="NanumGothic"/>
                <a:cs typeface="NanumGothic"/>
              </a:defRPr>
            </a:lvl6pPr>
            <a:lvl7pPr algn="l">
              <a:defRPr sz="1875" b="1">
                <a:solidFill>
                  <a:srgbClr val="AAB8CC"/>
                </a:solidFill>
                <a:latin typeface="NanumGothic"/>
                <a:ea typeface="NanumGothic"/>
                <a:cs typeface="NanumGothic"/>
              </a:defRPr>
            </a:lvl7pPr>
            <a:lvl8pPr algn="l">
              <a:defRPr sz="1875" b="1">
                <a:solidFill>
                  <a:srgbClr val="AAB8CC"/>
                </a:solidFill>
                <a:latin typeface="NanumGothic"/>
                <a:ea typeface="NanumGothic"/>
                <a:cs typeface="NanumGothic"/>
              </a:defRPr>
            </a:lvl8pPr>
            <a:lvl9pPr algn="l">
              <a:defRPr sz="1875" b="1">
                <a:solidFill>
                  <a:srgbClr val="AAB8CC"/>
                </a:solidFill>
                <a:latin typeface="NanumGothic"/>
                <a:ea typeface="NanumGothic"/>
                <a:cs typeface="NanumGothic"/>
              </a:defRPr>
            </a:lvl9pPr>
          </a:lstStyle>
          <a:p xmlns:a="http://schemas.openxmlformats.org/drawingml/2006/main">
            <a:pPr algn="l">
              <a:defRPr sz="1875" b="1">
                <a:solidFill>
                  <a:srgbClr val="AAB8CC"/>
                </a:solidFill>
                <a:latin typeface="NanumGothic"/>
                <a:ea typeface="NanumGothic"/>
                <a:cs typeface="NanumGothic"/>
              </a:defRPr>
            </a:pPr>
            <a:r>
              <a:rPr sz="1875" b="1">
                <a:solidFill>
                  <a:srgbClr val="AAB8CC"/>
                </a:solidFill>
                <a:latin typeface="NanumGothic"/>
                <a:ea typeface="NanumGothic"/>
                <a:cs typeface="NanumGothic"/>
              </a:rPr>
              <a:t>내부 학습·검증:</a:t>
            </a:r>
          </a:p>
          <a:p xmlns:a="http://schemas.openxmlformats.org/drawingml/2006/main">
            <a:pPr algn="l">
              <a:defRPr sz="1875" b="1">
                <a:solidFill>
                  <a:srgbClr val="AAB8CC"/>
                </a:solidFill>
                <a:latin typeface="NanumGothic"/>
                <a:ea typeface="NanumGothic"/>
                <a:cs typeface="NanumGothic"/>
              </a:defRPr>
            </a:pPr>
            <a:r>
              <a:rPr sz="1875" b="1">
                <a:solidFill>
                  <a:srgbClr val="AAB8CC"/>
                </a:solidFill>
                <a:latin typeface="NanumGothic"/>
                <a:ea typeface="NanumGothic"/>
                <a:cs typeface="NanumGothic"/>
              </a:rPr>
              <a:t>유사 그룹 9–20개 중복</a:t>
            </a:r>
          </a:p>
        </p:txBody>
      </p:sp>
      <p:pic>
        <p:nvPicPr>
          <p:cNvPr id="10" name="">
            <a:extLst xmlns:a="http://schemas.openxmlformats.org/drawingml/2006/main">
              <a:ext uri="{FF2B5EF4-FFF2-40B4-BE49-F238E27FC236}">
                <a16:creationId xmlns:a16="http://schemas.microsoft.com/office/drawing/2014/main" id="{E30E3126-3057-4680-8326-A4C02E343215}"/>
              </a:ext>
            </a:extLst>
          </p:cNvPr>
          <p:cNvPicPr>
            <a:picLocks xmlns:a="http://schemas.openxmlformats.org/drawingml/2006/main" noChangeAspect="1"/>
          </p:cNvPicPr>
          <p:nvPr/>
        </p:nvPicPr>
        <p:blipFill>
          <a:blip xmlns:r="http://schemas.openxmlformats.org/officeDocument/2006/relationships" xmlns:a="http://schemas.openxmlformats.org/drawingml/2006/main" r:embed="R247fd13297934782"/>
          <a:stretch xmlns:a="http://schemas.openxmlformats.org/drawingml/2006/main"/>
        </p:blipFill>
        <p:spPr>
          <a:xfrm xmlns:a="http://schemas.openxmlformats.org/drawingml/2006/main">
            <a:off x="6810375" y="1774135"/>
            <a:ext cx="4572000" cy="3652630"/>
          </a:xfrm>
          <a:prstGeom xmlns:a="http://schemas.openxmlformats.org/drawingml/2006/main" prst="rect">
            <a:avLst/>
          </a:prstGeom>
        </p:spPr>
      </p:pic>
      <p:sp>
        <p:nvSpPr>
          <p:cNvPr id="11" name="실제 입력 영상 예시">
            <a:extLst xmlns:a="http://schemas.openxmlformats.org/drawingml/2006/main">
              <a:ext uri="{FF2B5EF4-FFF2-40B4-BE49-F238E27FC236}">
                <a16:creationId xmlns:a16="http://schemas.microsoft.com/office/drawing/2014/main" id="{F5972FDE-D8B6-44F2-BE2B-7AD6634B39C1}"/>
              </a:ext>
            </a:extLst>
          </p:cNvPr>
          <p:cNvSpPr>
            <a:spLocks xmlns:a="http://schemas.openxmlformats.org/drawingml/2006/main" noGrp="1"/>
          </p:cNvSpPr>
          <p:nvPr/>
        </p:nvSpPr>
        <p:spPr>
          <a:xfrm xmlns:a="http://schemas.openxmlformats.org/drawingml/2006/main">
            <a:off x="6810375" y="56197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AAB8CC"/>
                </a:solidFill>
                <a:latin typeface="NanumGothic"/>
                <a:ea typeface="NanumGothic"/>
                <a:cs typeface="NanumGothic"/>
              </a:defRPr>
            </a:defPPr>
            <a:lvl1pPr algn="ctr">
              <a:defRPr sz="1800" b="1">
                <a:solidFill>
                  <a:srgbClr val="AAB8CC"/>
                </a:solidFill>
                <a:latin typeface="NanumGothic"/>
                <a:ea typeface="NanumGothic"/>
                <a:cs typeface="NanumGothic"/>
              </a:defRPr>
            </a:lvl1pPr>
            <a:lvl2pPr algn="ctr">
              <a:defRPr sz="1800" b="1">
                <a:solidFill>
                  <a:srgbClr val="AAB8CC"/>
                </a:solidFill>
                <a:latin typeface="NanumGothic"/>
                <a:ea typeface="NanumGothic"/>
                <a:cs typeface="NanumGothic"/>
              </a:defRPr>
            </a:lvl2pPr>
            <a:lvl3pPr algn="ctr">
              <a:defRPr sz="1800" b="1">
                <a:solidFill>
                  <a:srgbClr val="AAB8CC"/>
                </a:solidFill>
                <a:latin typeface="NanumGothic"/>
                <a:ea typeface="NanumGothic"/>
                <a:cs typeface="NanumGothic"/>
              </a:defRPr>
            </a:lvl3pPr>
            <a:lvl4pPr algn="ctr">
              <a:defRPr sz="1800" b="1">
                <a:solidFill>
                  <a:srgbClr val="AAB8CC"/>
                </a:solidFill>
                <a:latin typeface="NanumGothic"/>
                <a:ea typeface="NanumGothic"/>
                <a:cs typeface="NanumGothic"/>
              </a:defRPr>
            </a:lvl4pPr>
            <a:lvl5pPr algn="ctr">
              <a:defRPr sz="1800" b="1">
                <a:solidFill>
                  <a:srgbClr val="AAB8CC"/>
                </a:solidFill>
                <a:latin typeface="NanumGothic"/>
                <a:ea typeface="NanumGothic"/>
                <a:cs typeface="NanumGothic"/>
              </a:defRPr>
            </a:lvl5pPr>
            <a:lvl6pPr algn="ctr">
              <a:defRPr sz="1800" b="1">
                <a:solidFill>
                  <a:srgbClr val="AAB8CC"/>
                </a:solidFill>
                <a:latin typeface="NanumGothic"/>
                <a:ea typeface="NanumGothic"/>
                <a:cs typeface="NanumGothic"/>
              </a:defRPr>
            </a:lvl6pPr>
            <a:lvl7pPr algn="ctr">
              <a:defRPr sz="1800" b="1">
                <a:solidFill>
                  <a:srgbClr val="AAB8CC"/>
                </a:solidFill>
                <a:latin typeface="NanumGothic"/>
                <a:ea typeface="NanumGothic"/>
                <a:cs typeface="NanumGothic"/>
              </a:defRPr>
            </a:lvl7pPr>
            <a:lvl8pPr algn="ctr">
              <a:defRPr sz="1800" b="1">
                <a:solidFill>
                  <a:srgbClr val="AAB8CC"/>
                </a:solidFill>
                <a:latin typeface="NanumGothic"/>
                <a:ea typeface="NanumGothic"/>
                <a:cs typeface="NanumGothic"/>
              </a:defRPr>
            </a:lvl8pPr>
            <a:lvl9pPr algn="ctr">
              <a:defRPr sz="1800" b="1">
                <a:solidFill>
                  <a:srgbClr val="AAB8CC"/>
                </a:solidFill>
                <a:latin typeface="NanumGothic"/>
                <a:ea typeface="NanumGothic"/>
                <a:cs typeface="NanumGothic"/>
              </a:defRPr>
            </a:lvl9pPr>
          </a:lstStyle>
          <a:p xmlns:a="http://schemas.openxmlformats.org/drawingml/2006/main">
            <a:pPr algn="ctr">
              <a:defRPr sz="1800" b="1">
                <a:solidFill>
                  <a:srgbClr val="AAB8CC"/>
                </a:solidFill>
                <a:latin typeface="NanumGothic"/>
                <a:ea typeface="NanumGothic"/>
                <a:cs typeface="NanumGothic"/>
              </a:defRPr>
            </a:pPr>
            <a:r>
              <a:rPr sz="1800" b="1">
                <a:solidFill>
                  <a:srgbClr val="AAB8CC"/>
                </a:solidFill>
                <a:latin typeface="NanumGothic"/>
                <a:ea typeface="NanumGothic"/>
                <a:cs typeface="NanumGothic"/>
              </a:rPr>
              <a:t>실제 입력 영상 예시</a:t>
            </a:r>
          </a:p>
        </p:txBody>
      </p:sp>
    </p:spTree>
    <p:extLst>
      <p:ext uri="{BB962C8B-B14F-4D97-AF65-F5344CB8AC3E}">
        <p14:creationId xmlns:p14="http://schemas.microsoft.com/office/powerpoint/2010/main" val="925383991"/>
      </p:ext>
    </p:extLst>
  </p:cSld>
</p:sld>
</file>

<file path=ppt/slides/slide4.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15" name="전처리 설계">
            <a:extLst xmlns:a="http://schemas.openxmlformats.org/drawingml/2006/main">
              <a:ext uri="{FF2B5EF4-FFF2-40B4-BE49-F238E27FC236}">
                <a16:creationId xmlns:a16="http://schemas.microsoft.com/office/drawing/2014/main" id="{CD38DCC2-34ED-418F-8235-CB40C48899E5}"/>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전처리 설계</a:t>
            </a:r>
          </a:p>
        </p:txBody>
      </p:sp>
      <p:sp>
        <p:nvSpPr>
          <p:cNvPr id="2" name="단일 필터 영상 1: 반전과 이진화">
            <a:extLst xmlns:a="http://schemas.openxmlformats.org/drawingml/2006/main">
              <a:ext uri="{FF2B5EF4-FFF2-40B4-BE49-F238E27FC236}">
                <a16:creationId xmlns:a16="http://schemas.microsoft.com/office/drawing/2014/main" id="{08A1D1B6-1402-4914-BFA0-709D39FCD805}"/>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단일 필터 영상 1: 반전과 이진화</a:t>
            </a:r>
          </a:p>
        </p:txBody>
      </p:sp>
      <p:sp>
        <p:nvSpPr>
          <p:cNvPr id="3" name="경기대학교 컴퓨터과학과">
            <a:extLst xmlns:a="http://schemas.openxmlformats.org/drawingml/2006/main">
              <a:ext uri="{FF2B5EF4-FFF2-40B4-BE49-F238E27FC236}">
                <a16:creationId xmlns:a16="http://schemas.microsoft.com/office/drawing/2014/main" id="{8FE0FF68-D505-4049-B581-5FA49BF6633B}"/>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04">
            <a:extLst xmlns:a="http://schemas.openxmlformats.org/drawingml/2006/main">
              <a:ext uri="{FF2B5EF4-FFF2-40B4-BE49-F238E27FC236}">
                <a16:creationId xmlns:a16="http://schemas.microsoft.com/office/drawing/2014/main" id="{5B97B801-0680-4C5B-AD45-D08C25660C7B}"/>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04</a:t>
            </a:r>
          </a:p>
        </p:txBody>
      </p:sp>
      <p:sp>
        <p:nvSpPr>
          <p:cNvPr id="5" name="동일 원장면에서 비교한 변환 예시">
            <a:extLst xmlns:a="http://schemas.openxmlformats.org/drawingml/2006/main">
              <a:ext uri="{FF2B5EF4-FFF2-40B4-BE49-F238E27FC236}">
                <a16:creationId xmlns:a16="http://schemas.microsoft.com/office/drawing/2014/main" id="{81693C93-5652-4703-B246-D1D6469383A6}"/>
              </a:ext>
            </a:extLst>
          </p:cNvPr>
          <p:cNvSpPr>
            <a:spLocks xmlns:a="http://schemas.openxmlformats.org/drawingml/2006/main" noGrp="1"/>
          </p:cNvSpPr>
          <p:nvPr/>
        </p:nvSpPr>
        <p:spPr>
          <a:xfrm xmlns:a="http://schemas.openxmlformats.org/drawingml/2006/main">
            <a:off x="609600" y="15811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AAB8CC"/>
                </a:solidFill>
                <a:latin typeface="NanumGothic"/>
                <a:ea typeface="NanumGothic"/>
                <a:cs typeface="NanumGothic"/>
              </a:defRPr>
            </a:defPPr>
            <a:lvl1pPr algn="l">
              <a:defRPr sz="1800" b="1">
                <a:solidFill>
                  <a:srgbClr val="AAB8CC"/>
                </a:solidFill>
                <a:latin typeface="NanumGothic"/>
                <a:ea typeface="NanumGothic"/>
                <a:cs typeface="NanumGothic"/>
              </a:defRPr>
            </a:lvl1pPr>
            <a:lvl2pPr algn="l">
              <a:defRPr sz="1800" b="1">
                <a:solidFill>
                  <a:srgbClr val="AAB8CC"/>
                </a:solidFill>
                <a:latin typeface="NanumGothic"/>
                <a:ea typeface="NanumGothic"/>
                <a:cs typeface="NanumGothic"/>
              </a:defRPr>
            </a:lvl2pPr>
            <a:lvl3pPr algn="l">
              <a:defRPr sz="1800" b="1">
                <a:solidFill>
                  <a:srgbClr val="AAB8CC"/>
                </a:solidFill>
                <a:latin typeface="NanumGothic"/>
                <a:ea typeface="NanumGothic"/>
                <a:cs typeface="NanumGothic"/>
              </a:defRPr>
            </a:lvl3pPr>
            <a:lvl4pPr algn="l">
              <a:defRPr sz="1800" b="1">
                <a:solidFill>
                  <a:srgbClr val="AAB8CC"/>
                </a:solidFill>
                <a:latin typeface="NanumGothic"/>
                <a:ea typeface="NanumGothic"/>
                <a:cs typeface="NanumGothic"/>
              </a:defRPr>
            </a:lvl4pPr>
            <a:lvl5pPr algn="l">
              <a:defRPr sz="1800" b="1">
                <a:solidFill>
                  <a:srgbClr val="AAB8CC"/>
                </a:solidFill>
                <a:latin typeface="NanumGothic"/>
                <a:ea typeface="NanumGothic"/>
                <a:cs typeface="NanumGothic"/>
              </a:defRPr>
            </a:lvl5pPr>
            <a:lvl6pPr algn="l">
              <a:defRPr sz="1800" b="1">
                <a:solidFill>
                  <a:srgbClr val="AAB8CC"/>
                </a:solidFill>
                <a:latin typeface="NanumGothic"/>
                <a:ea typeface="NanumGothic"/>
                <a:cs typeface="NanumGothic"/>
              </a:defRPr>
            </a:lvl6pPr>
            <a:lvl7pPr algn="l">
              <a:defRPr sz="1800" b="1">
                <a:solidFill>
                  <a:srgbClr val="AAB8CC"/>
                </a:solidFill>
                <a:latin typeface="NanumGothic"/>
                <a:ea typeface="NanumGothic"/>
                <a:cs typeface="NanumGothic"/>
              </a:defRPr>
            </a:lvl7pPr>
            <a:lvl8pPr algn="l">
              <a:defRPr sz="1800" b="1">
                <a:solidFill>
                  <a:srgbClr val="AAB8CC"/>
                </a:solidFill>
                <a:latin typeface="NanumGothic"/>
                <a:ea typeface="NanumGothic"/>
                <a:cs typeface="NanumGothic"/>
              </a:defRPr>
            </a:lvl8pPr>
            <a:lvl9pPr algn="l">
              <a:defRPr sz="1800" b="1">
                <a:solidFill>
                  <a:srgbClr val="AAB8CC"/>
                </a:solidFill>
                <a:latin typeface="NanumGothic"/>
                <a:ea typeface="NanumGothic"/>
                <a:cs typeface="NanumGothic"/>
              </a:defRPr>
            </a:lvl9pPr>
          </a:lstStyle>
          <a:p xmlns:a="http://schemas.openxmlformats.org/drawingml/2006/main">
            <a:pPr algn="l">
              <a:defRPr sz="1800" b="1">
                <a:solidFill>
                  <a:srgbClr val="AAB8CC"/>
                </a:solidFill>
                <a:latin typeface="NanumGothic"/>
                <a:ea typeface="NanumGothic"/>
                <a:cs typeface="NanumGothic"/>
              </a:defRPr>
            </a:pPr>
            <a:r>
              <a:rPr sz="1800" b="1">
                <a:solidFill>
                  <a:srgbClr val="AAB8CC"/>
                </a:solidFill>
                <a:latin typeface="NanumGothic"/>
                <a:ea typeface="NanumGothic"/>
                <a:cs typeface="NanumGothic"/>
              </a:rPr>
              <a:t>동일 원장면에서 비교한 변환 예시</a:t>
            </a:r>
          </a:p>
        </p:txBody>
      </p:sp>
      <p:pic>
        <p:nvPicPr>
          <p:cNvPr id="6" name="">
            <a:extLst xmlns:a="http://schemas.openxmlformats.org/drawingml/2006/main">
              <a:ext uri="{FF2B5EF4-FFF2-40B4-BE49-F238E27FC236}">
                <a16:creationId xmlns:a16="http://schemas.microsoft.com/office/drawing/2014/main" id="{9741DFB7-1901-4B7E-9716-D44D5C8D4AB1}"/>
              </a:ext>
            </a:extLst>
          </p:cNvPr>
          <p:cNvPicPr>
            <a:picLocks xmlns:a="http://schemas.openxmlformats.org/drawingml/2006/main" noChangeAspect="1"/>
          </p:cNvPicPr>
          <p:nvPr/>
        </p:nvPicPr>
        <p:blipFill>
          <a:blip xmlns:r="http://schemas.openxmlformats.org/officeDocument/2006/relationships" xmlns:a="http://schemas.openxmlformats.org/drawingml/2006/main" r:embed="R51b01e03fe4e4153"/>
          <a:srcRect xmlns:a="http://schemas.openxmlformats.org/drawingml/2006/main" l="50000" t="0" r="0" b="0"/>
          <a:stretch xmlns:a="http://schemas.openxmlformats.org/drawingml/2006/main"/>
        </p:blipFill>
        <p:spPr>
          <a:xfrm xmlns:a="http://schemas.openxmlformats.org/drawingml/2006/main">
            <a:off x="609600" y="2266950"/>
            <a:ext cx="3429000" cy="2743200"/>
          </a:xfrm>
          <a:prstGeom xmlns:a="http://schemas.openxmlformats.org/drawingml/2006/main" prst="rect">
            <a:avLst/>
          </a:prstGeom>
        </p:spPr>
      </p:pic>
      <p:sp>
        <p:nvSpPr>
          <p:cNvPr id="7" name="Original">
            <a:extLst xmlns:a="http://schemas.openxmlformats.org/drawingml/2006/main">
              <a:ext uri="{FF2B5EF4-FFF2-40B4-BE49-F238E27FC236}">
                <a16:creationId xmlns:a16="http://schemas.microsoft.com/office/drawing/2014/main" id="{C9EBD783-5251-4DCF-82DE-20B5BCFB9CB9}"/>
              </a:ext>
            </a:extLst>
          </p:cNvPr>
          <p:cNvSpPr>
            <a:spLocks xmlns:a="http://schemas.openxmlformats.org/drawingml/2006/main" noGrp="1"/>
          </p:cNvSpPr>
          <p:nvPr/>
        </p:nvSpPr>
        <p:spPr>
          <a:xfrm xmlns:a="http://schemas.openxmlformats.org/drawingml/2006/main">
            <a:off x="6096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Original</a:t>
            </a:r>
          </a:p>
        </p:txBody>
      </p:sp>
      <p:sp>
        <p:nvSpPr>
          <p:cNvPr id="8" name="전처리 기준 입력">
            <a:extLst xmlns:a="http://schemas.openxmlformats.org/drawingml/2006/main">
              <a:ext uri="{FF2B5EF4-FFF2-40B4-BE49-F238E27FC236}">
                <a16:creationId xmlns:a16="http://schemas.microsoft.com/office/drawing/2014/main" id="{BCB1D252-D452-4778-832B-D6C4B4EF85DA}"/>
              </a:ext>
            </a:extLst>
          </p:cNvPr>
          <p:cNvSpPr>
            <a:spLocks xmlns:a="http://schemas.openxmlformats.org/drawingml/2006/main" noGrp="1"/>
          </p:cNvSpPr>
          <p:nvPr/>
        </p:nvSpPr>
        <p:spPr>
          <a:xfrm xmlns:a="http://schemas.openxmlformats.org/drawingml/2006/main">
            <a:off x="6096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전처리 기준 입력</a:t>
            </a:r>
          </a:p>
        </p:txBody>
      </p:sp>
      <p:pic>
        <p:nvPicPr>
          <p:cNvPr id="9" name="">
            <a:extLst xmlns:a="http://schemas.openxmlformats.org/drawingml/2006/main">
              <a:ext uri="{FF2B5EF4-FFF2-40B4-BE49-F238E27FC236}">
                <a16:creationId xmlns:a16="http://schemas.microsoft.com/office/drawing/2014/main" id="{E1F5D5DD-8AD8-4606-A1DC-3DDED9502225}"/>
              </a:ext>
            </a:extLst>
          </p:cNvPr>
          <p:cNvPicPr>
            <a:picLocks xmlns:a="http://schemas.openxmlformats.org/drawingml/2006/main" noChangeAspect="1"/>
          </p:cNvPicPr>
          <p:nvPr/>
        </p:nvPicPr>
        <p:blipFill>
          <a:blip xmlns:r="http://schemas.openxmlformats.org/officeDocument/2006/relationships" xmlns:a="http://schemas.openxmlformats.org/drawingml/2006/main" r:embed="R2b7bffa412874c9f"/>
          <a:srcRect xmlns:a="http://schemas.openxmlformats.org/drawingml/2006/main" l="50000" t="0" r="0" b="0"/>
          <a:stretch xmlns:a="http://schemas.openxmlformats.org/drawingml/2006/main"/>
        </p:blipFill>
        <p:spPr>
          <a:xfrm xmlns:a="http://schemas.openxmlformats.org/drawingml/2006/main">
            <a:off x="4381500" y="2266950"/>
            <a:ext cx="3429000" cy="2743200"/>
          </a:xfrm>
          <a:prstGeom xmlns:a="http://schemas.openxmlformats.org/drawingml/2006/main" prst="rect">
            <a:avLst/>
          </a:prstGeom>
        </p:spPr>
      </p:pic>
      <p:sp>
        <p:nvSpPr>
          <p:cNvPr id="10" name="Invert">
            <a:extLst xmlns:a="http://schemas.openxmlformats.org/drawingml/2006/main">
              <a:ext uri="{FF2B5EF4-FFF2-40B4-BE49-F238E27FC236}">
                <a16:creationId xmlns:a16="http://schemas.microsoft.com/office/drawing/2014/main" id="{3B94BEEB-E6B1-4D53-99B6-4A22EBA58278}"/>
              </a:ext>
            </a:extLst>
          </p:cNvPr>
          <p:cNvSpPr>
            <a:spLocks xmlns:a="http://schemas.openxmlformats.org/drawingml/2006/main" noGrp="1"/>
          </p:cNvSpPr>
          <p:nvPr/>
        </p:nvSpPr>
        <p:spPr>
          <a:xfrm xmlns:a="http://schemas.openxmlformats.org/drawingml/2006/main">
            <a:off x="43815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Invert</a:t>
            </a:r>
          </a:p>
        </p:txBody>
      </p:sp>
      <p:sp>
        <p:nvSpPr>
          <p:cNvPr id="11" name="1 − t">
            <a:extLst xmlns:a="http://schemas.openxmlformats.org/drawingml/2006/main">
              <a:ext uri="{FF2B5EF4-FFF2-40B4-BE49-F238E27FC236}">
                <a16:creationId xmlns:a16="http://schemas.microsoft.com/office/drawing/2014/main" id="{A7B77F7F-257F-4D3F-9FDA-0A04AA9B293A}"/>
              </a:ext>
            </a:extLst>
          </p:cNvPr>
          <p:cNvSpPr>
            <a:spLocks xmlns:a="http://schemas.openxmlformats.org/drawingml/2006/main" noGrp="1"/>
          </p:cNvSpPr>
          <p:nvPr/>
        </p:nvSpPr>
        <p:spPr>
          <a:xfrm xmlns:a="http://schemas.openxmlformats.org/drawingml/2006/main">
            <a:off x="43815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1 − t</a:t>
            </a:r>
          </a:p>
        </p:txBody>
      </p:sp>
      <p:pic>
        <p:nvPicPr>
          <p:cNvPr id="12" name="">
            <a:extLst xmlns:a="http://schemas.openxmlformats.org/drawingml/2006/main">
              <a:ext uri="{FF2B5EF4-FFF2-40B4-BE49-F238E27FC236}">
                <a16:creationId xmlns:a16="http://schemas.microsoft.com/office/drawing/2014/main" id="{761C9A6F-24F9-4AF5-B785-048BED18511D}"/>
              </a:ext>
            </a:extLst>
          </p:cNvPr>
          <p:cNvPicPr>
            <a:picLocks xmlns:a="http://schemas.openxmlformats.org/drawingml/2006/main" noChangeAspect="1"/>
          </p:cNvPicPr>
          <p:nvPr/>
        </p:nvPicPr>
        <p:blipFill>
          <a:blip xmlns:r="http://schemas.openxmlformats.org/officeDocument/2006/relationships" xmlns:a="http://schemas.openxmlformats.org/drawingml/2006/main" r:embed="Rdb3e7796fbc5472e"/>
          <a:srcRect xmlns:a="http://schemas.openxmlformats.org/drawingml/2006/main" l="50000" t="0" r="0" b="0"/>
          <a:stretch xmlns:a="http://schemas.openxmlformats.org/drawingml/2006/main"/>
        </p:blipFill>
        <p:spPr>
          <a:xfrm xmlns:a="http://schemas.openxmlformats.org/drawingml/2006/main">
            <a:off x="8153400" y="2266950"/>
            <a:ext cx="3429000" cy="2743200"/>
          </a:xfrm>
          <a:prstGeom xmlns:a="http://schemas.openxmlformats.org/drawingml/2006/main" prst="rect">
            <a:avLst/>
          </a:prstGeom>
        </p:spPr>
      </p:pic>
      <p:sp>
        <p:nvSpPr>
          <p:cNvPr id="13" name="Otsu Threshold">
            <a:extLst xmlns:a="http://schemas.openxmlformats.org/drawingml/2006/main">
              <a:ext uri="{FF2B5EF4-FFF2-40B4-BE49-F238E27FC236}">
                <a16:creationId xmlns:a16="http://schemas.microsoft.com/office/drawing/2014/main" id="{CDA01815-80BB-449C-93DE-C0A5691E0075}"/>
              </a:ext>
            </a:extLst>
          </p:cNvPr>
          <p:cNvSpPr>
            <a:spLocks xmlns:a="http://schemas.openxmlformats.org/drawingml/2006/main" noGrp="1"/>
          </p:cNvSpPr>
          <p:nvPr/>
        </p:nvSpPr>
        <p:spPr>
          <a:xfrm xmlns:a="http://schemas.openxmlformats.org/drawingml/2006/main">
            <a:off x="81534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Otsu Threshold</a:t>
            </a:r>
          </a:p>
        </p:txBody>
      </p:sp>
      <p:sp>
        <p:nvSpPr>
          <p:cNvPr id="14" name="자동 임계값 이진화">
            <a:extLst xmlns:a="http://schemas.openxmlformats.org/drawingml/2006/main">
              <a:ext uri="{FF2B5EF4-FFF2-40B4-BE49-F238E27FC236}">
                <a16:creationId xmlns:a16="http://schemas.microsoft.com/office/drawing/2014/main" id="{53D3F562-CC7E-49B7-B165-2D59D7F0E4BD}"/>
              </a:ext>
            </a:extLst>
          </p:cNvPr>
          <p:cNvSpPr>
            <a:spLocks xmlns:a="http://schemas.openxmlformats.org/drawingml/2006/main" noGrp="1"/>
          </p:cNvSpPr>
          <p:nvPr/>
        </p:nvSpPr>
        <p:spPr>
          <a:xfrm xmlns:a="http://schemas.openxmlformats.org/drawingml/2006/main">
            <a:off x="81534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자동 임계값 이진화</a:t>
            </a:r>
          </a:p>
        </p:txBody>
      </p:sp>
    </p:spTree>
    <p:extLst>
      <p:ext uri="{BB962C8B-B14F-4D97-AF65-F5344CB8AC3E}">
        <p14:creationId xmlns:p14="http://schemas.microsoft.com/office/powerpoint/2010/main" val="931950434"/>
      </p:ext>
    </p:extLst>
  </p:cSld>
</p:sld>
</file>

<file path=ppt/slides/slide5.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15" name="전처리 설계">
            <a:extLst xmlns:a="http://schemas.openxmlformats.org/drawingml/2006/main">
              <a:ext uri="{FF2B5EF4-FFF2-40B4-BE49-F238E27FC236}">
                <a16:creationId xmlns:a16="http://schemas.microsoft.com/office/drawing/2014/main" id="{5F075D9C-CB6E-4EB7-860D-E47C0CA641E3}"/>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전처리 설계</a:t>
            </a:r>
          </a:p>
        </p:txBody>
      </p:sp>
      <p:sp>
        <p:nvSpPr>
          <p:cNvPr id="2" name="단일 필터 영상 2: 밝기와 대비">
            <a:extLst xmlns:a="http://schemas.openxmlformats.org/drawingml/2006/main">
              <a:ext uri="{FF2B5EF4-FFF2-40B4-BE49-F238E27FC236}">
                <a16:creationId xmlns:a16="http://schemas.microsoft.com/office/drawing/2014/main" id="{D4E8FFE2-CB5B-453C-B5E4-AE9B0AE4F990}"/>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단일 필터 영상 2: 밝기와 대비</a:t>
            </a:r>
          </a:p>
        </p:txBody>
      </p:sp>
      <p:sp>
        <p:nvSpPr>
          <p:cNvPr id="3" name="경기대학교 컴퓨터과학과">
            <a:extLst xmlns:a="http://schemas.openxmlformats.org/drawingml/2006/main">
              <a:ext uri="{FF2B5EF4-FFF2-40B4-BE49-F238E27FC236}">
                <a16:creationId xmlns:a16="http://schemas.microsoft.com/office/drawing/2014/main" id="{0D7D18E6-BF26-4C12-9747-C37787C81B2D}"/>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05">
            <a:extLst xmlns:a="http://schemas.openxmlformats.org/drawingml/2006/main">
              <a:ext uri="{FF2B5EF4-FFF2-40B4-BE49-F238E27FC236}">
                <a16:creationId xmlns:a16="http://schemas.microsoft.com/office/drawing/2014/main" id="{6505A267-E03E-491F-B809-92772276BA96}"/>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05</a:t>
            </a:r>
          </a:p>
        </p:txBody>
      </p:sp>
      <p:sp>
        <p:nvSpPr>
          <p:cNvPr id="5" name="밝기 분포와 대비를 바꾸는 변환">
            <a:extLst xmlns:a="http://schemas.openxmlformats.org/drawingml/2006/main">
              <a:ext uri="{FF2B5EF4-FFF2-40B4-BE49-F238E27FC236}">
                <a16:creationId xmlns:a16="http://schemas.microsoft.com/office/drawing/2014/main" id="{FC4A7443-2017-423E-B5D5-B2221C0F8766}"/>
              </a:ext>
            </a:extLst>
          </p:cNvPr>
          <p:cNvSpPr>
            <a:spLocks xmlns:a="http://schemas.openxmlformats.org/drawingml/2006/main" noGrp="1"/>
          </p:cNvSpPr>
          <p:nvPr/>
        </p:nvSpPr>
        <p:spPr>
          <a:xfrm xmlns:a="http://schemas.openxmlformats.org/drawingml/2006/main">
            <a:off x="609600" y="15811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AAB8CC"/>
                </a:solidFill>
                <a:latin typeface="NanumGothic"/>
                <a:ea typeface="NanumGothic"/>
                <a:cs typeface="NanumGothic"/>
              </a:defRPr>
            </a:defPPr>
            <a:lvl1pPr algn="l">
              <a:defRPr sz="1800" b="1">
                <a:solidFill>
                  <a:srgbClr val="AAB8CC"/>
                </a:solidFill>
                <a:latin typeface="NanumGothic"/>
                <a:ea typeface="NanumGothic"/>
                <a:cs typeface="NanumGothic"/>
              </a:defRPr>
            </a:lvl1pPr>
            <a:lvl2pPr algn="l">
              <a:defRPr sz="1800" b="1">
                <a:solidFill>
                  <a:srgbClr val="AAB8CC"/>
                </a:solidFill>
                <a:latin typeface="NanumGothic"/>
                <a:ea typeface="NanumGothic"/>
                <a:cs typeface="NanumGothic"/>
              </a:defRPr>
            </a:lvl2pPr>
            <a:lvl3pPr algn="l">
              <a:defRPr sz="1800" b="1">
                <a:solidFill>
                  <a:srgbClr val="AAB8CC"/>
                </a:solidFill>
                <a:latin typeface="NanumGothic"/>
                <a:ea typeface="NanumGothic"/>
                <a:cs typeface="NanumGothic"/>
              </a:defRPr>
            </a:lvl3pPr>
            <a:lvl4pPr algn="l">
              <a:defRPr sz="1800" b="1">
                <a:solidFill>
                  <a:srgbClr val="AAB8CC"/>
                </a:solidFill>
                <a:latin typeface="NanumGothic"/>
                <a:ea typeface="NanumGothic"/>
                <a:cs typeface="NanumGothic"/>
              </a:defRPr>
            </a:lvl4pPr>
            <a:lvl5pPr algn="l">
              <a:defRPr sz="1800" b="1">
                <a:solidFill>
                  <a:srgbClr val="AAB8CC"/>
                </a:solidFill>
                <a:latin typeface="NanumGothic"/>
                <a:ea typeface="NanumGothic"/>
                <a:cs typeface="NanumGothic"/>
              </a:defRPr>
            </a:lvl5pPr>
            <a:lvl6pPr algn="l">
              <a:defRPr sz="1800" b="1">
                <a:solidFill>
                  <a:srgbClr val="AAB8CC"/>
                </a:solidFill>
                <a:latin typeface="NanumGothic"/>
                <a:ea typeface="NanumGothic"/>
                <a:cs typeface="NanumGothic"/>
              </a:defRPr>
            </a:lvl6pPr>
            <a:lvl7pPr algn="l">
              <a:defRPr sz="1800" b="1">
                <a:solidFill>
                  <a:srgbClr val="AAB8CC"/>
                </a:solidFill>
                <a:latin typeface="NanumGothic"/>
                <a:ea typeface="NanumGothic"/>
                <a:cs typeface="NanumGothic"/>
              </a:defRPr>
            </a:lvl7pPr>
            <a:lvl8pPr algn="l">
              <a:defRPr sz="1800" b="1">
                <a:solidFill>
                  <a:srgbClr val="AAB8CC"/>
                </a:solidFill>
                <a:latin typeface="NanumGothic"/>
                <a:ea typeface="NanumGothic"/>
                <a:cs typeface="NanumGothic"/>
              </a:defRPr>
            </a:lvl8pPr>
            <a:lvl9pPr algn="l">
              <a:defRPr sz="1800" b="1">
                <a:solidFill>
                  <a:srgbClr val="AAB8CC"/>
                </a:solidFill>
                <a:latin typeface="NanumGothic"/>
                <a:ea typeface="NanumGothic"/>
                <a:cs typeface="NanumGothic"/>
              </a:defRPr>
            </a:lvl9pPr>
          </a:lstStyle>
          <a:p xmlns:a="http://schemas.openxmlformats.org/drawingml/2006/main">
            <a:pPr algn="l">
              <a:defRPr sz="1800" b="1">
                <a:solidFill>
                  <a:srgbClr val="AAB8CC"/>
                </a:solidFill>
                <a:latin typeface="NanumGothic"/>
                <a:ea typeface="NanumGothic"/>
                <a:cs typeface="NanumGothic"/>
              </a:defRPr>
            </a:pPr>
            <a:r>
              <a:rPr sz="1800" b="1">
                <a:solidFill>
                  <a:srgbClr val="AAB8CC"/>
                </a:solidFill>
                <a:latin typeface="NanumGothic"/>
                <a:ea typeface="NanumGothic"/>
                <a:cs typeface="NanumGothic"/>
              </a:rPr>
              <a:t>밝기 분포와 대비를 바꾸는 변환</a:t>
            </a:r>
          </a:p>
        </p:txBody>
      </p:sp>
      <p:pic>
        <p:nvPicPr>
          <p:cNvPr id="6" name="">
            <a:extLst xmlns:a="http://schemas.openxmlformats.org/drawingml/2006/main">
              <a:ext uri="{FF2B5EF4-FFF2-40B4-BE49-F238E27FC236}">
                <a16:creationId xmlns:a16="http://schemas.microsoft.com/office/drawing/2014/main" id="{6336B5B9-5814-49D9-BD3F-22900668DDF9}"/>
              </a:ext>
            </a:extLst>
          </p:cNvPr>
          <p:cNvPicPr>
            <a:picLocks xmlns:a="http://schemas.openxmlformats.org/drawingml/2006/main" noChangeAspect="1"/>
          </p:cNvPicPr>
          <p:nvPr/>
        </p:nvPicPr>
        <p:blipFill>
          <a:blip xmlns:r="http://schemas.openxmlformats.org/officeDocument/2006/relationships" xmlns:a="http://schemas.openxmlformats.org/drawingml/2006/main" r:embed="Rb5884ff955e44ea8"/>
          <a:srcRect xmlns:a="http://schemas.openxmlformats.org/drawingml/2006/main" l="50000" t="0" r="0" b="0"/>
          <a:stretch xmlns:a="http://schemas.openxmlformats.org/drawingml/2006/main"/>
        </p:blipFill>
        <p:spPr>
          <a:xfrm xmlns:a="http://schemas.openxmlformats.org/drawingml/2006/main">
            <a:off x="609600" y="2266950"/>
            <a:ext cx="3429000" cy="2743200"/>
          </a:xfrm>
          <a:prstGeom xmlns:a="http://schemas.openxmlformats.org/drawingml/2006/main" prst="rect">
            <a:avLst/>
          </a:prstGeom>
        </p:spPr>
      </p:pic>
      <p:sp>
        <p:nvSpPr>
          <p:cNvPr id="7" name="Solarize">
            <a:extLst xmlns:a="http://schemas.openxmlformats.org/drawingml/2006/main">
              <a:ext uri="{FF2B5EF4-FFF2-40B4-BE49-F238E27FC236}">
                <a16:creationId xmlns:a16="http://schemas.microsoft.com/office/drawing/2014/main" id="{F6BE31D7-409B-4933-A8CA-C64A23B38973}"/>
              </a:ext>
            </a:extLst>
          </p:cNvPr>
          <p:cNvSpPr>
            <a:spLocks xmlns:a="http://schemas.openxmlformats.org/drawingml/2006/main" noGrp="1"/>
          </p:cNvSpPr>
          <p:nvPr/>
        </p:nvSpPr>
        <p:spPr>
          <a:xfrm xmlns:a="http://schemas.openxmlformats.org/drawingml/2006/main">
            <a:off x="6096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Solarize</a:t>
            </a:r>
          </a:p>
        </p:txBody>
      </p:sp>
      <p:sp>
        <p:nvSpPr>
          <p:cNvPr id="8" name="t &gt; mean(t)일 때 반전">
            <a:extLst xmlns:a="http://schemas.openxmlformats.org/drawingml/2006/main">
              <a:ext uri="{FF2B5EF4-FFF2-40B4-BE49-F238E27FC236}">
                <a16:creationId xmlns:a16="http://schemas.microsoft.com/office/drawing/2014/main" id="{47595338-B11A-483D-9445-2FFE5F7F5EA5}"/>
              </a:ext>
            </a:extLst>
          </p:cNvPr>
          <p:cNvSpPr>
            <a:spLocks xmlns:a="http://schemas.openxmlformats.org/drawingml/2006/main" noGrp="1"/>
          </p:cNvSpPr>
          <p:nvPr/>
        </p:nvSpPr>
        <p:spPr>
          <a:xfrm xmlns:a="http://schemas.openxmlformats.org/drawingml/2006/main">
            <a:off x="6096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t &gt; mean(t)일 때 반전</a:t>
            </a:r>
          </a:p>
        </p:txBody>
      </p:sp>
      <p:pic>
        <p:nvPicPr>
          <p:cNvPr id="9" name="">
            <a:extLst xmlns:a="http://schemas.openxmlformats.org/drawingml/2006/main">
              <a:ext uri="{FF2B5EF4-FFF2-40B4-BE49-F238E27FC236}">
                <a16:creationId xmlns:a16="http://schemas.microsoft.com/office/drawing/2014/main" id="{E786097B-24BE-422F-8FA0-698F8160C1F4}"/>
              </a:ext>
            </a:extLst>
          </p:cNvPr>
          <p:cNvPicPr>
            <a:picLocks xmlns:a="http://schemas.openxmlformats.org/drawingml/2006/main" noChangeAspect="1"/>
          </p:cNvPicPr>
          <p:nvPr/>
        </p:nvPicPr>
        <p:blipFill>
          <a:blip xmlns:r="http://schemas.openxmlformats.org/officeDocument/2006/relationships" xmlns:a="http://schemas.openxmlformats.org/drawingml/2006/main" r:embed="R265c9a8c01404785"/>
          <a:srcRect xmlns:a="http://schemas.openxmlformats.org/drawingml/2006/main" l="50000" t="0" r="0" b="0"/>
          <a:stretch xmlns:a="http://schemas.openxmlformats.org/drawingml/2006/main"/>
        </p:blipFill>
        <p:spPr>
          <a:xfrm xmlns:a="http://schemas.openxmlformats.org/drawingml/2006/main">
            <a:off x="4381500" y="2266950"/>
            <a:ext cx="3429000" cy="2743200"/>
          </a:xfrm>
          <a:prstGeom xmlns:a="http://schemas.openxmlformats.org/drawingml/2006/main" prst="rect">
            <a:avLst/>
          </a:prstGeom>
        </p:spPr>
      </p:pic>
      <p:sp>
        <p:nvSpPr>
          <p:cNvPr id="10" name="Histogram Equalization">
            <a:extLst xmlns:a="http://schemas.openxmlformats.org/drawingml/2006/main">
              <a:ext uri="{FF2B5EF4-FFF2-40B4-BE49-F238E27FC236}">
                <a16:creationId xmlns:a16="http://schemas.microsoft.com/office/drawing/2014/main" id="{05873180-4527-4178-A5F1-A19B6451E4F4}"/>
              </a:ext>
            </a:extLst>
          </p:cNvPr>
          <p:cNvSpPr>
            <a:spLocks xmlns:a="http://schemas.openxmlformats.org/drawingml/2006/main" noGrp="1"/>
          </p:cNvSpPr>
          <p:nvPr/>
        </p:nvSpPr>
        <p:spPr>
          <a:xfrm xmlns:a="http://schemas.openxmlformats.org/drawingml/2006/main">
            <a:off x="43815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Histogram Equalization</a:t>
            </a:r>
          </a:p>
        </p:txBody>
      </p:sp>
      <p:sp>
        <p:nvSpPr>
          <p:cNvPr id="11" name="전체 히스토그램 변환">
            <a:extLst xmlns:a="http://schemas.openxmlformats.org/drawingml/2006/main">
              <a:ext uri="{FF2B5EF4-FFF2-40B4-BE49-F238E27FC236}">
                <a16:creationId xmlns:a16="http://schemas.microsoft.com/office/drawing/2014/main" id="{096CDC24-1983-424E-9090-011A585AAD1A}"/>
              </a:ext>
            </a:extLst>
          </p:cNvPr>
          <p:cNvSpPr>
            <a:spLocks xmlns:a="http://schemas.openxmlformats.org/drawingml/2006/main" noGrp="1"/>
          </p:cNvSpPr>
          <p:nvPr/>
        </p:nvSpPr>
        <p:spPr>
          <a:xfrm xmlns:a="http://schemas.openxmlformats.org/drawingml/2006/main">
            <a:off x="43815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전체 히스토그램 변환</a:t>
            </a:r>
          </a:p>
        </p:txBody>
      </p:sp>
      <p:pic>
        <p:nvPicPr>
          <p:cNvPr id="12" name="">
            <a:extLst xmlns:a="http://schemas.openxmlformats.org/drawingml/2006/main">
              <a:ext uri="{FF2B5EF4-FFF2-40B4-BE49-F238E27FC236}">
                <a16:creationId xmlns:a16="http://schemas.microsoft.com/office/drawing/2014/main" id="{52A62062-B3EE-4E9C-B271-F50B75F00370}"/>
              </a:ext>
            </a:extLst>
          </p:cNvPr>
          <p:cNvPicPr>
            <a:picLocks xmlns:a="http://schemas.openxmlformats.org/drawingml/2006/main" noChangeAspect="1"/>
          </p:cNvPicPr>
          <p:nvPr/>
        </p:nvPicPr>
        <p:blipFill>
          <a:blip xmlns:r="http://schemas.openxmlformats.org/officeDocument/2006/relationships" xmlns:a="http://schemas.openxmlformats.org/drawingml/2006/main" r:embed="R776c87b0a4f44424"/>
          <a:srcRect xmlns:a="http://schemas.openxmlformats.org/drawingml/2006/main" l="50000" t="0" r="0" b="0"/>
          <a:stretch xmlns:a="http://schemas.openxmlformats.org/drawingml/2006/main"/>
        </p:blipFill>
        <p:spPr>
          <a:xfrm xmlns:a="http://schemas.openxmlformats.org/drawingml/2006/main">
            <a:off x="8153400" y="2266950"/>
            <a:ext cx="3429000" cy="2743200"/>
          </a:xfrm>
          <a:prstGeom xmlns:a="http://schemas.openxmlformats.org/drawingml/2006/main" prst="rect">
            <a:avLst/>
          </a:prstGeom>
        </p:spPr>
      </p:pic>
      <p:sp>
        <p:nvSpPr>
          <p:cNvPr id="13" name="CLAHE (max)">
            <a:extLst xmlns:a="http://schemas.openxmlformats.org/drawingml/2006/main">
              <a:ext uri="{FF2B5EF4-FFF2-40B4-BE49-F238E27FC236}">
                <a16:creationId xmlns:a16="http://schemas.microsoft.com/office/drawing/2014/main" id="{7C9CBAC2-30B3-4B35-AE4D-064DA2C48062}"/>
              </a:ext>
            </a:extLst>
          </p:cNvPr>
          <p:cNvSpPr>
            <a:spLocks xmlns:a="http://schemas.openxmlformats.org/drawingml/2006/main" noGrp="1"/>
          </p:cNvSpPr>
          <p:nvPr/>
        </p:nvSpPr>
        <p:spPr>
          <a:xfrm xmlns:a="http://schemas.openxmlformats.org/drawingml/2006/main">
            <a:off x="81534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CLAHE (max)</a:t>
            </a:r>
          </a:p>
        </p:txBody>
      </p:sp>
      <p:sp>
        <p:nvSpPr>
          <p:cNvPr id="14" name="clip limit 40 / grid 16×16">
            <a:extLst xmlns:a="http://schemas.openxmlformats.org/drawingml/2006/main">
              <a:ext uri="{FF2B5EF4-FFF2-40B4-BE49-F238E27FC236}">
                <a16:creationId xmlns:a16="http://schemas.microsoft.com/office/drawing/2014/main" id="{E6CBEF29-9F82-4DB9-8B2A-D420AEC3C0A0}"/>
              </a:ext>
            </a:extLst>
          </p:cNvPr>
          <p:cNvSpPr>
            <a:spLocks xmlns:a="http://schemas.openxmlformats.org/drawingml/2006/main" noGrp="1"/>
          </p:cNvSpPr>
          <p:nvPr/>
        </p:nvSpPr>
        <p:spPr>
          <a:xfrm xmlns:a="http://schemas.openxmlformats.org/drawingml/2006/main">
            <a:off x="81534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clip limit 40 / grid 16×16</a:t>
            </a:r>
          </a:p>
        </p:txBody>
      </p:sp>
    </p:spTree>
    <p:extLst>
      <p:ext uri="{BB962C8B-B14F-4D97-AF65-F5344CB8AC3E}">
        <p14:creationId xmlns:p14="http://schemas.microsoft.com/office/powerpoint/2010/main" val="644653645"/>
      </p:ext>
    </p:extLst>
  </p:cSld>
</p:sld>
</file>

<file path=ppt/slides/slide6.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15" name="전처리 설계">
            <a:extLst xmlns:a="http://schemas.openxmlformats.org/drawingml/2006/main">
              <a:ext uri="{FF2B5EF4-FFF2-40B4-BE49-F238E27FC236}">
                <a16:creationId xmlns:a16="http://schemas.microsoft.com/office/drawing/2014/main" id="{C7772B8B-BF8B-4724-B868-9CFECD22EEBB}"/>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전처리 설계</a:t>
            </a:r>
          </a:p>
        </p:txBody>
      </p:sp>
      <p:sp>
        <p:nvSpPr>
          <p:cNvPr id="2" name="단일 필터 영상 3: 평활화와 경계">
            <a:extLst xmlns:a="http://schemas.openxmlformats.org/drawingml/2006/main">
              <a:ext uri="{FF2B5EF4-FFF2-40B4-BE49-F238E27FC236}">
                <a16:creationId xmlns:a16="http://schemas.microsoft.com/office/drawing/2014/main" id="{974D3246-A4BE-4BFE-80DB-89E083ED38AC}"/>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단일 필터 영상 3: 평활화와 경계</a:t>
            </a:r>
          </a:p>
        </p:txBody>
      </p:sp>
      <p:sp>
        <p:nvSpPr>
          <p:cNvPr id="3" name="경기대학교 컴퓨터과학과">
            <a:extLst xmlns:a="http://schemas.openxmlformats.org/drawingml/2006/main">
              <a:ext uri="{FF2B5EF4-FFF2-40B4-BE49-F238E27FC236}">
                <a16:creationId xmlns:a16="http://schemas.microsoft.com/office/drawing/2014/main" id="{4F684993-F5E2-4ED6-8FB6-15114F1DAB1B}"/>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06">
            <a:extLst xmlns:a="http://schemas.openxmlformats.org/drawingml/2006/main">
              <a:ext uri="{FF2B5EF4-FFF2-40B4-BE49-F238E27FC236}">
                <a16:creationId xmlns:a16="http://schemas.microsoft.com/office/drawing/2014/main" id="{225F15B7-7021-45D8-8BF3-B9EBFDBBB2B3}"/>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06</a:t>
            </a:r>
          </a:p>
        </p:txBody>
      </p:sp>
      <p:sp>
        <p:nvSpPr>
          <p:cNvPr id="5" name="실제 코드의 고정 파라미터를 적용한 예시">
            <a:extLst xmlns:a="http://schemas.openxmlformats.org/drawingml/2006/main">
              <a:ext uri="{FF2B5EF4-FFF2-40B4-BE49-F238E27FC236}">
                <a16:creationId xmlns:a16="http://schemas.microsoft.com/office/drawing/2014/main" id="{97EB792A-17B2-4026-A56E-A33BC9BD1B9A}"/>
              </a:ext>
            </a:extLst>
          </p:cNvPr>
          <p:cNvSpPr>
            <a:spLocks xmlns:a="http://schemas.openxmlformats.org/drawingml/2006/main" noGrp="1"/>
          </p:cNvSpPr>
          <p:nvPr/>
        </p:nvSpPr>
        <p:spPr>
          <a:xfrm xmlns:a="http://schemas.openxmlformats.org/drawingml/2006/main">
            <a:off x="609600" y="15811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AAB8CC"/>
                </a:solidFill>
                <a:latin typeface="NanumGothic"/>
                <a:ea typeface="NanumGothic"/>
                <a:cs typeface="NanumGothic"/>
              </a:defRPr>
            </a:defPPr>
            <a:lvl1pPr algn="l">
              <a:defRPr sz="1800" b="1">
                <a:solidFill>
                  <a:srgbClr val="AAB8CC"/>
                </a:solidFill>
                <a:latin typeface="NanumGothic"/>
                <a:ea typeface="NanumGothic"/>
                <a:cs typeface="NanumGothic"/>
              </a:defRPr>
            </a:lvl1pPr>
            <a:lvl2pPr algn="l">
              <a:defRPr sz="1800" b="1">
                <a:solidFill>
                  <a:srgbClr val="AAB8CC"/>
                </a:solidFill>
                <a:latin typeface="NanumGothic"/>
                <a:ea typeface="NanumGothic"/>
                <a:cs typeface="NanumGothic"/>
              </a:defRPr>
            </a:lvl2pPr>
            <a:lvl3pPr algn="l">
              <a:defRPr sz="1800" b="1">
                <a:solidFill>
                  <a:srgbClr val="AAB8CC"/>
                </a:solidFill>
                <a:latin typeface="NanumGothic"/>
                <a:ea typeface="NanumGothic"/>
                <a:cs typeface="NanumGothic"/>
              </a:defRPr>
            </a:lvl3pPr>
            <a:lvl4pPr algn="l">
              <a:defRPr sz="1800" b="1">
                <a:solidFill>
                  <a:srgbClr val="AAB8CC"/>
                </a:solidFill>
                <a:latin typeface="NanumGothic"/>
                <a:ea typeface="NanumGothic"/>
                <a:cs typeface="NanumGothic"/>
              </a:defRPr>
            </a:lvl4pPr>
            <a:lvl5pPr algn="l">
              <a:defRPr sz="1800" b="1">
                <a:solidFill>
                  <a:srgbClr val="AAB8CC"/>
                </a:solidFill>
                <a:latin typeface="NanumGothic"/>
                <a:ea typeface="NanumGothic"/>
                <a:cs typeface="NanumGothic"/>
              </a:defRPr>
            </a:lvl5pPr>
            <a:lvl6pPr algn="l">
              <a:defRPr sz="1800" b="1">
                <a:solidFill>
                  <a:srgbClr val="AAB8CC"/>
                </a:solidFill>
                <a:latin typeface="NanumGothic"/>
                <a:ea typeface="NanumGothic"/>
                <a:cs typeface="NanumGothic"/>
              </a:defRPr>
            </a:lvl6pPr>
            <a:lvl7pPr algn="l">
              <a:defRPr sz="1800" b="1">
                <a:solidFill>
                  <a:srgbClr val="AAB8CC"/>
                </a:solidFill>
                <a:latin typeface="NanumGothic"/>
                <a:ea typeface="NanumGothic"/>
                <a:cs typeface="NanumGothic"/>
              </a:defRPr>
            </a:lvl7pPr>
            <a:lvl8pPr algn="l">
              <a:defRPr sz="1800" b="1">
                <a:solidFill>
                  <a:srgbClr val="AAB8CC"/>
                </a:solidFill>
                <a:latin typeface="NanumGothic"/>
                <a:ea typeface="NanumGothic"/>
                <a:cs typeface="NanumGothic"/>
              </a:defRPr>
            </a:lvl8pPr>
            <a:lvl9pPr algn="l">
              <a:defRPr sz="1800" b="1">
                <a:solidFill>
                  <a:srgbClr val="AAB8CC"/>
                </a:solidFill>
                <a:latin typeface="NanumGothic"/>
                <a:ea typeface="NanumGothic"/>
                <a:cs typeface="NanumGothic"/>
              </a:defRPr>
            </a:lvl9pPr>
          </a:lstStyle>
          <a:p xmlns:a="http://schemas.openxmlformats.org/drawingml/2006/main">
            <a:pPr algn="l">
              <a:defRPr sz="1800" b="1">
                <a:solidFill>
                  <a:srgbClr val="AAB8CC"/>
                </a:solidFill>
                <a:latin typeface="NanumGothic"/>
                <a:ea typeface="NanumGothic"/>
                <a:cs typeface="NanumGothic"/>
              </a:defRPr>
            </a:pPr>
            <a:r>
              <a:rPr sz="1800" b="1">
                <a:solidFill>
                  <a:srgbClr val="AAB8CC"/>
                </a:solidFill>
                <a:latin typeface="NanumGothic"/>
                <a:ea typeface="NanumGothic"/>
                <a:cs typeface="NanumGothic"/>
              </a:rPr>
              <a:t>실제 코드의 고정 파라미터를 적용한 예시</a:t>
            </a:r>
          </a:p>
        </p:txBody>
      </p:sp>
      <p:pic>
        <p:nvPicPr>
          <p:cNvPr id="6" name="">
            <a:extLst xmlns:a="http://schemas.openxmlformats.org/drawingml/2006/main">
              <a:ext uri="{FF2B5EF4-FFF2-40B4-BE49-F238E27FC236}">
                <a16:creationId xmlns:a16="http://schemas.microsoft.com/office/drawing/2014/main" id="{FCB2684F-D54B-4C90-AA29-EC4E1223B1F9}"/>
              </a:ext>
            </a:extLst>
          </p:cNvPr>
          <p:cNvPicPr>
            <a:picLocks xmlns:a="http://schemas.openxmlformats.org/drawingml/2006/main" noChangeAspect="1"/>
          </p:cNvPicPr>
          <p:nvPr/>
        </p:nvPicPr>
        <p:blipFill>
          <a:blip xmlns:r="http://schemas.openxmlformats.org/officeDocument/2006/relationships" xmlns:a="http://schemas.openxmlformats.org/drawingml/2006/main" r:embed="R5783997909214a0c"/>
          <a:srcRect xmlns:a="http://schemas.openxmlformats.org/drawingml/2006/main" l="50000" t="0" r="0" b="0"/>
          <a:stretch xmlns:a="http://schemas.openxmlformats.org/drawingml/2006/main"/>
        </p:blipFill>
        <p:spPr>
          <a:xfrm xmlns:a="http://schemas.openxmlformats.org/drawingml/2006/main">
            <a:off x="609600" y="2266950"/>
            <a:ext cx="3429000" cy="2743200"/>
          </a:xfrm>
          <a:prstGeom xmlns:a="http://schemas.openxmlformats.org/drawingml/2006/main" prst="rect">
            <a:avLst/>
          </a:prstGeom>
        </p:spPr>
      </p:pic>
      <p:sp>
        <p:nvSpPr>
          <p:cNvPr id="7" name="Gamma 0.3">
            <a:extLst xmlns:a="http://schemas.openxmlformats.org/drawingml/2006/main">
              <a:ext uri="{FF2B5EF4-FFF2-40B4-BE49-F238E27FC236}">
                <a16:creationId xmlns:a16="http://schemas.microsoft.com/office/drawing/2014/main" id="{A55AF8D8-345F-4BC6-8B90-4ED704074123}"/>
              </a:ext>
            </a:extLst>
          </p:cNvPr>
          <p:cNvSpPr>
            <a:spLocks xmlns:a="http://schemas.openxmlformats.org/drawingml/2006/main" noGrp="1"/>
          </p:cNvSpPr>
          <p:nvPr/>
        </p:nvSpPr>
        <p:spPr>
          <a:xfrm xmlns:a="http://schemas.openxmlformats.org/drawingml/2006/main">
            <a:off x="6096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Gamma 0.3</a:t>
            </a:r>
          </a:p>
        </p:txBody>
      </p:sp>
      <p:sp>
        <p:nvSpPr>
          <p:cNvPr id="8" name="정규화 밝기 t의 0.3제곱">
            <a:extLst xmlns:a="http://schemas.openxmlformats.org/drawingml/2006/main">
              <a:ext uri="{FF2B5EF4-FFF2-40B4-BE49-F238E27FC236}">
                <a16:creationId xmlns:a16="http://schemas.microsoft.com/office/drawing/2014/main" id="{0A81CEDE-B03D-4F45-87BA-36B5B091DA20}"/>
              </a:ext>
            </a:extLst>
          </p:cNvPr>
          <p:cNvSpPr>
            <a:spLocks xmlns:a="http://schemas.openxmlformats.org/drawingml/2006/main" noGrp="1"/>
          </p:cNvSpPr>
          <p:nvPr/>
        </p:nvSpPr>
        <p:spPr>
          <a:xfrm xmlns:a="http://schemas.openxmlformats.org/drawingml/2006/main">
            <a:off x="6096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정규화 밝기 t의 0.3제곱</a:t>
            </a:r>
          </a:p>
        </p:txBody>
      </p:sp>
      <p:pic>
        <p:nvPicPr>
          <p:cNvPr id="9" name="">
            <a:extLst xmlns:a="http://schemas.openxmlformats.org/drawingml/2006/main">
              <a:ext uri="{FF2B5EF4-FFF2-40B4-BE49-F238E27FC236}">
                <a16:creationId xmlns:a16="http://schemas.microsoft.com/office/drawing/2014/main" id="{8407BA90-413A-4E89-B9F2-D40B7B0552B5}"/>
              </a:ext>
            </a:extLst>
          </p:cNvPr>
          <p:cNvPicPr>
            <a:picLocks xmlns:a="http://schemas.openxmlformats.org/drawingml/2006/main" noChangeAspect="1"/>
          </p:cNvPicPr>
          <p:nvPr/>
        </p:nvPicPr>
        <p:blipFill>
          <a:blip xmlns:r="http://schemas.openxmlformats.org/officeDocument/2006/relationships" xmlns:a="http://schemas.openxmlformats.org/drawingml/2006/main" r:embed="R95e90c6e42414e91"/>
          <a:srcRect xmlns:a="http://schemas.openxmlformats.org/drawingml/2006/main" l="50000" t="0" r="0" b="0"/>
          <a:stretch xmlns:a="http://schemas.openxmlformats.org/drawingml/2006/main"/>
        </p:blipFill>
        <p:spPr>
          <a:xfrm xmlns:a="http://schemas.openxmlformats.org/drawingml/2006/main">
            <a:off x="4381500" y="2266950"/>
            <a:ext cx="3429000" cy="2743200"/>
          </a:xfrm>
          <a:prstGeom xmlns:a="http://schemas.openxmlformats.org/drawingml/2006/main" prst="rect">
            <a:avLst/>
          </a:prstGeom>
        </p:spPr>
      </p:pic>
      <p:sp>
        <p:nvSpPr>
          <p:cNvPr id="10" name="Gaussian Blur (max)">
            <a:extLst xmlns:a="http://schemas.openxmlformats.org/drawingml/2006/main">
              <a:ext uri="{FF2B5EF4-FFF2-40B4-BE49-F238E27FC236}">
                <a16:creationId xmlns:a16="http://schemas.microsoft.com/office/drawing/2014/main" id="{BEA47585-D4BC-4391-969A-1D4D53949190}"/>
              </a:ext>
            </a:extLst>
          </p:cNvPr>
          <p:cNvSpPr>
            <a:spLocks xmlns:a="http://schemas.openxmlformats.org/drawingml/2006/main" noGrp="1"/>
          </p:cNvSpPr>
          <p:nvPr/>
        </p:nvSpPr>
        <p:spPr>
          <a:xfrm xmlns:a="http://schemas.openxmlformats.org/drawingml/2006/main">
            <a:off x="43815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Gaussian Blur (max)</a:t>
            </a:r>
          </a:p>
        </p:txBody>
      </p:sp>
      <p:sp>
        <p:nvSpPr>
          <p:cNvPr id="11" name="σ=20 px / kernel 121×121">
            <a:extLst xmlns:a="http://schemas.openxmlformats.org/drawingml/2006/main">
              <a:ext uri="{FF2B5EF4-FFF2-40B4-BE49-F238E27FC236}">
                <a16:creationId xmlns:a16="http://schemas.microsoft.com/office/drawing/2014/main" id="{DA4FF327-670B-4FD1-BC44-585782160F12}"/>
              </a:ext>
            </a:extLst>
          </p:cNvPr>
          <p:cNvSpPr>
            <a:spLocks xmlns:a="http://schemas.openxmlformats.org/drawingml/2006/main" noGrp="1"/>
          </p:cNvSpPr>
          <p:nvPr/>
        </p:nvSpPr>
        <p:spPr>
          <a:xfrm xmlns:a="http://schemas.openxmlformats.org/drawingml/2006/main">
            <a:off x="43815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σ=20 px / kernel 121×121</a:t>
            </a:r>
          </a:p>
        </p:txBody>
      </p:sp>
      <p:pic>
        <p:nvPicPr>
          <p:cNvPr id="12" name="">
            <a:extLst xmlns:a="http://schemas.openxmlformats.org/drawingml/2006/main">
              <a:ext uri="{FF2B5EF4-FFF2-40B4-BE49-F238E27FC236}">
                <a16:creationId xmlns:a16="http://schemas.microsoft.com/office/drawing/2014/main" id="{617311B5-A883-47D9-B57F-E563739066DD}"/>
              </a:ext>
            </a:extLst>
          </p:cNvPr>
          <p:cNvPicPr>
            <a:picLocks xmlns:a="http://schemas.openxmlformats.org/drawingml/2006/main" noChangeAspect="1"/>
          </p:cNvPicPr>
          <p:nvPr/>
        </p:nvPicPr>
        <p:blipFill>
          <a:blip xmlns:r="http://schemas.openxmlformats.org/officeDocument/2006/relationships" xmlns:a="http://schemas.openxmlformats.org/drawingml/2006/main" r:embed="Ref41008878114b06"/>
          <a:srcRect xmlns:a="http://schemas.openxmlformats.org/drawingml/2006/main" l="50000" t="0" r="0" b="0"/>
          <a:stretch xmlns:a="http://schemas.openxmlformats.org/drawingml/2006/main"/>
        </p:blipFill>
        <p:spPr>
          <a:xfrm xmlns:a="http://schemas.openxmlformats.org/drawingml/2006/main">
            <a:off x="8153400" y="2266950"/>
            <a:ext cx="3429000" cy="2743200"/>
          </a:xfrm>
          <a:prstGeom xmlns:a="http://schemas.openxmlformats.org/drawingml/2006/main" prst="rect">
            <a:avLst/>
          </a:prstGeom>
        </p:spPr>
      </p:pic>
      <p:sp>
        <p:nvSpPr>
          <p:cNvPr id="13" name="Sobel Edges">
            <a:extLst xmlns:a="http://schemas.openxmlformats.org/drawingml/2006/main">
              <a:ext uri="{FF2B5EF4-FFF2-40B4-BE49-F238E27FC236}">
                <a16:creationId xmlns:a16="http://schemas.microsoft.com/office/drawing/2014/main" id="{74C83239-6581-4F44-9F8B-6F6FCB0A8B44}"/>
              </a:ext>
            </a:extLst>
          </p:cNvPr>
          <p:cNvSpPr>
            <a:spLocks xmlns:a="http://schemas.openxmlformats.org/drawingml/2006/main" noGrp="1"/>
          </p:cNvSpPr>
          <p:nvPr/>
        </p:nvSpPr>
        <p:spPr>
          <a:xfrm xmlns:a="http://schemas.openxmlformats.org/drawingml/2006/main">
            <a:off x="81534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Sobel Edges</a:t>
            </a:r>
          </a:p>
        </p:txBody>
      </p:sp>
      <p:sp>
        <p:nvSpPr>
          <p:cNvPr id="14" name="정규화한 경계 응답의 제곱근">
            <a:extLst xmlns:a="http://schemas.openxmlformats.org/drawingml/2006/main">
              <a:ext uri="{FF2B5EF4-FFF2-40B4-BE49-F238E27FC236}">
                <a16:creationId xmlns:a16="http://schemas.microsoft.com/office/drawing/2014/main" id="{7D434429-35D9-459C-A985-7ECA63523C25}"/>
              </a:ext>
            </a:extLst>
          </p:cNvPr>
          <p:cNvSpPr>
            <a:spLocks xmlns:a="http://schemas.openxmlformats.org/drawingml/2006/main" noGrp="1"/>
          </p:cNvSpPr>
          <p:nvPr/>
        </p:nvSpPr>
        <p:spPr>
          <a:xfrm xmlns:a="http://schemas.openxmlformats.org/drawingml/2006/main">
            <a:off x="81534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정규화한 경계 응답의 제곱근</a:t>
            </a:r>
          </a:p>
        </p:txBody>
      </p:sp>
    </p:spTree>
    <p:extLst>
      <p:ext uri="{BB962C8B-B14F-4D97-AF65-F5344CB8AC3E}">
        <p14:creationId xmlns:p14="http://schemas.microsoft.com/office/powerpoint/2010/main" val="1220798897"/>
      </p:ext>
    </p:extLst>
  </p:cSld>
</p:sld>
</file>

<file path=ppt/slides/slide7.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15" name="전처리 설계">
            <a:extLst xmlns:a="http://schemas.openxmlformats.org/drawingml/2006/main">
              <a:ext uri="{FF2B5EF4-FFF2-40B4-BE49-F238E27FC236}">
                <a16:creationId xmlns:a16="http://schemas.microsoft.com/office/drawing/2014/main" id="{05303FE3-B2BE-4BFC-82EB-7A4B4D8E9530}"/>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전처리 설계</a:t>
            </a:r>
          </a:p>
        </p:txBody>
      </p:sp>
      <p:sp>
        <p:nvSpPr>
          <p:cNvPr id="2" name="단일 필터 영상 4: 음영과 선명화">
            <a:extLst xmlns:a="http://schemas.openxmlformats.org/drawingml/2006/main">
              <a:ext uri="{FF2B5EF4-FFF2-40B4-BE49-F238E27FC236}">
                <a16:creationId xmlns:a16="http://schemas.microsoft.com/office/drawing/2014/main" id="{0C6630BE-D55D-4E35-949A-175624396F22}"/>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단일 필터 영상 4: 음영과 선명화</a:t>
            </a:r>
          </a:p>
        </p:txBody>
      </p:sp>
      <p:sp>
        <p:nvSpPr>
          <p:cNvPr id="3" name="경기대학교 컴퓨터과학과">
            <a:extLst xmlns:a="http://schemas.openxmlformats.org/drawingml/2006/main">
              <a:ext uri="{FF2B5EF4-FFF2-40B4-BE49-F238E27FC236}">
                <a16:creationId xmlns:a16="http://schemas.microsoft.com/office/drawing/2014/main" id="{71F942D7-7C29-4782-A0CF-DB5B5F6BBCE8}"/>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07">
            <a:extLst xmlns:a="http://schemas.openxmlformats.org/drawingml/2006/main">
              <a:ext uri="{FF2B5EF4-FFF2-40B4-BE49-F238E27FC236}">
                <a16:creationId xmlns:a16="http://schemas.microsoft.com/office/drawing/2014/main" id="{A1F93583-B2AC-4613-AEE2-60611997D0AD}"/>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07</a:t>
            </a:r>
          </a:p>
        </p:txBody>
      </p:sp>
      <p:sp>
        <p:nvSpPr>
          <p:cNvPr id="5" name="음영·선명화 변환과 원본 비교">
            <a:extLst xmlns:a="http://schemas.openxmlformats.org/drawingml/2006/main">
              <a:ext uri="{FF2B5EF4-FFF2-40B4-BE49-F238E27FC236}">
                <a16:creationId xmlns:a16="http://schemas.microsoft.com/office/drawing/2014/main" id="{B3CDDC4B-C880-41BC-BD82-1EAB0FD949F0}"/>
              </a:ext>
            </a:extLst>
          </p:cNvPr>
          <p:cNvSpPr>
            <a:spLocks xmlns:a="http://schemas.openxmlformats.org/drawingml/2006/main" noGrp="1"/>
          </p:cNvSpPr>
          <p:nvPr/>
        </p:nvSpPr>
        <p:spPr>
          <a:xfrm xmlns:a="http://schemas.openxmlformats.org/drawingml/2006/main">
            <a:off x="609600" y="15811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AAB8CC"/>
                </a:solidFill>
                <a:latin typeface="NanumGothic"/>
                <a:ea typeface="NanumGothic"/>
                <a:cs typeface="NanumGothic"/>
              </a:defRPr>
            </a:defPPr>
            <a:lvl1pPr algn="l">
              <a:defRPr sz="1800" b="1">
                <a:solidFill>
                  <a:srgbClr val="AAB8CC"/>
                </a:solidFill>
                <a:latin typeface="NanumGothic"/>
                <a:ea typeface="NanumGothic"/>
                <a:cs typeface="NanumGothic"/>
              </a:defRPr>
            </a:lvl1pPr>
            <a:lvl2pPr algn="l">
              <a:defRPr sz="1800" b="1">
                <a:solidFill>
                  <a:srgbClr val="AAB8CC"/>
                </a:solidFill>
                <a:latin typeface="NanumGothic"/>
                <a:ea typeface="NanumGothic"/>
                <a:cs typeface="NanumGothic"/>
              </a:defRPr>
            </a:lvl2pPr>
            <a:lvl3pPr algn="l">
              <a:defRPr sz="1800" b="1">
                <a:solidFill>
                  <a:srgbClr val="AAB8CC"/>
                </a:solidFill>
                <a:latin typeface="NanumGothic"/>
                <a:ea typeface="NanumGothic"/>
                <a:cs typeface="NanumGothic"/>
              </a:defRPr>
            </a:lvl3pPr>
            <a:lvl4pPr algn="l">
              <a:defRPr sz="1800" b="1">
                <a:solidFill>
                  <a:srgbClr val="AAB8CC"/>
                </a:solidFill>
                <a:latin typeface="NanumGothic"/>
                <a:ea typeface="NanumGothic"/>
                <a:cs typeface="NanumGothic"/>
              </a:defRPr>
            </a:lvl4pPr>
            <a:lvl5pPr algn="l">
              <a:defRPr sz="1800" b="1">
                <a:solidFill>
                  <a:srgbClr val="AAB8CC"/>
                </a:solidFill>
                <a:latin typeface="NanumGothic"/>
                <a:ea typeface="NanumGothic"/>
                <a:cs typeface="NanumGothic"/>
              </a:defRPr>
            </a:lvl5pPr>
            <a:lvl6pPr algn="l">
              <a:defRPr sz="1800" b="1">
                <a:solidFill>
                  <a:srgbClr val="AAB8CC"/>
                </a:solidFill>
                <a:latin typeface="NanumGothic"/>
                <a:ea typeface="NanumGothic"/>
                <a:cs typeface="NanumGothic"/>
              </a:defRPr>
            </a:lvl6pPr>
            <a:lvl7pPr algn="l">
              <a:defRPr sz="1800" b="1">
                <a:solidFill>
                  <a:srgbClr val="AAB8CC"/>
                </a:solidFill>
                <a:latin typeface="NanumGothic"/>
                <a:ea typeface="NanumGothic"/>
                <a:cs typeface="NanumGothic"/>
              </a:defRPr>
            </a:lvl7pPr>
            <a:lvl8pPr algn="l">
              <a:defRPr sz="1800" b="1">
                <a:solidFill>
                  <a:srgbClr val="AAB8CC"/>
                </a:solidFill>
                <a:latin typeface="NanumGothic"/>
                <a:ea typeface="NanumGothic"/>
                <a:cs typeface="NanumGothic"/>
              </a:defRPr>
            </a:lvl8pPr>
            <a:lvl9pPr algn="l">
              <a:defRPr sz="1800" b="1">
                <a:solidFill>
                  <a:srgbClr val="AAB8CC"/>
                </a:solidFill>
                <a:latin typeface="NanumGothic"/>
                <a:ea typeface="NanumGothic"/>
                <a:cs typeface="NanumGothic"/>
              </a:defRPr>
            </a:lvl9pPr>
          </a:lstStyle>
          <a:p xmlns:a="http://schemas.openxmlformats.org/drawingml/2006/main">
            <a:pPr algn="l">
              <a:defRPr sz="1800" b="1">
                <a:solidFill>
                  <a:srgbClr val="AAB8CC"/>
                </a:solidFill>
                <a:latin typeface="NanumGothic"/>
                <a:ea typeface="NanumGothic"/>
                <a:cs typeface="NanumGothic"/>
              </a:defRPr>
            </a:pPr>
            <a:r>
              <a:rPr sz="1800" b="1">
                <a:solidFill>
                  <a:srgbClr val="AAB8CC"/>
                </a:solidFill>
                <a:latin typeface="NanumGothic"/>
                <a:ea typeface="NanumGothic"/>
                <a:cs typeface="NanumGothic"/>
              </a:rPr>
              <a:t>음영·선명화 변환과 원본 비교</a:t>
            </a:r>
          </a:p>
        </p:txBody>
      </p:sp>
      <p:pic>
        <p:nvPicPr>
          <p:cNvPr id="6" name="">
            <a:extLst xmlns:a="http://schemas.openxmlformats.org/drawingml/2006/main">
              <a:ext uri="{FF2B5EF4-FFF2-40B4-BE49-F238E27FC236}">
                <a16:creationId xmlns:a16="http://schemas.microsoft.com/office/drawing/2014/main" id="{63299B53-C59C-43D4-B465-42F789ED3DAC}"/>
              </a:ext>
            </a:extLst>
          </p:cNvPr>
          <p:cNvPicPr>
            <a:picLocks xmlns:a="http://schemas.openxmlformats.org/drawingml/2006/main" noChangeAspect="1"/>
          </p:cNvPicPr>
          <p:nvPr/>
        </p:nvPicPr>
        <p:blipFill>
          <a:blip xmlns:r="http://schemas.openxmlformats.org/officeDocument/2006/relationships" xmlns:a="http://schemas.openxmlformats.org/drawingml/2006/main" r:embed="R1078e5256d1d4fa1"/>
          <a:srcRect xmlns:a="http://schemas.openxmlformats.org/drawingml/2006/main" l="50000" t="0" r="0" b="0"/>
          <a:stretch xmlns:a="http://schemas.openxmlformats.org/drawingml/2006/main"/>
        </p:blipFill>
        <p:spPr>
          <a:xfrm xmlns:a="http://schemas.openxmlformats.org/drawingml/2006/main">
            <a:off x="609600" y="2266950"/>
            <a:ext cx="3429000" cy="2743200"/>
          </a:xfrm>
          <a:prstGeom xmlns:a="http://schemas.openxmlformats.org/drawingml/2006/main" prst="rect">
            <a:avLst/>
          </a:prstGeom>
        </p:spPr>
      </p:pic>
      <p:sp>
        <p:nvSpPr>
          <p:cNvPr id="7" name="Emboss">
            <a:extLst xmlns:a="http://schemas.openxmlformats.org/drawingml/2006/main">
              <a:ext uri="{FF2B5EF4-FFF2-40B4-BE49-F238E27FC236}">
                <a16:creationId xmlns:a16="http://schemas.microsoft.com/office/drawing/2014/main" id="{834A24CB-C17D-4EA1-B982-8AA97BC5B3D3}"/>
              </a:ext>
            </a:extLst>
          </p:cNvPr>
          <p:cNvSpPr>
            <a:spLocks xmlns:a="http://schemas.openxmlformats.org/drawingml/2006/main" noGrp="1"/>
          </p:cNvSpPr>
          <p:nvPr/>
        </p:nvSpPr>
        <p:spPr>
          <a:xfrm xmlns:a="http://schemas.openxmlformats.org/drawingml/2006/main">
            <a:off x="6096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Emboss</a:t>
            </a:r>
          </a:p>
        </p:txBody>
      </p:sp>
      <p:sp>
        <p:nvSpPr>
          <p:cNvPr id="8" name="gain=4 / 응답 + 0.5">
            <a:extLst xmlns:a="http://schemas.openxmlformats.org/drawingml/2006/main">
              <a:ext uri="{FF2B5EF4-FFF2-40B4-BE49-F238E27FC236}">
                <a16:creationId xmlns:a16="http://schemas.microsoft.com/office/drawing/2014/main" id="{08B23D9D-9C9D-4320-9A7E-788750785AB8}"/>
              </a:ext>
            </a:extLst>
          </p:cNvPr>
          <p:cNvSpPr>
            <a:spLocks xmlns:a="http://schemas.openxmlformats.org/drawingml/2006/main" noGrp="1"/>
          </p:cNvSpPr>
          <p:nvPr/>
        </p:nvSpPr>
        <p:spPr>
          <a:xfrm xmlns:a="http://schemas.openxmlformats.org/drawingml/2006/main">
            <a:off x="6096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gain=4 / 응답 + 0.5</a:t>
            </a:r>
          </a:p>
        </p:txBody>
      </p:sp>
      <p:pic>
        <p:nvPicPr>
          <p:cNvPr id="9" name="">
            <a:extLst xmlns:a="http://schemas.openxmlformats.org/drawingml/2006/main">
              <a:ext uri="{FF2B5EF4-FFF2-40B4-BE49-F238E27FC236}">
                <a16:creationId xmlns:a16="http://schemas.microsoft.com/office/drawing/2014/main" id="{FAA6ACCA-CE69-4D15-94D1-B1F1EC420DFC}"/>
              </a:ext>
            </a:extLst>
          </p:cNvPr>
          <p:cNvPicPr>
            <a:picLocks xmlns:a="http://schemas.openxmlformats.org/drawingml/2006/main" noChangeAspect="1"/>
          </p:cNvPicPr>
          <p:nvPr/>
        </p:nvPicPr>
        <p:blipFill>
          <a:blip xmlns:r="http://schemas.openxmlformats.org/officeDocument/2006/relationships" xmlns:a="http://schemas.openxmlformats.org/drawingml/2006/main" r:embed="Ree03333a9ef4480f"/>
          <a:srcRect xmlns:a="http://schemas.openxmlformats.org/drawingml/2006/main" l="50000" t="0" r="0" b="0"/>
          <a:stretch xmlns:a="http://schemas.openxmlformats.org/drawingml/2006/main"/>
        </p:blipFill>
        <p:spPr>
          <a:xfrm xmlns:a="http://schemas.openxmlformats.org/drawingml/2006/main">
            <a:off x="4381500" y="2266950"/>
            <a:ext cx="3429000" cy="2743200"/>
          </a:xfrm>
          <a:prstGeom xmlns:a="http://schemas.openxmlformats.org/drawingml/2006/main" prst="rect">
            <a:avLst/>
          </a:prstGeom>
        </p:spPr>
      </p:pic>
      <p:sp>
        <p:nvSpPr>
          <p:cNvPr id="10" name="Unsharp (max)">
            <a:extLst xmlns:a="http://schemas.openxmlformats.org/drawingml/2006/main">
              <a:ext uri="{FF2B5EF4-FFF2-40B4-BE49-F238E27FC236}">
                <a16:creationId xmlns:a16="http://schemas.microsoft.com/office/drawing/2014/main" id="{262A96FA-C228-4F3B-B237-B04356AFE796}"/>
              </a:ext>
            </a:extLst>
          </p:cNvPr>
          <p:cNvSpPr>
            <a:spLocks xmlns:a="http://schemas.openxmlformats.org/drawingml/2006/main" noGrp="1"/>
          </p:cNvSpPr>
          <p:nvPr/>
        </p:nvSpPr>
        <p:spPr>
          <a:xfrm xmlns:a="http://schemas.openxmlformats.org/drawingml/2006/main">
            <a:off x="43815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Unsharp (max)</a:t>
            </a:r>
          </a:p>
        </p:txBody>
      </p:sp>
      <p:sp>
        <p:nvSpPr>
          <p:cNvPr id="11" name="amount=8 / σ=2">
            <a:extLst xmlns:a="http://schemas.openxmlformats.org/drawingml/2006/main">
              <a:ext uri="{FF2B5EF4-FFF2-40B4-BE49-F238E27FC236}">
                <a16:creationId xmlns:a16="http://schemas.microsoft.com/office/drawing/2014/main" id="{5DFA15E9-8898-419F-AB50-CAB2FC97A502}"/>
              </a:ext>
            </a:extLst>
          </p:cNvPr>
          <p:cNvSpPr>
            <a:spLocks xmlns:a="http://schemas.openxmlformats.org/drawingml/2006/main" noGrp="1"/>
          </p:cNvSpPr>
          <p:nvPr/>
        </p:nvSpPr>
        <p:spPr>
          <a:xfrm xmlns:a="http://schemas.openxmlformats.org/drawingml/2006/main">
            <a:off x="43815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amount=8 / σ=2</a:t>
            </a:r>
          </a:p>
        </p:txBody>
      </p:sp>
      <p:pic>
        <p:nvPicPr>
          <p:cNvPr id="12" name="">
            <a:extLst xmlns:a="http://schemas.openxmlformats.org/drawingml/2006/main">
              <a:ext uri="{FF2B5EF4-FFF2-40B4-BE49-F238E27FC236}">
                <a16:creationId xmlns:a16="http://schemas.microsoft.com/office/drawing/2014/main" id="{C3B6DF84-5FA4-41A3-8E64-8CB81F05FF22}"/>
              </a:ext>
            </a:extLst>
          </p:cNvPr>
          <p:cNvPicPr>
            <a:picLocks xmlns:a="http://schemas.openxmlformats.org/drawingml/2006/main" noChangeAspect="1"/>
          </p:cNvPicPr>
          <p:nvPr/>
        </p:nvPicPr>
        <p:blipFill>
          <a:blip xmlns:r="http://schemas.openxmlformats.org/officeDocument/2006/relationships" xmlns:a="http://schemas.openxmlformats.org/drawingml/2006/main" r:embed="Re5779199dcac4fac"/>
          <a:srcRect xmlns:a="http://schemas.openxmlformats.org/drawingml/2006/main" l="50000" t="0" r="0" b="0"/>
          <a:stretch xmlns:a="http://schemas.openxmlformats.org/drawingml/2006/main"/>
        </p:blipFill>
        <p:spPr>
          <a:xfrm xmlns:a="http://schemas.openxmlformats.org/drawingml/2006/main">
            <a:off x="8153400" y="2266950"/>
            <a:ext cx="3429000" cy="2743200"/>
          </a:xfrm>
          <a:prstGeom xmlns:a="http://schemas.openxmlformats.org/drawingml/2006/main" prst="rect">
            <a:avLst/>
          </a:prstGeom>
        </p:spPr>
      </p:pic>
      <p:sp>
        <p:nvSpPr>
          <p:cNvPr id="13" name="Original">
            <a:extLst xmlns:a="http://schemas.openxmlformats.org/drawingml/2006/main">
              <a:ext uri="{FF2B5EF4-FFF2-40B4-BE49-F238E27FC236}">
                <a16:creationId xmlns:a16="http://schemas.microsoft.com/office/drawing/2014/main" id="{A03E7AAA-BE63-4826-9EAB-BFD96A27649E}"/>
              </a:ext>
            </a:extLst>
          </p:cNvPr>
          <p:cNvSpPr>
            <a:spLocks xmlns:a="http://schemas.openxmlformats.org/drawingml/2006/main" noGrp="1"/>
          </p:cNvSpPr>
          <p:nvPr/>
        </p:nvSpPr>
        <p:spPr>
          <a:xfrm xmlns:a="http://schemas.openxmlformats.org/drawingml/2006/main">
            <a:off x="81534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Original</a:t>
            </a:r>
          </a:p>
        </p:txBody>
      </p:sp>
      <p:sp>
        <p:nvSpPr>
          <p:cNvPr id="14" name="비교를 위한 원본 재제시">
            <a:extLst xmlns:a="http://schemas.openxmlformats.org/drawingml/2006/main">
              <a:ext uri="{FF2B5EF4-FFF2-40B4-BE49-F238E27FC236}">
                <a16:creationId xmlns:a16="http://schemas.microsoft.com/office/drawing/2014/main" id="{8B85BA3B-B90E-44AE-98C0-216CABCFEE7F}"/>
              </a:ext>
            </a:extLst>
          </p:cNvPr>
          <p:cNvSpPr>
            <a:spLocks xmlns:a="http://schemas.openxmlformats.org/drawingml/2006/main" noGrp="1"/>
          </p:cNvSpPr>
          <p:nvPr/>
        </p:nvSpPr>
        <p:spPr>
          <a:xfrm xmlns:a="http://schemas.openxmlformats.org/drawingml/2006/main">
            <a:off x="81534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비교를 위한 원본 재제시</a:t>
            </a:r>
          </a:p>
        </p:txBody>
      </p:sp>
    </p:spTree>
    <p:extLst>
      <p:ext uri="{BB962C8B-B14F-4D97-AF65-F5344CB8AC3E}">
        <p14:creationId xmlns:p14="http://schemas.microsoft.com/office/powerpoint/2010/main" val="1971876661"/>
      </p:ext>
    </p:extLst>
  </p:cSld>
</p:sld>
</file>

<file path=ppt/slides/slide8.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15" name="전처리 설계">
            <a:extLst xmlns:a="http://schemas.openxmlformats.org/drawingml/2006/main">
              <a:ext uri="{FF2B5EF4-FFF2-40B4-BE49-F238E27FC236}">
                <a16:creationId xmlns:a16="http://schemas.microsoft.com/office/drawing/2014/main" id="{04BE748E-DF29-4546-A71C-A21037F58418}"/>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전처리 설계</a:t>
            </a:r>
          </a:p>
        </p:txBody>
      </p:sp>
      <p:sp>
        <p:nvSpPr>
          <p:cNvPr id="2" name="순차 조합 영상 1">
            <a:extLst xmlns:a="http://schemas.openxmlformats.org/drawingml/2006/main">
              <a:ext uri="{FF2B5EF4-FFF2-40B4-BE49-F238E27FC236}">
                <a16:creationId xmlns:a16="http://schemas.microsoft.com/office/drawing/2014/main" id="{5BE6B4F3-28C6-497B-8751-542FDCB6850F}"/>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순차 조합 영상 1</a:t>
            </a:r>
          </a:p>
        </p:txBody>
      </p:sp>
      <p:sp>
        <p:nvSpPr>
          <p:cNvPr id="3" name="경기대학교 컴퓨터과학과">
            <a:extLst xmlns:a="http://schemas.openxmlformats.org/drawingml/2006/main">
              <a:ext uri="{FF2B5EF4-FFF2-40B4-BE49-F238E27FC236}">
                <a16:creationId xmlns:a16="http://schemas.microsoft.com/office/drawing/2014/main" id="{F1508FEB-96C2-426E-AB89-DD94352540EB}"/>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08">
            <a:extLst xmlns:a="http://schemas.openxmlformats.org/drawingml/2006/main">
              <a:ext uri="{FF2B5EF4-FFF2-40B4-BE49-F238E27FC236}">
                <a16:creationId xmlns:a16="http://schemas.microsoft.com/office/drawing/2014/main" id="{870ABA2F-0CD4-4AE2-9461-808FC83D5D30}"/>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08</a:t>
            </a:r>
          </a:p>
        </p:txBody>
      </p:sp>
      <p:sp>
        <p:nvSpPr>
          <p:cNvPr id="5" name="A+B는 A의 출력 영상에 B를 순차적으로 적용">
            <a:extLst xmlns:a="http://schemas.openxmlformats.org/drawingml/2006/main">
              <a:ext uri="{FF2B5EF4-FFF2-40B4-BE49-F238E27FC236}">
                <a16:creationId xmlns:a16="http://schemas.microsoft.com/office/drawing/2014/main" id="{486559B9-DBB1-474C-89EB-613434DD0AAE}"/>
              </a:ext>
            </a:extLst>
          </p:cNvPr>
          <p:cNvSpPr>
            <a:spLocks xmlns:a="http://schemas.openxmlformats.org/drawingml/2006/main" noGrp="1"/>
          </p:cNvSpPr>
          <p:nvPr/>
        </p:nvSpPr>
        <p:spPr>
          <a:xfrm xmlns:a="http://schemas.openxmlformats.org/drawingml/2006/main">
            <a:off x="609600" y="15811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AAB8CC"/>
                </a:solidFill>
                <a:latin typeface="NanumGothic"/>
                <a:ea typeface="NanumGothic"/>
                <a:cs typeface="NanumGothic"/>
              </a:defRPr>
            </a:defPPr>
            <a:lvl1pPr algn="l">
              <a:defRPr sz="1800" b="1">
                <a:solidFill>
                  <a:srgbClr val="AAB8CC"/>
                </a:solidFill>
                <a:latin typeface="NanumGothic"/>
                <a:ea typeface="NanumGothic"/>
                <a:cs typeface="NanumGothic"/>
              </a:defRPr>
            </a:lvl1pPr>
            <a:lvl2pPr algn="l">
              <a:defRPr sz="1800" b="1">
                <a:solidFill>
                  <a:srgbClr val="AAB8CC"/>
                </a:solidFill>
                <a:latin typeface="NanumGothic"/>
                <a:ea typeface="NanumGothic"/>
                <a:cs typeface="NanumGothic"/>
              </a:defRPr>
            </a:lvl2pPr>
            <a:lvl3pPr algn="l">
              <a:defRPr sz="1800" b="1">
                <a:solidFill>
                  <a:srgbClr val="AAB8CC"/>
                </a:solidFill>
                <a:latin typeface="NanumGothic"/>
                <a:ea typeface="NanumGothic"/>
                <a:cs typeface="NanumGothic"/>
              </a:defRPr>
            </a:lvl3pPr>
            <a:lvl4pPr algn="l">
              <a:defRPr sz="1800" b="1">
                <a:solidFill>
                  <a:srgbClr val="AAB8CC"/>
                </a:solidFill>
                <a:latin typeface="NanumGothic"/>
                <a:ea typeface="NanumGothic"/>
                <a:cs typeface="NanumGothic"/>
              </a:defRPr>
            </a:lvl4pPr>
            <a:lvl5pPr algn="l">
              <a:defRPr sz="1800" b="1">
                <a:solidFill>
                  <a:srgbClr val="AAB8CC"/>
                </a:solidFill>
                <a:latin typeface="NanumGothic"/>
                <a:ea typeface="NanumGothic"/>
                <a:cs typeface="NanumGothic"/>
              </a:defRPr>
            </a:lvl5pPr>
            <a:lvl6pPr algn="l">
              <a:defRPr sz="1800" b="1">
                <a:solidFill>
                  <a:srgbClr val="AAB8CC"/>
                </a:solidFill>
                <a:latin typeface="NanumGothic"/>
                <a:ea typeface="NanumGothic"/>
                <a:cs typeface="NanumGothic"/>
              </a:defRPr>
            </a:lvl6pPr>
            <a:lvl7pPr algn="l">
              <a:defRPr sz="1800" b="1">
                <a:solidFill>
                  <a:srgbClr val="AAB8CC"/>
                </a:solidFill>
                <a:latin typeface="NanumGothic"/>
                <a:ea typeface="NanumGothic"/>
                <a:cs typeface="NanumGothic"/>
              </a:defRPr>
            </a:lvl7pPr>
            <a:lvl8pPr algn="l">
              <a:defRPr sz="1800" b="1">
                <a:solidFill>
                  <a:srgbClr val="AAB8CC"/>
                </a:solidFill>
                <a:latin typeface="NanumGothic"/>
                <a:ea typeface="NanumGothic"/>
                <a:cs typeface="NanumGothic"/>
              </a:defRPr>
            </a:lvl8pPr>
            <a:lvl9pPr algn="l">
              <a:defRPr sz="1800" b="1">
                <a:solidFill>
                  <a:srgbClr val="AAB8CC"/>
                </a:solidFill>
                <a:latin typeface="NanumGothic"/>
                <a:ea typeface="NanumGothic"/>
                <a:cs typeface="NanumGothic"/>
              </a:defRPr>
            </a:lvl9pPr>
          </a:lstStyle>
          <a:p xmlns:a="http://schemas.openxmlformats.org/drawingml/2006/main">
            <a:pPr algn="l">
              <a:defRPr sz="1800" b="1">
                <a:solidFill>
                  <a:srgbClr val="AAB8CC"/>
                </a:solidFill>
                <a:latin typeface="NanumGothic"/>
                <a:ea typeface="NanumGothic"/>
                <a:cs typeface="NanumGothic"/>
              </a:defRPr>
            </a:pPr>
            <a:r>
              <a:rPr sz="1800" b="1">
                <a:solidFill>
                  <a:srgbClr val="AAB8CC"/>
                </a:solidFill>
                <a:latin typeface="NanumGothic"/>
                <a:ea typeface="NanumGothic"/>
                <a:cs typeface="NanumGothic"/>
              </a:rPr>
              <a:t>A+B는 A의 출력 영상에 B를 순차적으로 적용</a:t>
            </a:r>
          </a:p>
        </p:txBody>
      </p:sp>
      <p:pic>
        <p:nvPicPr>
          <p:cNvPr id="6" name="">
            <a:extLst xmlns:a="http://schemas.openxmlformats.org/drawingml/2006/main">
              <a:ext uri="{FF2B5EF4-FFF2-40B4-BE49-F238E27FC236}">
                <a16:creationId xmlns:a16="http://schemas.microsoft.com/office/drawing/2014/main" id="{6E3515BE-1579-4866-B3D3-4C061530221A}"/>
              </a:ext>
            </a:extLst>
          </p:cNvPr>
          <p:cNvPicPr>
            <a:picLocks xmlns:a="http://schemas.openxmlformats.org/drawingml/2006/main" noChangeAspect="1"/>
          </p:cNvPicPr>
          <p:nvPr/>
        </p:nvPicPr>
        <p:blipFill>
          <a:blip xmlns:r="http://schemas.openxmlformats.org/officeDocument/2006/relationships" xmlns:a="http://schemas.openxmlformats.org/drawingml/2006/main" r:embed="R0fe09e68eb4545da"/>
          <a:srcRect xmlns:a="http://schemas.openxmlformats.org/drawingml/2006/main" l="50000" t="0" r="0" b="0"/>
          <a:stretch xmlns:a="http://schemas.openxmlformats.org/drawingml/2006/main"/>
        </p:blipFill>
        <p:spPr>
          <a:xfrm xmlns:a="http://schemas.openxmlformats.org/drawingml/2006/main">
            <a:off x="609600" y="2266950"/>
            <a:ext cx="3429000" cy="2743200"/>
          </a:xfrm>
          <a:prstGeom xmlns:a="http://schemas.openxmlformats.org/drawingml/2006/main" prst="rect">
            <a:avLst/>
          </a:prstGeom>
        </p:spPr>
      </p:pic>
      <p:sp>
        <p:nvSpPr>
          <p:cNvPr id="7" name="Invert+CLAHE">
            <a:extLst xmlns:a="http://schemas.openxmlformats.org/drawingml/2006/main">
              <a:ext uri="{FF2B5EF4-FFF2-40B4-BE49-F238E27FC236}">
                <a16:creationId xmlns:a16="http://schemas.microsoft.com/office/drawing/2014/main" id="{3C92725F-F33C-4E65-AB06-0555E35F8C82}"/>
              </a:ext>
            </a:extLst>
          </p:cNvPr>
          <p:cNvSpPr>
            <a:spLocks xmlns:a="http://schemas.openxmlformats.org/drawingml/2006/main" noGrp="1"/>
          </p:cNvSpPr>
          <p:nvPr/>
        </p:nvSpPr>
        <p:spPr>
          <a:xfrm xmlns:a="http://schemas.openxmlformats.org/drawingml/2006/main">
            <a:off x="6096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Invert+CLAHE</a:t>
            </a:r>
          </a:p>
        </p:txBody>
      </p:sp>
      <p:sp>
        <p:nvSpPr>
          <p:cNvPr id="8" name="반전 후 지역 대비 조정">
            <a:extLst xmlns:a="http://schemas.openxmlformats.org/drawingml/2006/main">
              <a:ext uri="{FF2B5EF4-FFF2-40B4-BE49-F238E27FC236}">
                <a16:creationId xmlns:a16="http://schemas.microsoft.com/office/drawing/2014/main" id="{4382FB03-D2B6-4B5A-AE0A-0A5F2A27D348}"/>
              </a:ext>
            </a:extLst>
          </p:cNvPr>
          <p:cNvSpPr>
            <a:spLocks xmlns:a="http://schemas.openxmlformats.org/drawingml/2006/main" noGrp="1"/>
          </p:cNvSpPr>
          <p:nvPr/>
        </p:nvSpPr>
        <p:spPr>
          <a:xfrm xmlns:a="http://schemas.openxmlformats.org/drawingml/2006/main">
            <a:off x="6096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반전 후 지역 대비 조정</a:t>
            </a:r>
          </a:p>
        </p:txBody>
      </p:sp>
      <p:pic>
        <p:nvPicPr>
          <p:cNvPr id="9" name="">
            <a:extLst xmlns:a="http://schemas.openxmlformats.org/drawingml/2006/main">
              <a:ext uri="{FF2B5EF4-FFF2-40B4-BE49-F238E27FC236}">
                <a16:creationId xmlns:a16="http://schemas.microsoft.com/office/drawing/2014/main" id="{1B47BA34-FF36-4C2E-8E2B-4336AE95C009}"/>
              </a:ext>
            </a:extLst>
          </p:cNvPr>
          <p:cNvPicPr>
            <a:picLocks xmlns:a="http://schemas.openxmlformats.org/drawingml/2006/main" noChangeAspect="1"/>
          </p:cNvPicPr>
          <p:nvPr/>
        </p:nvPicPr>
        <p:blipFill>
          <a:blip xmlns:r="http://schemas.openxmlformats.org/officeDocument/2006/relationships" xmlns:a="http://schemas.openxmlformats.org/drawingml/2006/main" r:embed="R65429ba9c7db4b2f"/>
          <a:srcRect xmlns:a="http://schemas.openxmlformats.org/drawingml/2006/main" l="50000" t="0" r="0" b="0"/>
          <a:stretch xmlns:a="http://schemas.openxmlformats.org/drawingml/2006/main"/>
        </p:blipFill>
        <p:spPr>
          <a:xfrm xmlns:a="http://schemas.openxmlformats.org/drawingml/2006/main">
            <a:off x="4381500" y="2266950"/>
            <a:ext cx="3429000" cy="2743200"/>
          </a:xfrm>
          <a:prstGeom xmlns:a="http://schemas.openxmlformats.org/drawingml/2006/main" prst="rect">
            <a:avLst/>
          </a:prstGeom>
        </p:spPr>
      </p:pic>
      <p:sp>
        <p:nvSpPr>
          <p:cNvPr id="10" name="Blur+Otsu">
            <a:extLst xmlns:a="http://schemas.openxmlformats.org/drawingml/2006/main">
              <a:ext uri="{FF2B5EF4-FFF2-40B4-BE49-F238E27FC236}">
                <a16:creationId xmlns:a16="http://schemas.microsoft.com/office/drawing/2014/main" id="{3C1598B7-4FAF-454D-AA2D-7B7E0AFAFBAB}"/>
              </a:ext>
            </a:extLst>
          </p:cNvPr>
          <p:cNvSpPr>
            <a:spLocks xmlns:a="http://schemas.openxmlformats.org/drawingml/2006/main" noGrp="1"/>
          </p:cNvSpPr>
          <p:nvPr/>
        </p:nvSpPr>
        <p:spPr>
          <a:xfrm xmlns:a="http://schemas.openxmlformats.org/drawingml/2006/main">
            <a:off x="43815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Blur+Otsu</a:t>
            </a:r>
          </a:p>
        </p:txBody>
      </p:sp>
      <p:sp>
        <p:nvSpPr>
          <p:cNvPr id="11" name="평활화 후 이진화">
            <a:extLst xmlns:a="http://schemas.openxmlformats.org/drawingml/2006/main">
              <a:ext uri="{FF2B5EF4-FFF2-40B4-BE49-F238E27FC236}">
                <a16:creationId xmlns:a16="http://schemas.microsoft.com/office/drawing/2014/main" id="{41BF6F77-B6DC-48D6-AAE0-867A9B01E109}"/>
              </a:ext>
            </a:extLst>
          </p:cNvPr>
          <p:cNvSpPr>
            <a:spLocks xmlns:a="http://schemas.openxmlformats.org/drawingml/2006/main" noGrp="1"/>
          </p:cNvSpPr>
          <p:nvPr/>
        </p:nvSpPr>
        <p:spPr>
          <a:xfrm xmlns:a="http://schemas.openxmlformats.org/drawingml/2006/main">
            <a:off x="43815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평활화 후 이진화</a:t>
            </a:r>
          </a:p>
        </p:txBody>
      </p:sp>
      <p:pic>
        <p:nvPicPr>
          <p:cNvPr id="12" name="">
            <a:extLst xmlns:a="http://schemas.openxmlformats.org/drawingml/2006/main">
              <a:ext uri="{FF2B5EF4-FFF2-40B4-BE49-F238E27FC236}">
                <a16:creationId xmlns:a16="http://schemas.microsoft.com/office/drawing/2014/main" id="{807C78ED-541D-48AA-9F9A-41CC15F2632D}"/>
              </a:ext>
            </a:extLst>
          </p:cNvPr>
          <p:cNvPicPr>
            <a:picLocks xmlns:a="http://schemas.openxmlformats.org/drawingml/2006/main" noChangeAspect="1"/>
          </p:cNvPicPr>
          <p:nvPr/>
        </p:nvPicPr>
        <p:blipFill>
          <a:blip xmlns:r="http://schemas.openxmlformats.org/officeDocument/2006/relationships" xmlns:a="http://schemas.openxmlformats.org/drawingml/2006/main" r:embed="R644cfd4b8e2c45e2"/>
          <a:srcRect xmlns:a="http://schemas.openxmlformats.org/drawingml/2006/main" l="50000" t="0" r="0" b="0"/>
          <a:stretch xmlns:a="http://schemas.openxmlformats.org/drawingml/2006/main"/>
        </p:blipFill>
        <p:spPr>
          <a:xfrm xmlns:a="http://schemas.openxmlformats.org/drawingml/2006/main">
            <a:off x="8153400" y="2266950"/>
            <a:ext cx="3429000" cy="2743200"/>
          </a:xfrm>
          <a:prstGeom xmlns:a="http://schemas.openxmlformats.org/drawingml/2006/main" prst="rect">
            <a:avLst/>
          </a:prstGeom>
        </p:spPr>
      </p:pic>
      <p:sp>
        <p:nvSpPr>
          <p:cNvPr id="13" name="Sobel+Invert">
            <a:extLst xmlns:a="http://schemas.openxmlformats.org/drawingml/2006/main">
              <a:ext uri="{FF2B5EF4-FFF2-40B4-BE49-F238E27FC236}">
                <a16:creationId xmlns:a16="http://schemas.microsoft.com/office/drawing/2014/main" id="{531313A6-506A-4F25-A202-D157719E71C6}"/>
              </a:ext>
            </a:extLst>
          </p:cNvPr>
          <p:cNvSpPr>
            <a:spLocks xmlns:a="http://schemas.openxmlformats.org/drawingml/2006/main" noGrp="1"/>
          </p:cNvSpPr>
          <p:nvPr/>
        </p:nvSpPr>
        <p:spPr>
          <a:xfrm xmlns:a="http://schemas.openxmlformats.org/drawingml/2006/main">
            <a:off x="81534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Sobel+Invert</a:t>
            </a:r>
          </a:p>
        </p:txBody>
      </p:sp>
      <p:sp>
        <p:nvSpPr>
          <p:cNvPr id="14" name="경계 응답 후 반전">
            <a:extLst xmlns:a="http://schemas.openxmlformats.org/drawingml/2006/main">
              <a:ext uri="{FF2B5EF4-FFF2-40B4-BE49-F238E27FC236}">
                <a16:creationId xmlns:a16="http://schemas.microsoft.com/office/drawing/2014/main" id="{E33D2D91-0D13-4FC5-AE23-F49E8522FE75}"/>
              </a:ext>
            </a:extLst>
          </p:cNvPr>
          <p:cNvSpPr>
            <a:spLocks xmlns:a="http://schemas.openxmlformats.org/drawingml/2006/main" noGrp="1"/>
          </p:cNvSpPr>
          <p:nvPr/>
        </p:nvSpPr>
        <p:spPr>
          <a:xfrm xmlns:a="http://schemas.openxmlformats.org/drawingml/2006/main">
            <a:off x="81534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경계 응답 후 반전</a:t>
            </a:r>
          </a:p>
        </p:txBody>
      </p:sp>
    </p:spTree>
    <p:extLst>
      <p:ext uri="{BB962C8B-B14F-4D97-AF65-F5344CB8AC3E}">
        <p14:creationId xmlns:p14="http://schemas.microsoft.com/office/powerpoint/2010/main" val="1898825367"/>
      </p:ext>
    </p:extLst>
  </p:cSld>
</p:sld>
</file>

<file path=ppt/slides/slide9.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15" name="전처리 설계">
            <a:extLst xmlns:a="http://schemas.openxmlformats.org/drawingml/2006/main">
              <a:ext uri="{FF2B5EF4-FFF2-40B4-BE49-F238E27FC236}">
                <a16:creationId xmlns:a16="http://schemas.microsoft.com/office/drawing/2014/main" id="{0C88FB34-F76B-4495-98AF-8FE24839FCBA}"/>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전처리 설계</a:t>
            </a:r>
          </a:p>
        </p:txBody>
      </p:sp>
      <p:sp>
        <p:nvSpPr>
          <p:cNvPr id="2" name="순차 조합 영상 2">
            <a:extLst xmlns:a="http://schemas.openxmlformats.org/drawingml/2006/main">
              <a:ext uri="{FF2B5EF4-FFF2-40B4-BE49-F238E27FC236}">
                <a16:creationId xmlns:a16="http://schemas.microsoft.com/office/drawing/2014/main" id="{99E7B749-6422-49F4-BD3E-FABA261270B6}"/>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순차 조합 영상 2</a:t>
            </a:r>
          </a:p>
        </p:txBody>
      </p:sp>
      <p:sp>
        <p:nvSpPr>
          <p:cNvPr id="3" name="경기대학교 컴퓨터과학과">
            <a:extLst xmlns:a="http://schemas.openxmlformats.org/drawingml/2006/main">
              <a:ext uri="{FF2B5EF4-FFF2-40B4-BE49-F238E27FC236}">
                <a16:creationId xmlns:a16="http://schemas.microsoft.com/office/drawing/2014/main" id="{A1447EDF-6876-4216-940A-834AAB0B2C86}"/>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09">
            <a:extLst xmlns:a="http://schemas.openxmlformats.org/drawingml/2006/main">
              <a:ext uri="{FF2B5EF4-FFF2-40B4-BE49-F238E27FC236}">
                <a16:creationId xmlns:a16="http://schemas.microsoft.com/office/drawing/2014/main" id="{CBECABD9-8E72-4B91-86DE-C63D40A05940}"/>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09</a:t>
            </a:r>
          </a:p>
        </p:txBody>
      </p:sp>
      <p:sp>
        <p:nvSpPr>
          <p:cNvPr id="5" name="역순·가능한 전체 조합은 평가 범위에 포함하지 않음">
            <a:extLst xmlns:a="http://schemas.openxmlformats.org/drawingml/2006/main">
              <a:ext uri="{FF2B5EF4-FFF2-40B4-BE49-F238E27FC236}">
                <a16:creationId xmlns:a16="http://schemas.microsoft.com/office/drawing/2014/main" id="{39CE2545-8DC7-4CE7-862C-B5D0AA5AF555}"/>
              </a:ext>
            </a:extLst>
          </p:cNvPr>
          <p:cNvSpPr>
            <a:spLocks xmlns:a="http://schemas.openxmlformats.org/drawingml/2006/main" noGrp="1"/>
          </p:cNvSpPr>
          <p:nvPr/>
        </p:nvSpPr>
        <p:spPr>
          <a:xfrm xmlns:a="http://schemas.openxmlformats.org/drawingml/2006/main">
            <a:off x="609600" y="15811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AAB8CC"/>
                </a:solidFill>
                <a:latin typeface="NanumGothic"/>
                <a:ea typeface="NanumGothic"/>
                <a:cs typeface="NanumGothic"/>
              </a:defRPr>
            </a:defPPr>
            <a:lvl1pPr algn="l">
              <a:defRPr sz="1800" b="1">
                <a:solidFill>
                  <a:srgbClr val="AAB8CC"/>
                </a:solidFill>
                <a:latin typeface="NanumGothic"/>
                <a:ea typeface="NanumGothic"/>
                <a:cs typeface="NanumGothic"/>
              </a:defRPr>
            </a:lvl1pPr>
            <a:lvl2pPr algn="l">
              <a:defRPr sz="1800" b="1">
                <a:solidFill>
                  <a:srgbClr val="AAB8CC"/>
                </a:solidFill>
                <a:latin typeface="NanumGothic"/>
                <a:ea typeface="NanumGothic"/>
                <a:cs typeface="NanumGothic"/>
              </a:defRPr>
            </a:lvl2pPr>
            <a:lvl3pPr algn="l">
              <a:defRPr sz="1800" b="1">
                <a:solidFill>
                  <a:srgbClr val="AAB8CC"/>
                </a:solidFill>
                <a:latin typeface="NanumGothic"/>
                <a:ea typeface="NanumGothic"/>
                <a:cs typeface="NanumGothic"/>
              </a:defRPr>
            </a:lvl3pPr>
            <a:lvl4pPr algn="l">
              <a:defRPr sz="1800" b="1">
                <a:solidFill>
                  <a:srgbClr val="AAB8CC"/>
                </a:solidFill>
                <a:latin typeface="NanumGothic"/>
                <a:ea typeface="NanumGothic"/>
                <a:cs typeface="NanumGothic"/>
              </a:defRPr>
            </a:lvl4pPr>
            <a:lvl5pPr algn="l">
              <a:defRPr sz="1800" b="1">
                <a:solidFill>
                  <a:srgbClr val="AAB8CC"/>
                </a:solidFill>
                <a:latin typeface="NanumGothic"/>
                <a:ea typeface="NanumGothic"/>
                <a:cs typeface="NanumGothic"/>
              </a:defRPr>
            </a:lvl5pPr>
            <a:lvl6pPr algn="l">
              <a:defRPr sz="1800" b="1">
                <a:solidFill>
                  <a:srgbClr val="AAB8CC"/>
                </a:solidFill>
                <a:latin typeface="NanumGothic"/>
                <a:ea typeface="NanumGothic"/>
                <a:cs typeface="NanumGothic"/>
              </a:defRPr>
            </a:lvl6pPr>
            <a:lvl7pPr algn="l">
              <a:defRPr sz="1800" b="1">
                <a:solidFill>
                  <a:srgbClr val="AAB8CC"/>
                </a:solidFill>
                <a:latin typeface="NanumGothic"/>
                <a:ea typeface="NanumGothic"/>
                <a:cs typeface="NanumGothic"/>
              </a:defRPr>
            </a:lvl7pPr>
            <a:lvl8pPr algn="l">
              <a:defRPr sz="1800" b="1">
                <a:solidFill>
                  <a:srgbClr val="AAB8CC"/>
                </a:solidFill>
                <a:latin typeface="NanumGothic"/>
                <a:ea typeface="NanumGothic"/>
                <a:cs typeface="NanumGothic"/>
              </a:defRPr>
            </a:lvl8pPr>
            <a:lvl9pPr algn="l">
              <a:defRPr sz="1800" b="1">
                <a:solidFill>
                  <a:srgbClr val="AAB8CC"/>
                </a:solidFill>
                <a:latin typeface="NanumGothic"/>
                <a:ea typeface="NanumGothic"/>
                <a:cs typeface="NanumGothic"/>
              </a:defRPr>
            </a:lvl9pPr>
          </a:lstStyle>
          <a:p xmlns:a="http://schemas.openxmlformats.org/drawingml/2006/main">
            <a:pPr algn="l">
              <a:defRPr sz="1800" b="1">
                <a:solidFill>
                  <a:srgbClr val="AAB8CC"/>
                </a:solidFill>
                <a:latin typeface="NanumGothic"/>
                <a:ea typeface="NanumGothic"/>
                <a:cs typeface="NanumGothic"/>
              </a:defRPr>
            </a:pPr>
            <a:r>
              <a:rPr sz="1800" b="1">
                <a:solidFill>
                  <a:srgbClr val="AAB8CC"/>
                </a:solidFill>
                <a:latin typeface="NanumGothic"/>
                <a:ea typeface="NanumGothic"/>
                <a:cs typeface="NanumGothic"/>
              </a:rPr>
              <a:t>역순·가능한 전체 조합은 평가 범위에 포함하지 않음</a:t>
            </a:r>
          </a:p>
        </p:txBody>
      </p:sp>
      <p:pic>
        <p:nvPicPr>
          <p:cNvPr id="6" name="">
            <a:extLst xmlns:a="http://schemas.openxmlformats.org/drawingml/2006/main">
              <a:ext uri="{FF2B5EF4-FFF2-40B4-BE49-F238E27FC236}">
                <a16:creationId xmlns:a16="http://schemas.microsoft.com/office/drawing/2014/main" id="{6C05549D-3245-4F3D-9031-DFB63477F0B1}"/>
              </a:ext>
            </a:extLst>
          </p:cNvPr>
          <p:cNvPicPr>
            <a:picLocks xmlns:a="http://schemas.openxmlformats.org/drawingml/2006/main" noChangeAspect="1"/>
          </p:cNvPicPr>
          <p:nvPr/>
        </p:nvPicPr>
        <p:blipFill>
          <a:blip xmlns:r="http://schemas.openxmlformats.org/officeDocument/2006/relationships" xmlns:a="http://schemas.openxmlformats.org/drawingml/2006/main" r:embed="R0ba94a3ccba04d29"/>
          <a:srcRect xmlns:a="http://schemas.openxmlformats.org/drawingml/2006/main" l="50000" t="0" r="0" b="0"/>
          <a:stretch xmlns:a="http://schemas.openxmlformats.org/drawingml/2006/main"/>
        </p:blipFill>
        <p:spPr>
          <a:xfrm xmlns:a="http://schemas.openxmlformats.org/drawingml/2006/main">
            <a:off x="609600" y="2266950"/>
            <a:ext cx="3429000" cy="2743200"/>
          </a:xfrm>
          <a:prstGeom xmlns:a="http://schemas.openxmlformats.org/drawingml/2006/main" prst="rect">
            <a:avLst/>
          </a:prstGeom>
        </p:spPr>
      </p:pic>
      <p:sp>
        <p:nvSpPr>
          <p:cNvPr id="7" name="HistEq+Emboss">
            <a:extLst xmlns:a="http://schemas.openxmlformats.org/drawingml/2006/main">
              <a:ext uri="{FF2B5EF4-FFF2-40B4-BE49-F238E27FC236}">
                <a16:creationId xmlns:a16="http://schemas.microsoft.com/office/drawing/2014/main" id="{1C29C3FA-4CBA-45BA-99BE-DC5D419437B2}"/>
              </a:ext>
            </a:extLst>
          </p:cNvPr>
          <p:cNvSpPr>
            <a:spLocks xmlns:a="http://schemas.openxmlformats.org/drawingml/2006/main" noGrp="1"/>
          </p:cNvSpPr>
          <p:nvPr/>
        </p:nvSpPr>
        <p:spPr>
          <a:xfrm xmlns:a="http://schemas.openxmlformats.org/drawingml/2006/main">
            <a:off x="6096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HistEq+Emboss</a:t>
            </a:r>
          </a:p>
        </p:txBody>
      </p:sp>
      <p:sp>
        <p:nvSpPr>
          <p:cNvPr id="8" name="히스토그램 변환 후 Emboss">
            <a:extLst xmlns:a="http://schemas.openxmlformats.org/drawingml/2006/main">
              <a:ext uri="{FF2B5EF4-FFF2-40B4-BE49-F238E27FC236}">
                <a16:creationId xmlns:a16="http://schemas.microsoft.com/office/drawing/2014/main" id="{57BA10C1-918A-4504-BE99-6CBBB35CBE60}"/>
              </a:ext>
            </a:extLst>
          </p:cNvPr>
          <p:cNvSpPr>
            <a:spLocks xmlns:a="http://schemas.openxmlformats.org/drawingml/2006/main" noGrp="1"/>
          </p:cNvSpPr>
          <p:nvPr/>
        </p:nvSpPr>
        <p:spPr>
          <a:xfrm xmlns:a="http://schemas.openxmlformats.org/drawingml/2006/main">
            <a:off x="6096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히스토그램 변환 후 Emboss</a:t>
            </a:r>
          </a:p>
        </p:txBody>
      </p:sp>
      <p:pic>
        <p:nvPicPr>
          <p:cNvPr id="9" name="">
            <a:extLst xmlns:a="http://schemas.openxmlformats.org/drawingml/2006/main">
              <a:ext uri="{FF2B5EF4-FFF2-40B4-BE49-F238E27FC236}">
                <a16:creationId xmlns:a16="http://schemas.microsoft.com/office/drawing/2014/main" id="{41DC3CA6-8E8A-42F0-A6B7-6622944B2915}"/>
              </a:ext>
            </a:extLst>
          </p:cNvPr>
          <p:cNvPicPr>
            <a:picLocks xmlns:a="http://schemas.openxmlformats.org/drawingml/2006/main" noChangeAspect="1"/>
          </p:cNvPicPr>
          <p:nvPr/>
        </p:nvPicPr>
        <p:blipFill>
          <a:blip xmlns:r="http://schemas.openxmlformats.org/officeDocument/2006/relationships" xmlns:a="http://schemas.openxmlformats.org/drawingml/2006/main" r:embed="R5b419587214a4229"/>
          <a:srcRect xmlns:a="http://schemas.openxmlformats.org/drawingml/2006/main" l="50000" t="0" r="0" b="0"/>
          <a:stretch xmlns:a="http://schemas.openxmlformats.org/drawingml/2006/main"/>
        </p:blipFill>
        <p:spPr>
          <a:xfrm xmlns:a="http://schemas.openxmlformats.org/drawingml/2006/main">
            <a:off x="4381500" y="2266950"/>
            <a:ext cx="3429000" cy="2743200"/>
          </a:xfrm>
          <a:prstGeom xmlns:a="http://schemas.openxmlformats.org/drawingml/2006/main" prst="rect">
            <a:avLst/>
          </a:prstGeom>
        </p:spPr>
      </p:pic>
      <p:sp>
        <p:nvSpPr>
          <p:cNvPr id="10" name="Unsharp+Sobel">
            <a:extLst xmlns:a="http://schemas.openxmlformats.org/drawingml/2006/main">
              <a:ext uri="{FF2B5EF4-FFF2-40B4-BE49-F238E27FC236}">
                <a16:creationId xmlns:a16="http://schemas.microsoft.com/office/drawing/2014/main" id="{AC268AD4-3656-4F2C-9D48-113C04BA0C64}"/>
              </a:ext>
            </a:extLst>
          </p:cNvPr>
          <p:cNvSpPr>
            <a:spLocks xmlns:a="http://schemas.openxmlformats.org/drawingml/2006/main" noGrp="1"/>
          </p:cNvSpPr>
          <p:nvPr/>
        </p:nvSpPr>
        <p:spPr>
          <a:xfrm xmlns:a="http://schemas.openxmlformats.org/drawingml/2006/main">
            <a:off x="43815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Unsharp+Sobel</a:t>
            </a:r>
          </a:p>
        </p:txBody>
      </p:sp>
      <p:sp>
        <p:nvSpPr>
          <p:cNvPr id="11" name="선명화 후 경계 응답">
            <a:extLst xmlns:a="http://schemas.openxmlformats.org/drawingml/2006/main">
              <a:ext uri="{FF2B5EF4-FFF2-40B4-BE49-F238E27FC236}">
                <a16:creationId xmlns:a16="http://schemas.microsoft.com/office/drawing/2014/main" id="{E43706CC-EE61-4CFA-8B50-E5B4EA2E0622}"/>
              </a:ext>
            </a:extLst>
          </p:cNvPr>
          <p:cNvSpPr>
            <a:spLocks xmlns:a="http://schemas.openxmlformats.org/drawingml/2006/main" noGrp="1"/>
          </p:cNvSpPr>
          <p:nvPr/>
        </p:nvSpPr>
        <p:spPr>
          <a:xfrm xmlns:a="http://schemas.openxmlformats.org/drawingml/2006/main">
            <a:off x="43815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선명화 후 경계 응답</a:t>
            </a:r>
          </a:p>
        </p:txBody>
      </p:sp>
      <p:pic>
        <p:nvPicPr>
          <p:cNvPr id="12" name="">
            <a:extLst xmlns:a="http://schemas.openxmlformats.org/drawingml/2006/main">
              <a:ext uri="{FF2B5EF4-FFF2-40B4-BE49-F238E27FC236}">
                <a16:creationId xmlns:a16="http://schemas.microsoft.com/office/drawing/2014/main" id="{1A036F23-26B4-4679-B3A8-6B16D94105AC}"/>
              </a:ext>
            </a:extLst>
          </p:cNvPr>
          <p:cNvPicPr>
            <a:picLocks xmlns:a="http://schemas.openxmlformats.org/drawingml/2006/main" noChangeAspect="1"/>
          </p:cNvPicPr>
          <p:nvPr/>
        </p:nvPicPr>
        <p:blipFill>
          <a:blip xmlns:r="http://schemas.openxmlformats.org/officeDocument/2006/relationships" xmlns:a="http://schemas.openxmlformats.org/drawingml/2006/main" r:embed="R81d192c4b23b4d90"/>
          <a:srcRect xmlns:a="http://schemas.openxmlformats.org/drawingml/2006/main" l="50000" t="0" r="0" b="0"/>
          <a:stretch xmlns:a="http://schemas.openxmlformats.org/drawingml/2006/main"/>
        </p:blipFill>
        <p:spPr>
          <a:xfrm xmlns:a="http://schemas.openxmlformats.org/drawingml/2006/main">
            <a:off x="8153400" y="2266950"/>
            <a:ext cx="3429000" cy="2743200"/>
          </a:xfrm>
          <a:prstGeom xmlns:a="http://schemas.openxmlformats.org/drawingml/2006/main" prst="rect">
            <a:avLst/>
          </a:prstGeom>
        </p:spPr>
      </p:pic>
      <p:sp>
        <p:nvSpPr>
          <p:cNvPr id="13" name="Original">
            <a:extLst xmlns:a="http://schemas.openxmlformats.org/drawingml/2006/main">
              <a:ext uri="{FF2B5EF4-FFF2-40B4-BE49-F238E27FC236}">
                <a16:creationId xmlns:a16="http://schemas.microsoft.com/office/drawing/2014/main" id="{7CF2558B-6F76-4545-91E4-C00F1BA2B077}"/>
              </a:ext>
            </a:extLst>
          </p:cNvPr>
          <p:cNvSpPr>
            <a:spLocks xmlns:a="http://schemas.openxmlformats.org/drawingml/2006/main" noGrp="1"/>
          </p:cNvSpPr>
          <p:nvPr/>
        </p:nvSpPr>
        <p:spPr>
          <a:xfrm xmlns:a="http://schemas.openxmlformats.org/drawingml/2006/main">
            <a:off x="81534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Original</a:t>
            </a:r>
          </a:p>
        </p:txBody>
      </p:sp>
      <p:sp>
        <p:nvSpPr>
          <p:cNvPr id="14" name="비교를 위한 원본 재제시">
            <a:extLst xmlns:a="http://schemas.openxmlformats.org/drawingml/2006/main">
              <a:ext uri="{FF2B5EF4-FFF2-40B4-BE49-F238E27FC236}">
                <a16:creationId xmlns:a16="http://schemas.microsoft.com/office/drawing/2014/main" id="{3F4010BD-112C-4ED3-89F1-4C6EC6D3D212}"/>
              </a:ext>
            </a:extLst>
          </p:cNvPr>
          <p:cNvSpPr>
            <a:spLocks xmlns:a="http://schemas.openxmlformats.org/drawingml/2006/main" noGrp="1"/>
          </p:cNvSpPr>
          <p:nvPr/>
        </p:nvSpPr>
        <p:spPr>
          <a:xfrm xmlns:a="http://schemas.openxmlformats.org/drawingml/2006/main">
            <a:off x="81534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비교를 위한 원본 재제시</a:t>
            </a:r>
          </a:p>
        </p:txBody>
      </p:sp>
    </p:spTree>
    <p:extLst>
      <p:ext uri="{BB962C8B-B14F-4D97-AF65-F5344CB8AC3E}">
        <p14:creationId xmlns:p14="http://schemas.microsoft.com/office/powerpoint/2010/main" val="190511647"/>
      </p:ext>
    </p:extLst>
  </p:cSld>
</p:sld>
</file>

<file path=ppt/slides/slide10.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11" name="실험과 성능 비교">
            <a:extLst xmlns:a="http://schemas.openxmlformats.org/drawingml/2006/main">
              <a:ext uri="{FF2B5EF4-FFF2-40B4-BE49-F238E27FC236}">
                <a16:creationId xmlns:a16="http://schemas.microsoft.com/office/drawing/2014/main" id="{40E003EC-5EC0-4219-A571-F9B2560088D4}"/>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실험과 성능 비교</a:t>
            </a:r>
          </a:p>
        </p:txBody>
      </p:sp>
      <p:sp>
        <p:nvSpPr>
          <p:cNvPr id="2" name="조건별 학습과 두 평가 지표">
            <a:extLst xmlns:a="http://schemas.openxmlformats.org/drawingml/2006/main">
              <a:ext uri="{FF2B5EF4-FFF2-40B4-BE49-F238E27FC236}">
                <a16:creationId xmlns:a16="http://schemas.microsoft.com/office/drawing/2014/main" id="{53101AA6-53DE-4756-9B07-079990C6C4F4}"/>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조건별 학습과 두 평가 지표</a:t>
            </a:r>
          </a:p>
        </p:txBody>
      </p:sp>
      <p:sp>
        <p:nvSpPr>
          <p:cNvPr id="3" name="경기대학교 컴퓨터과학과">
            <a:extLst xmlns:a="http://schemas.openxmlformats.org/drawingml/2006/main">
              <a:ext uri="{FF2B5EF4-FFF2-40B4-BE49-F238E27FC236}">
                <a16:creationId xmlns:a16="http://schemas.microsoft.com/office/drawing/2014/main" id="{1D2106B3-9CFB-4980-B773-03910AAE80F1}"/>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10">
            <a:extLst xmlns:a="http://schemas.openxmlformats.org/drawingml/2006/main">
              <a:ext uri="{FF2B5EF4-FFF2-40B4-BE49-F238E27FC236}">
                <a16:creationId xmlns:a16="http://schemas.microsoft.com/office/drawing/2014/main" id="{D456619A-AE56-422F-BC8B-882F15E957BD}"/>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10</a:t>
            </a:r>
          </a:p>
        </p:txBody>
      </p:sp>
      <p:sp>
        <p:nvSpPr>
          <p:cNvPr id="5" name="조건별 YOLOv8n 재학습">
            <a:extLst xmlns:a="http://schemas.openxmlformats.org/drawingml/2006/main">
              <a:ext uri="{FF2B5EF4-FFF2-40B4-BE49-F238E27FC236}">
                <a16:creationId xmlns:a16="http://schemas.microsoft.com/office/drawing/2014/main" id="{286B8C9D-CAFA-443A-8F33-79119C28DA1E}"/>
              </a:ext>
            </a:extLst>
          </p:cNvPr>
          <p:cNvSpPr>
            <a:spLocks xmlns:a="http://schemas.openxmlformats.org/drawingml/2006/main" noGrp="1"/>
          </p:cNvSpPr>
          <p:nvPr/>
        </p:nvSpPr>
        <p:spPr>
          <a:xfrm xmlns:a="http://schemas.openxmlformats.org/drawingml/2006/main">
            <a:off x="609600" y="15335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B92FF"/>
                </a:solidFill>
                <a:latin typeface="NanumGothic"/>
                <a:ea typeface="NanumGothic"/>
                <a:cs typeface="NanumGothic"/>
              </a:defRPr>
            </a:defPPr>
            <a:lvl1pPr algn="l">
              <a:defRPr sz="2700" b="1">
                <a:solidFill>
                  <a:srgbClr val="3B92FF"/>
                </a:solidFill>
                <a:latin typeface="NanumGothic"/>
                <a:ea typeface="NanumGothic"/>
                <a:cs typeface="NanumGothic"/>
              </a:defRPr>
            </a:lvl1pPr>
            <a:lvl2pPr algn="l">
              <a:defRPr sz="2700" b="1">
                <a:solidFill>
                  <a:srgbClr val="3B92FF"/>
                </a:solidFill>
                <a:latin typeface="NanumGothic"/>
                <a:ea typeface="NanumGothic"/>
                <a:cs typeface="NanumGothic"/>
              </a:defRPr>
            </a:lvl2pPr>
            <a:lvl3pPr algn="l">
              <a:defRPr sz="2700" b="1">
                <a:solidFill>
                  <a:srgbClr val="3B92FF"/>
                </a:solidFill>
                <a:latin typeface="NanumGothic"/>
                <a:ea typeface="NanumGothic"/>
                <a:cs typeface="NanumGothic"/>
              </a:defRPr>
            </a:lvl3pPr>
            <a:lvl4pPr algn="l">
              <a:defRPr sz="2700" b="1">
                <a:solidFill>
                  <a:srgbClr val="3B92FF"/>
                </a:solidFill>
                <a:latin typeface="NanumGothic"/>
                <a:ea typeface="NanumGothic"/>
                <a:cs typeface="NanumGothic"/>
              </a:defRPr>
            </a:lvl4pPr>
            <a:lvl5pPr algn="l">
              <a:defRPr sz="2700" b="1">
                <a:solidFill>
                  <a:srgbClr val="3B92FF"/>
                </a:solidFill>
                <a:latin typeface="NanumGothic"/>
                <a:ea typeface="NanumGothic"/>
                <a:cs typeface="NanumGothic"/>
              </a:defRPr>
            </a:lvl5pPr>
            <a:lvl6pPr algn="l">
              <a:defRPr sz="2700" b="1">
                <a:solidFill>
                  <a:srgbClr val="3B92FF"/>
                </a:solidFill>
                <a:latin typeface="NanumGothic"/>
                <a:ea typeface="NanumGothic"/>
                <a:cs typeface="NanumGothic"/>
              </a:defRPr>
            </a:lvl6pPr>
            <a:lvl7pPr algn="l">
              <a:defRPr sz="2700" b="1">
                <a:solidFill>
                  <a:srgbClr val="3B92FF"/>
                </a:solidFill>
                <a:latin typeface="NanumGothic"/>
                <a:ea typeface="NanumGothic"/>
                <a:cs typeface="NanumGothic"/>
              </a:defRPr>
            </a:lvl7pPr>
            <a:lvl8pPr algn="l">
              <a:defRPr sz="2700" b="1">
                <a:solidFill>
                  <a:srgbClr val="3B92FF"/>
                </a:solidFill>
                <a:latin typeface="NanumGothic"/>
                <a:ea typeface="NanumGothic"/>
                <a:cs typeface="NanumGothic"/>
              </a:defRPr>
            </a:lvl8pPr>
            <a:lvl9pPr algn="l">
              <a:defRPr sz="2700" b="1">
                <a:solidFill>
                  <a:srgbClr val="3B92FF"/>
                </a:solidFill>
                <a:latin typeface="NanumGothic"/>
                <a:ea typeface="NanumGothic"/>
                <a:cs typeface="NanumGothic"/>
              </a:defRPr>
            </a:lvl9pPr>
          </a:lstStyle>
          <a:p xmlns:a="http://schemas.openxmlformats.org/drawingml/2006/main">
            <a:pPr algn="l">
              <a:defRPr sz="2700" b="1">
                <a:solidFill>
                  <a:srgbClr val="3B92FF"/>
                </a:solidFill>
                <a:latin typeface="NanumGothic"/>
                <a:ea typeface="NanumGothic"/>
                <a:cs typeface="NanumGothic"/>
              </a:defRPr>
            </a:pPr>
            <a:r>
              <a:rPr sz="2700" b="1">
                <a:solidFill>
                  <a:srgbClr val="3B92FF"/>
                </a:solidFill>
                <a:latin typeface="NanumGothic"/>
                <a:ea typeface="NanumGothic"/>
                <a:cs typeface="NanumGothic"/>
              </a:rPr>
              <a:t>조건별 YOLOv8n 재학습</a:t>
            </a:r>
          </a:p>
        </p:txBody>
      </p:sp>
      <p:sp>
        <p:nvSpPr>
          <p:cNvPr id="6" name="최대 30 epochs     imgsz 1280     ">
            <a:extLst xmlns:a="http://schemas.openxmlformats.org/drawingml/2006/main">
              <a:ext uri="{FF2B5EF4-FFF2-40B4-BE49-F238E27FC236}">
                <a16:creationId xmlns:a16="http://schemas.microsoft.com/office/drawing/2014/main" id="{BDE2D5F8-AA69-48FA-A4D9-DA51089AAEE5}"/>
              </a:ext>
            </a:extLst>
          </p:cNvPr>
          <p:cNvSpPr>
            <a:spLocks xmlns:a="http://schemas.openxmlformats.org/drawingml/2006/main" noGrp="1"/>
          </p:cNvSpPr>
          <p:nvPr/>
        </p:nvSpPr>
        <p:spPr>
          <a:xfrm xmlns:a="http://schemas.openxmlformats.org/drawingml/2006/main">
            <a:off x="609600" y="2305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AAB8CC"/>
                </a:solidFill>
                <a:latin typeface="NanumGothic"/>
                <a:ea typeface="NanumGothic"/>
                <a:cs typeface="NanumGothic"/>
              </a:defRPr>
            </a:defPPr>
            <a:lvl1pPr algn="l">
              <a:defRPr sz="2025" b="1">
                <a:solidFill>
                  <a:srgbClr val="AAB8CC"/>
                </a:solidFill>
                <a:latin typeface="NanumGothic"/>
                <a:ea typeface="NanumGothic"/>
                <a:cs typeface="NanumGothic"/>
              </a:defRPr>
            </a:lvl1pPr>
            <a:lvl2pPr algn="l">
              <a:defRPr sz="2025" b="1">
                <a:solidFill>
                  <a:srgbClr val="AAB8CC"/>
                </a:solidFill>
                <a:latin typeface="NanumGothic"/>
                <a:ea typeface="NanumGothic"/>
                <a:cs typeface="NanumGothic"/>
              </a:defRPr>
            </a:lvl2pPr>
            <a:lvl3pPr algn="l">
              <a:defRPr sz="2025" b="1">
                <a:solidFill>
                  <a:srgbClr val="AAB8CC"/>
                </a:solidFill>
                <a:latin typeface="NanumGothic"/>
                <a:ea typeface="NanumGothic"/>
                <a:cs typeface="NanumGothic"/>
              </a:defRPr>
            </a:lvl3pPr>
            <a:lvl4pPr algn="l">
              <a:defRPr sz="2025" b="1">
                <a:solidFill>
                  <a:srgbClr val="AAB8CC"/>
                </a:solidFill>
                <a:latin typeface="NanumGothic"/>
                <a:ea typeface="NanumGothic"/>
                <a:cs typeface="NanumGothic"/>
              </a:defRPr>
            </a:lvl4pPr>
            <a:lvl5pPr algn="l">
              <a:defRPr sz="2025" b="1">
                <a:solidFill>
                  <a:srgbClr val="AAB8CC"/>
                </a:solidFill>
                <a:latin typeface="NanumGothic"/>
                <a:ea typeface="NanumGothic"/>
                <a:cs typeface="NanumGothic"/>
              </a:defRPr>
            </a:lvl5pPr>
            <a:lvl6pPr algn="l">
              <a:defRPr sz="2025" b="1">
                <a:solidFill>
                  <a:srgbClr val="AAB8CC"/>
                </a:solidFill>
                <a:latin typeface="NanumGothic"/>
                <a:ea typeface="NanumGothic"/>
                <a:cs typeface="NanumGothic"/>
              </a:defRPr>
            </a:lvl6pPr>
            <a:lvl7pPr algn="l">
              <a:defRPr sz="2025" b="1">
                <a:solidFill>
                  <a:srgbClr val="AAB8CC"/>
                </a:solidFill>
                <a:latin typeface="NanumGothic"/>
                <a:ea typeface="NanumGothic"/>
                <a:cs typeface="NanumGothic"/>
              </a:defRPr>
            </a:lvl7pPr>
            <a:lvl8pPr algn="l">
              <a:defRPr sz="2025" b="1">
                <a:solidFill>
                  <a:srgbClr val="AAB8CC"/>
                </a:solidFill>
                <a:latin typeface="NanumGothic"/>
                <a:ea typeface="NanumGothic"/>
                <a:cs typeface="NanumGothic"/>
              </a:defRPr>
            </a:lvl8pPr>
            <a:lvl9pPr algn="l">
              <a:defRPr sz="2025" b="1">
                <a:solidFill>
                  <a:srgbClr val="AAB8CC"/>
                </a:solidFill>
                <a:latin typeface="NanumGothic"/>
                <a:ea typeface="NanumGothic"/>
                <a:cs typeface="NanumGothic"/>
              </a:defRPr>
            </a:lvl9pPr>
          </a:lstStyle>
          <a:p xmlns:a="http://schemas.openxmlformats.org/drawingml/2006/main">
            <a:pPr algn="l">
              <a:defRPr sz="2025" b="1">
                <a:solidFill>
                  <a:srgbClr val="AAB8CC"/>
                </a:solidFill>
                <a:latin typeface="NanumGothic"/>
                <a:ea typeface="NanumGothic"/>
                <a:cs typeface="NanumGothic"/>
              </a:defRPr>
            </a:pPr>
            <a:r>
              <a:rPr sz="2025" b="1">
                <a:solidFill>
                  <a:srgbClr val="AAB8CC"/>
                </a:solidFill>
                <a:latin typeface="NanumGothic"/>
                <a:ea typeface="NanumGothic"/>
                <a:cs typeface="NanumGothic"/>
              </a:rPr>
              <a:t>최대 30 epochs     imgsz 1280     batch 8     patience 15</a:t>
            </a:r>
          </a:p>
        </p:txBody>
      </p:sp>
      <p:sp>
        <p:nvSpPr>
          <p:cNvPr id="7" name="주 지표  mAP50-95">
            <a:extLst xmlns:a="http://schemas.openxmlformats.org/drawingml/2006/main">
              <a:ext uri="{FF2B5EF4-FFF2-40B4-BE49-F238E27FC236}">
                <a16:creationId xmlns:a16="http://schemas.microsoft.com/office/drawing/2014/main" id="{4A78C935-5829-4EE9-8240-3525C0ACDF9D}"/>
              </a:ext>
            </a:extLst>
          </p:cNvPr>
          <p:cNvSpPr>
            <a:spLocks xmlns:a="http://schemas.openxmlformats.org/drawingml/2006/main" noGrp="1"/>
          </p:cNvSpPr>
          <p:nvPr/>
        </p:nvSpPr>
        <p:spPr>
          <a:xfrm xmlns:a="http://schemas.openxmlformats.org/drawingml/2006/main">
            <a:off x="609600" y="32766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7FAFF"/>
                </a:solidFill>
                <a:latin typeface="NanumGothic"/>
                <a:ea typeface="NanumGothic"/>
                <a:cs typeface="NanumGothic"/>
              </a:defRPr>
            </a:defPPr>
            <a:lvl1pPr algn="l">
              <a:defRPr sz="2475" b="1">
                <a:solidFill>
                  <a:srgbClr val="F7FAFF"/>
                </a:solidFill>
                <a:latin typeface="NanumGothic"/>
                <a:ea typeface="NanumGothic"/>
                <a:cs typeface="NanumGothic"/>
              </a:defRPr>
            </a:lvl1pPr>
            <a:lvl2pPr algn="l">
              <a:defRPr sz="2475" b="1">
                <a:solidFill>
                  <a:srgbClr val="F7FAFF"/>
                </a:solidFill>
                <a:latin typeface="NanumGothic"/>
                <a:ea typeface="NanumGothic"/>
                <a:cs typeface="NanumGothic"/>
              </a:defRPr>
            </a:lvl2pPr>
            <a:lvl3pPr algn="l">
              <a:defRPr sz="2475" b="1">
                <a:solidFill>
                  <a:srgbClr val="F7FAFF"/>
                </a:solidFill>
                <a:latin typeface="NanumGothic"/>
                <a:ea typeface="NanumGothic"/>
                <a:cs typeface="NanumGothic"/>
              </a:defRPr>
            </a:lvl3pPr>
            <a:lvl4pPr algn="l">
              <a:defRPr sz="2475" b="1">
                <a:solidFill>
                  <a:srgbClr val="F7FAFF"/>
                </a:solidFill>
                <a:latin typeface="NanumGothic"/>
                <a:ea typeface="NanumGothic"/>
                <a:cs typeface="NanumGothic"/>
              </a:defRPr>
            </a:lvl4pPr>
            <a:lvl5pPr algn="l">
              <a:defRPr sz="2475" b="1">
                <a:solidFill>
                  <a:srgbClr val="F7FAFF"/>
                </a:solidFill>
                <a:latin typeface="NanumGothic"/>
                <a:ea typeface="NanumGothic"/>
                <a:cs typeface="NanumGothic"/>
              </a:defRPr>
            </a:lvl5pPr>
            <a:lvl6pPr algn="l">
              <a:defRPr sz="2475" b="1">
                <a:solidFill>
                  <a:srgbClr val="F7FAFF"/>
                </a:solidFill>
                <a:latin typeface="NanumGothic"/>
                <a:ea typeface="NanumGothic"/>
                <a:cs typeface="NanumGothic"/>
              </a:defRPr>
            </a:lvl6pPr>
            <a:lvl7pPr algn="l">
              <a:defRPr sz="2475" b="1">
                <a:solidFill>
                  <a:srgbClr val="F7FAFF"/>
                </a:solidFill>
                <a:latin typeface="NanumGothic"/>
                <a:ea typeface="NanumGothic"/>
                <a:cs typeface="NanumGothic"/>
              </a:defRPr>
            </a:lvl7pPr>
            <a:lvl8pPr algn="l">
              <a:defRPr sz="2475" b="1">
                <a:solidFill>
                  <a:srgbClr val="F7FAFF"/>
                </a:solidFill>
                <a:latin typeface="NanumGothic"/>
                <a:ea typeface="NanumGothic"/>
                <a:cs typeface="NanumGothic"/>
              </a:defRPr>
            </a:lvl8pPr>
            <a:lvl9pPr algn="l">
              <a:defRPr sz="2475" b="1">
                <a:solidFill>
                  <a:srgbClr val="F7FAFF"/>
                </a:solidFill>
                <a:latin typeface="NanumGothic"/>
                <a:ea typeface="NanumGothic"/>
                <a:cs typeface="NanumGothic"/>
              </a:defRPr>
            </a:lvl9pPr>
          </a:lstStyle>
          <a:p xmlns:a="http://schemas.openxmlformats.org/drawingml/2006/main">
            <a:pPr algn="l">
              <a:defRPr sz="2475" b="1">
                <a:solidFill>
                  <a:srgbClr val="F7FAFF"/>
                </a:solidFill>
                <a:latin typeface="NanumGothic"/>
                <a:ea typeface="NanumGothic"/>
                <a:cs typeface="NanumGothic"/>
              </a:defRPr>
            </a:pPr>
            <a:r>
              <a:rPr sz="2475" b="1">
                <a:solidFill>
                  <a:srgbClr val="F7FAFF"/>
                </a:solidFill>
                <a:latin typeface="NanumGothic"/>
                <a:ea typeface="NanumGothic"/>
                <a:cs typeface="NanumGothic"/>
              </a:rPr>
              <a:t>주 지표  mAP50-95</a:t>
            </a:r>
          </a:p>
        </p:txBody>
      </p:sp>
      <p:sp>
        <p:nvSpPr>
          <p:cNvPr id="8" name="보조 지표  엄격 검출 정확도">
            <a:extLst xmlns:a="http://schemas.openxmlformats.org/drawingml/2006/main">
              <a:ext uri="{FF2B5EF4-FFF2-40B4-BE49-F238E27FC236}">
                <a16:creationId xmlns:a16="http://schemas.microsoft.com/office/drawing/2014/main" id="{F7FC15E8-8FDE-4DEA-80BC-C4928E406608}"/>
              </a:ext>
            </a:extLst>
          </p:cNvPr>
          <p:cNvSpPr>
            <a:spLocks xmlns:a="http://schemas.openxmlformats.org/drawingml/2006/main" noGrp="1"/>
          </p:cNvSpPr>
          <p:nvPr/>
        </p:nvSpPr>
        <p:spPr>
          <a:xfrm xmlns:a="http://schemas.openxmlformats.org/drawingml/2006/main">
            <a:off x="6391275" y="32766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7FAFF"/>
                </a:solidFill>
                <a:latin typeface="NanumGothic"/>
                <a:ea typeface="NanumGothic"/>
                <a:cs typeface="NanumGothic"/>
              </a:defRPr>
            </a:defPPr>
            <a:lvl1pPr algn="l">
              <a:defRPr sz="2475" b="1">
                <a:solidFill>
                  <a:srgbClr val="F7FAFF"/>
                </a:solidFill>
                <a:latin typeface="NanumGothic"/>
                <a:ea typeface="NanumGothic"/>
                <a:cs typeface="NanumGothic"/>
              </a:defRPr>
            </a:lvl1pPr>
            <a:lvl2pPr algn="l">
              <a:defRPr sz="2475" b="1">
                <a:solidFill>
                  <a:srgbClr val="F7FAFF"/>
                </a:solidFill>
                <a:latin typeface="NanumGothic"/>
                <a:ea typeface="NanumGothic"/>
                <a:cs typeface="NanumGothic"/>
              </a:defRPr>
            </a:lvl2pPr>
            <a:lvl3pPr algn="l">
              <a:defRPr sz="2475" b="1">
                <a:solidFill>
                  <a:srgbClr val="F7FAFF"/>
                </a:solidFill>
                <a:latin typeface="NanumGothic"/>
                <a:ea typeface="NanumGothic"/>
                <a:cs typeface="NanumGothic"/>
              </a:defRPr>
            </a:lvl3pPr>
            <a:lvl4pPr algn="l">
              <a:defRPr sz="2475" b="1">
                <a:solidFill>
                  <a:srgbClr val="F7FAFF"/>
                </a:solidFill>
                <a:latin typeface="NanumGothic"/>
                <a:ea typeface="NanumGothic"/>
                <a:cs typeface="NanumGothic"/>
              </a:defRPr>
            </a:lvl4pPr>
            <a:lvl5pPr algn="l">
              <a:defRPr sz="2475" b="1">
                <a:solidFill>
                  <a:srgbClr val="F7FAFF"/>
                </a:solidFill>
                <a:latin typeface="NanumGothic"/>
                <a:ea typeface="NanumGothic"/>
                <a:cs typeface="NanumGothic"/>
              </a:defRPr>
            </a:lvl5pPr>
            <a:lvl6pPr algn="l">
              <a:defRPr sz="2475" b="1">
                <a:solidFill>
                  <a:srgbClr val="F7FAFF"/>
                </a:solidFill>
                <a:latin typeface="NanumGothic"/>
                <a:ea typeface="NanumGothic"/>
                <a:cs typeface="NanumGothic"/>
              </a:defRPr>
            </a:lvl6pPr>
            <a:lvl7pPr algn="l">
              <a:defRPr sz="2475" b="1">
                <a:solidFill>
                  <a:srgbClr val="F7FAFF"/>
                </a:solidFill>
                <a:latin typeface="NanumGothic"/>
                <a:ea typeface="NanumGothic"/>
                <a:cs typeface="NanumGothic"/>
              </a:defRPr>
            </a:lvl7pPr>
            <a:lvl8pPr algn="l">
              <a:defRPr sz="2475" b="1">
                <a:solidFill>
                  <a:srgbClr val="F7FAFF"/>
                </a:solidFill>
                <a:latin typeface="NanumGothic"/>
                <a:ea typeface="NanumGothic"/>
                <a:cs typeface="NanumGothic"/>
              </a:defRPr>
            </a:lvl8pPr>
            <a:lvl9pPr algn="l">
              <a:defRPr sz="2475" b="1">
                <a:solidFill>
                  <a:srgbClr val="F7FAFF"/>
                </a:solidFill>
                <a:latin typeface="NanumGothic"/>
                <a:ea typeface="NanumGothic"/>
                <a:cs typeface="NanumGothic"/>
              </a:defRPr>
            </a:lvl9pPr>
          </a:lstStyle>
          <a:p xmlns:a="http://schemas.openxmlformats.org/drawingml/2006/main">
            <a:pPr algn="l">
              <a:defRPr sz="2475" b="1">
                <a:solidFill>
                  <a:srgbClr val="F7FAFF"/>
                </a:solidFill>
                <a:latin typeface="NanumGothic"/>
                <a:ea typeface="NanumGothic"/>
                <a:cs typeface="NanumGothic"/>
              </a:defRPr>
            </a:pPr>
            <a:r>
              <a:rPr sz="2475" b="1">
                <a:solidFill>
                  <a:srgbClr val="F7FAFF"/>
                </a:solidFill>
                <a:latin typeface="NanumGothic"/>
                <a:ea typeface="NanumGothic"/>
                <a:cs typeface="NanumGothic"/>
              </a:rPr>
              <a:t>보조 지표  엄격 검출 정확도</a:t>
            </a:r>
          </a:p>
        </p:txBody>
      </p:sp>
      <p:sp>
        <p:nvSpPr>
          <p:cNvPr id="9" name="객체의 경계 상자 겹침 기반&#10;외부 5개 폴드 평균&#10;conf">
            <a:extLst xmlns:a="http://schemas.openxmlformats.org/drawingml/2006/main">
              <a:ext uri="{FF2B5EF4-FFF2-40B4-BE49-F238E27FC236}">
                <a16:creationId xmlns:a16="http://schemas.microsoft.com/office/drawing/2014/main" id="{F62B8B93-CA43-48AB-BC10-8B84B922CC00}"/>
              </a:ext>
            </a:extLst>
          </p:cNvPr>
          <p:cNvSpPr>
            <a:spLocks xmlns:a="http://schemas.openxmlformats.org/drawingml/2006/main" noGrp="1"/>
          </p:cNvSpPr>
          <p:nvPr/>
        </p:nvSpPr>
        <p:spPr>
          <a:xfrm xmlns:a="http://schemas.openxmlformats.org/drawingml/2006/main">
            <a:off x="609600" y="4000500"/>
            <a:ext cx="5143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AAB8CC"/>
                </a:solidFill>
                <a:latin typeface="NanumGothic"/>
                <a:ea typeface="NanumGothic"/>
                <a:cs typeface="NanumGothic"/>
              </a:defRPr>
            </a:defPPr>
            <a:lvl1pPr algn="l">
              <a:defRPr sz="2025" b="1">
                <a:solidFill>
                  <a:srgbClr val="AAB8CC"/>
                </a:solidFill>
                <a:latin typeface="NanumGothic"/>
                <a:ea typeface="NanumGothic"/>
                <a:cs typeface="NanumGothic"/>
              </a:defRPr>
            </a:lvl1pPr>
            <a:lvl2pPr algn="l">
              <a:defRPr sz="2025" b="1">
                <a:solidFill>
                  <a:srgbClr val="AAB8CC"/>
                </a:solidFill>
                <a:latin typeface="NanumGothic"/>
                <a:ea typeface="NanumGothic"/>
                <a:cs typeface="NanumGothic"/>
              </a:defRPr>
            </a:lvl2pPr>
            <a:lvl3pPr algn="l">
              <a:defRPr sz="2025" b="1">
                <a:solidFill>
                  <a:srgbClr val="AAB8CC"/>
                </a:solidFill>
                <a:latin typeface="NanumGothic"/>
                <a:ea typeface="NanumGothic"/>
                <a:cs typeface="NanumGothic"/>
              </a:defRPr>
            </a:lvl3pPr>
            <a:lvl4pPr algn="l">
              <a:defRPr sz="2025" b="1">
                <a:solidFill>
                  <a:srgbClr val="AAB8CC"/>
                </a:solidFill>
                <a:latin typeface="NanumGothic"/>
                <a:ea typeface="NanumGothic"/>
                <a:cs typeface="NanumGothic"/>
              </a:defRPr>
            </a:lvl4pPr>
            <a:lvl5pPr algn="l">
              <a:defRPr sz="2025" b="1">
                <a:solidFill>
                  <a:srgbClr val="AAB8CC"/>
                </a:solidFill>
                <a:latin typeface="NanumGothic"/>
                <a:ea typeface="NanumGothic"/>
                <a:cs typeface="NanumGothic"/>
              </a:defRPr>
            </a:lvl5pPr>
            <a:lvl6pPr algn="l">
              <a:defRPr sz="2025" b="1">
                <a:solidFill>
                  <a:srgbClr val="AAB8CC"/>
                </a:solidFill>
                <a:latin typeface="NanumGothic"/>
                <a:ea typeface="NanumGothic"/>
                <a:cs typeface="NanumGothic"/>
              </a:defRPr>
            </a:lvl6pPr>
            <a:lvl7pPr algn="l">
              <a:defRPr sz="2025" b="1">
                <a:solidFill>
                  <a:srgbClr val="AAB8CC"/>
                </a:solidFill>
                <a:latin typeface="NanumGothic"/>
                <a:ea typeface="NanumGothic"/>
                <a:cs typeface="NanumGothic"/>
              </a:defRPr>
            </a:lvl7pPr>
            <a:lvl8pPr algn="l">
              <a:defRPr sz="2025" b="1">
                <a:solidFill>
                  <a:srgbClr val="AAB8CC"/>
                </a:solidFill>
                <a:latin typeface="NanumGothic"/>
                <a:ea typeface="NanumGothic"/>
                <a:cs typeface="NanumGothic"/>
              </a:defRPr>
            </a:lvl8pPr>
            <a:lvl9pPr algn="l">
              <a:defRPr sz="2025" b="1">
                <a:solidFill>
                  <a:srgbClr val="AAB8CC"/>
                </a:solidFill>
                <a:latin typeface="NanumGothic"/>
                <a:ea typeface="NanumGothic"/>
                <a:cs typeface="NanumGothic"/>
              </a:defRPr>
            </a:lvl9pPr>
          </a:lstStyle>
          <a:p xmlns:a="http://schemas.openxmlformats.org/drawingml/2006/main">
            <a:pPr algn="l">
              <a:defRPr sz="2025" b="1">
                <a:solidFill>
                  <a:srgbClr val="AAB8CC"/>
                </a:solidFill>
                <a:latin typeface="NanumGothic"/>
                <a:ea typeface="NanumGothic"/>
                <a:cs typeface="NanumGothic"/>
              </a:defRPr>
            </a:pPr>
            <a:r>
              <a:rPr sz="2025" b="1">
                <a:solidFill>
                  <a:srgbClr val="AAB8CC"/>
                </a:solidFill>
                <a:latin typeface="NanumGothic"/>
                <a:ea typeface="NanumGothic"/>
                <a:cs typeface="NanumGothic"/>
              </a:rPr>
              <a:t>객체의 경계 상자 겹침 기반</a:t>
            </a:r>
          </a:p>
          <a:p xmlns:a="http://schemas.openxmlformats.org/drawingml/2006/main">
            <a:pPr algn="l">
              <a:defRPr sz="2025" b="1">
                <a:solidFill>
                  <a:srgbClr val="AAB8CC"/>
                </a:solidFill>
                <a:latin typeface="NanumGothic"/>
                <a:ea typeface="NanumGothic"/>
                <a:cs typeface="NanumGothic"/>
              </a:defRPr>
            </a:pPr>
            <a:r>
              <a:rPr sz="2025" b="1">
                <a:solidFill>
                  <a:srgbClr val="AAB8CC"/>
                </a:solidFill>
                <a:latin typeface="NanumGothic"/>
                <a:ea typeface="NanumGothic"/>
                <a:cs typeface="NanumGothic"/>
              </a:rPr>
              <a:t>외부 5개 폴드 평균</a:t>
            </a:r>
          </a:p>
          <a:p xmlns:a="http://schemas.openxmlformats.org/drawingml/2006/main">
            <a:pPr algn="l">
              <a:defRPr sz="2025" b="1">
                <a:solidFill>
                  <a:srgbClr val="AAB8CC"/>
                </a:solidFill>
                <a:latin typeface="NanumGothic"/>
                <a:ea typeface="NanumGothic"/>
                <a:cs typeface="NanumGothic"/>
              </a:defRPr>
            </a:pPr>
            <a:r>
              <a:rPr sz="2025" b="1">
                <a:solidFill>
                  <a:srgbClr val="AAB8CC"/>
                </a:solidFill>
                <a:latin typeface="NanumGothic"/>
                <a:ea typeface="NanumGothic"/>
                <a:cs typeface="NanumGothic"/>
              </a:rPr>
              <a:t>confidence 0.001 / NMS IoU 0.7</a:t>
            </a:r>
          </a:p>
        </p:txBody>
      </p:sp>
      <p:sp>
        <p:nvSpPr>
          <p:cNvPr id="10" name="누락·추가 검출 없는 영상의 비율&#10;중심 거리 기반 일대일 ">
            <a:extLst xmlns:a="http://schemas.openxmlformats.org/drawingml/2006/main">
              <a:ext uri="{FF2B5EF4-FFF2-40B4-BE49-F238E27FC236}">
                <a16:creationId xmlns:a16="http://schemas.microsoft.com/office/drawing/2014/main" id="{2C7BF0B5-8B70-4D0D-A664-5092DBD4532D}"/>
              </a:ext>
            </a:extLst>
          </p:cNvPr>
          <p:cNvSpPr>
            <a:spLocks xmlns:a="http://schemas.openxmlformats.org/drawingml/2006/main" noGrp="1"/>
          </p:cNvSpPr>
          <p:nvPr/>
        </p:nvSpPr>
        <p:spPr>
          <a:xfrm xmlns:a="http://schemas.openxmlformats.org/drawingml/2006/main">
            <a:off x="6391275" y="4000500"/>
            <a:ext cx="5143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AAB8CC"/>
                </a:solidFill>
                <a:latin typeface="NanumGothic"/>
                <a:ea typeface="NanumGothic"/>
                <a:cs typeface="NanumGothic"/>
              </a:defRPr>
            </a:defPPr>
            <a:lvl1pPr algn="l">
              <a:defRPr sz="2025" b="1">
                <a:solidFill>
                  <a:srgbClr val="AAB8CC"/>
                </a:solidFill>
                <a:latin typeface="NanumGothic"/>
                <a:ea typeface="NanumGothic"/>
                <a:cs typeface="NanumGothic"/>
              </a:defRPr>
            </a:lvl1pPr>
            <a:lvl2pPr algn="l">
              <a:defRPr sz="2025" b="1">
                <a:solidFill>
                  <a:srgbClr val="AAB8CC"/>
                </a:solidFill>
                <a:latin typeface="NanumGothic"/>
                <a:ea typeface="NanumGothic"/>
                <a:cs typeface="NanumGothic"/>
              </a:defRPr>
            </a:lvl2pPr>
            <a:lvl3pPr algn="l">
              <a:defRPr sz="2025" b="1">
                <a:solidFill>
                  <a:srgbClr val="AAB8CC"/>
                </a:solidFill>
                <a:latin typeface="NanumGothic"/>
                <a:ea typeface="NanumGothic"/>
                <a:cs typeface="NanumGothic"/>
              </a:defRPr>
            </a:lvl3pPr>
            <a:lvl4pPr algn="l">
              <a:defRPr sz="2025" b="1">
                <a:solidFill>
                  <a:srgbClr val="AAB8CC"/>
                </a:solidFill>
                <a:latin typeface="NanumGothic"/>
                <a:ea typeface="NanumGothic"/>
                <a:cs typeface="NanumGothic"/>
              </a:defRPr>
            </a:lvl4pPr>
            <a:lvl5pPr algn="l">
              <a:defRPr sz="2025" b="1">
                <a:solidFill>
                  <a:srgbClr val="AAB8CC"/>
                </a:solidFill>
                <a:latin typeface="NanumGothic"/>
                <a:ea typeface="NanumGothic"/>
                <a:cs typeface="NanumGothic"/>
              </a:defRPr>
            </a:lvl5pPr>
            <a:lvl6pPr algn="l">
              <a:defRPr sz="2025" b="1">
                <a:solidFill>
                  <a:srgbClr val="AAB8CC"/>
                </a:solidFill>
                <a:latin typeface="NanumGothic"/>
                <a:ea typeface="NanumGothic"/>
                <a:cs typeface="NanumGothic"/>
              </a:defRPr>
            </a:lvl6pPr>
            <a:lvl7pPr algn="l">
              <a:defRPr sz="2025" b="1">
                <a:solidFill>
                  <a:srgbClr val="AAB8CC"/>
                </a:solidFill>
                <a:latin typeface="NanumGothic"/>
                <a:ea typeface="NanumGothic"/>
                <a:cs typeface="NanumGothic"/>
              </a:defRPr>
            </a:lvl7pPr>
            <a:lvl8pPr algn="l">
              <a:defRPr sz="2025" b="1">
                <a:solidFill>
                  <a:srgbClr val="AAB8CC"/>
                </a:solidFill>
                <a:latin typeface="NanumGothic"/>
                <a:ea typeface="NanumGothic"/>
                <a:cs typeface="NanumGothic"/>
              </a:defRPr>
            </a:lvl8pPr>
            <a:lvl9pPr algn="l">
              <a:defRPr sz="2025" b="1">
                <a:solidFill>
                  <a:srgbClr val="AAB8CC"/>
                </a:solidFill>
                <a:latin typeface="NanumGothic"/>
                <a:ea typeface="NanumGothic"/>
                <a:cs typeface="NanumGothic"/>
              </a:defRPr>
            </a:lvl9pPr>
          </a:lstStyle>
          <a:p xmlns:a="http://schemas.openxmlformats.org/drawingml/2006/main">
            <a:pPr algn="l">
              <a:defRPr sz="2025" b="1">
                <a:solidFill>
                  <a:srgbClr val="AAB8CC"/>
                </a:solidFill>
                <a:latin typeface="NanumGothic"/>
                <a:ea typeface="NanumGothic"/>
                <a:cs typeface="NanumGothic"/>
              </a:defRPr>
            </a:pPr>
            <a:r>
              <a:rPr sz="2025" b="1">
                <a:solidFill>
                  <a:srgbClr val="AAB8CC"/>
                </a:solidFill>
                <a:latin typeface="NanumGothic"/>
                <a:ea typeface="NanumGothic"/>
                <a:cs typeface="NanumGothic"/>
              </a:rPr>
              <a:t>누락·추가 검출 없는 영상의 비율</a:t>
            </a:r>
          </a:p>
          <a:p xmlns:a="http://schemas.openxmlformats.org/drawingml/2006/main">
            <a:pPr algn="l">
              <a:defRPr sz="2025" b="1">
                <a:solidFill>
                  <a:srgbClr val="AAB8CC"/>
                </a:solidFill>
                <a:latin typeface="NanumGothic"/>
                <a:ea typeface="NanumGothic"/>
                <a:cs typeface="NanumGothic"/>
              </a:defRPr>
            </a:pPr>
            <a:r>
              <a:rPr sz="2025" b="1">
                <a:solidFill>
                  <a:srgbClr val="AAB8CC"/>
                </a:solidFill>
                <a:latin typeface="NanumGothic"/>
                <a:ea typeface="NanumGothic"/>
                <a:cs typeface="NanumGothic"/>
              </a:rPr>
              <a:t>중심 거리 기반 일대일 대응</a:t>
            </a:r>
          </a:p>
          <a:p xmlns:a="http://schemas.openxmlformats.org/drawingml/2006/main">
            <a:pPr algn="l">
              <a:defRPr sz="2025" b="1">
                <a:solidFill>
                  <a:srgbClr val="AAB8CC"/>
                </a:solidFill>
                <a:latin typeface="NanumGothic"/>
                <a:ea typeface="NanumGothic"/>
                <a:cs typeface="NanumGothic"/>
              </a:defRPr>
            </a:pPr>
            <a:r>
              <a:rPr sz="2025" b="1">
                <a:solidFill>
                  <a:srgbClr val="AAB8CC"/>
                </a:solidFill>
                <a:latin typeface="NanumGothic"/>
                <a:ea typeface="NanumGothic"/>
                <a:cs typeface="NanumGothic"/>
              </a:rPr>
              <a:t>confidence 0.25 / NMS IoU 0.5</a:t>
            </a:r>
          </a:p>
        </p:txBody>
      </p:sp>
    </p:spTree>
    <p:extLst>
      <p:ext uri="{BB962C8B-B14F-4D97-AF65-F5344CB8AC3E}">
        <p14:creationId xmlns:p14="http://schemas.microsoft.com/office/powerpoint/2010/main" val="1710300734"/>
      </p:ext>
    </p:extLst>
  </p:cSld>
</p:sld>
</file>

<file path=ppt/slides/slide11.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8" name="실험과 성능 비교">
            <a:extLst xmlns:a="http://schemas.openxmlformats.org/drawingml/2006/main">
              <a:ext uri="{FF2B5EF4-FFF2-40B4-BE49-F238E27FC236}">
                <a16:creationId xmlns:a16="http://schemas.microsoft.com/office/drawing/2014/main" id="{FE187BCA-C9F5-4FD0-B752-E78423D6EE57}"/>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실험과 성능 비교</a:t>
            </a:r>
          </a:p>
        </p:txBody>
      </p:sp>
      <p:sp>
        <p:nvSpPr>
          <p:cNvPr id="2" name="일반 영상의 단일 필터 성능">
            <a:extLst xmlns:a="http://schemas.openxmlformats.org/drawingml/2006/main">
              <a:ext uri="{FF2B5EF4-FFF2-40B4-BE49-F238E27FC236}">
                <a16:creationId xmlns:a16="http://schemas.microsoft.com/office/drawing/2014/main" id="{E198F2B2-88C4-4E36-A5BB-47C5A99D3FC3}"/>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일반 영상의 단일 필터 성능</a:t>
            </a:r>
          </a:p>
        </p:txBody>
      </p:sp>
      <p:sp>
        <p:nvSpPr>
          <p:cNvPr id="3" name="경기대학교 컴퓨터과학과">
            <a:extLst xmlns:a="http://schemas.openxmlformats.org/drawingml/2006/main">
              <a:ext uri="{FF2B5EF4-FFF2-40B4-BE49-F238E27FC236}">
                <a16:creationId xmlns:a16="http://schemas.microsoft.com/office/drawing/2014/main" id="{C054E057-6E6E-4F4A-99BA-81A65C31AB63}"/>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11">
            <a:extLst xmlns:a="http://schemas.openxmlformats.org/drawingml/2006/main">
              <a:ext uri="{FF2B5EF4-FFF2-40B4-BE49-F238E27FC236}">
                <a16:creationId xmlns:a16="http://schemas.microsoft.com/office/drawing/2014/main" id="{72739252-3B1D-4200-9C0F-F55917AD5002}"/>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11</a:t>
            </a:r>
          </a:p>
        </p:txBody>
      </p:sp>
      <p:sp>
        <p:nvSpPr>
          <p:cNvPr id="5" name="mAP50-95 (%)  /  Clean  /  Seed ">
            <a:extLst xmlns:a="http://schemas.openxmlformats.org/drawingml/2006/main">
              <a:ext uri="{FF2B5EF4-FFF2-40B4-BE49-F238E27FC236}">
                <a16:creationId xmlns:a16="http://schemas.microsoft.com/office/drawing/2014/main" id="{B6D1CD45-34DE-44AE-9D7E-8B8B1D7594CE}"/>
              </a:ext>
            </a:extLst>
          </p:cNvPr>
          <p:cNvSpPr>
            <a:spLocks xmlns:a="http://schemas.openxmlformats.org/drawingml/2006/main" noGrp="1"/>
          </p:cNvSpPr>
          <p:nvPr/>
        </p:nvSpPr>
        <p:spPr>
          <a:xfrm xmlns:a="http://schemas.openxmlformats.org/drawingml/2006/main">
            <a:off x="609600" y="1495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AAB8CC"/>
                </a:solidFill>
                <a:latin typeface="NanumGothic"/>
                <a:ea typeface="NanumGothic"/>
                <a:cs typeface="NanumGothic"/>
              </a:defRPr>
            </a:defPPr>
            <a:lvl1pPr algn="l">
              <a:defRPr sz="1575" b="1">
                <a:solidFill>
                  <a:srgbClr val="AAB8CC"/>
                </a:solidFill>
                <a:latin typeface="NanumGothic"/>
                <a:ea typeface="NanumGothic"/>
                <a:cs typeface="NanumGothic"/>
              </a:defRPr>
            </a:lvl1pPr>
            <a:lvl2pPr algn="l">
              <a:defRPr sz="1575" b="1">
                <a:solidFill>
                  <a:srgbClr val="AAB8CC"/>
                </a:solidFill>
                <a:latin typeface="NanumGothic"/>
                <a:ea typeface="NanumGothic"/>
                <a:cs typeface="NanumGothic"/>
              </a:defRPr>
            </a:lvl2pPr>
            <a:lvl3pPr algn="l">
              <a:defRPr sz="1575" b="1">
                <a:solidFill>
                  <a:srgbClr val="AAB8CC"/>
                </a:solidFill>
                <a:latin typeface="NanumGothic"/>
                <a:ea typeface="NanumGothic"/>
                <a:cs typeface="NanumGothic"/>
              </a:defRPr>
            </a:lvl3pPr>
            <a:lvl4pPr algn="l">
              <a:defRPr sz="1575" b="1">
                <a:solidFill>
                  <a:srgbClr val="AAB8CC"/>
                </a:solidFill>
                <a:latin typeface="NanumGothic"/>
                <a:ea typeface="NanumGothic"/>
                <a:cs typeface="NanumGothic"/>
              </a:defRPr>
            </a:lvl4pPr>
            <a:lvl5pPr algn="l">
              <a:defRPr sz="1575" b="1">
                <a:solidFill>
                  <a:srgbClr val="AAB8CC"/>
                </a:solidFill>
                <a:latin typeface="NanumGothic"/>
                <a:ea typeface="NanumGothic"/>
                <a:cs typeface="NanumGothic"/>
              </a:defRPr>
            </a:lvl5pPr>
            <a:lvl6pPr algn="l">
              <a:defRPr sz="1575" b="1">
                <a:solidFill>
                  <a:srgbClr val="AAB8CC"/>
                </a:solidFill>
                <a:latin typeface="NanumGothic"/>
                <a:ea typeface="NanumGothic"/>
                <a:cs typeface="NanumGothic"/>
              </a:defRPr>
            </a:lvl6pPr>
            <a:lvl7pPr algn="l">
              <a:defRPr sz="1575" b="1">
                <a:solidFill>
                  <a:srgbClr val="AAB8CC"/>
                </a:solidFill>
                <a:latin typeface="NanumGothic"/>
                <a:ea typeface="NanumGothic"/>
                <a:cs typeface="NanumGothic"/>
              </a:defRPr>
            </a:lvl7pPr>
            <a:lvl8pPr algn="l">
              <a:defRPr sz="1575" b="1">
                <a:solidFill>
                  <a:srgbClr val="AAB8CC"/>
                </a:solidFill>
                <a:latin typeface="NanumGothic"/>
                <a:ea typeface="NanumGothic"/>
                <a:cs typeface="NanumGothic"/>
              </a:defRPr>
            </a:lvl8pPr>
            <a:lvl9pPr algn="l">
              <a:defRPr sz="1575" b="1">
                <a:solidFill>
                  <a:srgbClr val="AAB8CC"/>
                </a:solidFill>
                <a:latin typeface="NanumGothic"/>
                <a:ea typeface="NanumGothic"/>
                <a:cs typeface="NanumGothic"/>
              </a:defRPr>
            </a:lvl9pPr>
          </a:lstStyle>
          <a:p xmlns:a="http://schemas.openxmlformats.org/drawingml/2006/main">
            <a:pPr algn="l">
              <a:defRPr sz="1575" b="1">
                <a:solidFill>
                  <a:srgbClr val="AAB8CC"/>
                </a:solidFill>
                <a:latin typeface="NanumGothic"/>
                <a:ea typeface="NanumGothic"/>
                <a:cs typeface="NanumGothic"/>
              </a:defRPr>
            </a:pPr>
            <a:r>
              <a:rPr sz="1575" b="1">
                <a:solidFill>
                  <a:srgbClr val="AAB8CC"/>
                </a:solidFill>
                <a:latin typeface="NanumGothic"/>
                <a:ea typeface="NanumGothic"/>
                <a:cs typeface="NanumGothic"/>
              </a:rPr>
              <a:t>mAP50-95 (%)  /  Clean  /  Seed 42</a:t>
            </a:r>
          </a:p>
        </p:txBody>
      </p:sp>
      <p:graphicFrame>
        <p:nvGraphicFramePr>
          <p:cNvPr id="6" name="Chart">
            <a:extLst xmlns:a="http://schemas.openxmlformats.org/drawingml/2006/main">
              <a:ext uri="{FF2B5EF4-FFF2-40B4-BE49-F238E27FC236}">
                <a16:creationId xmlns:a16="http://schemas.microsoft.com/office/drawing/2014/main" id="{4159A835-DA77-4599-9BA3-9526D6685D79}"/>
              </a:ext>
            </a:extLst>
          </p:cNvPr>
          <p:cNvGraphicFramePr/>
          <p:nvPr/>
        </p:nvGraphicFramePr>
        <p:xfrm>
          <a:off xmlns:a="http://schemas.openxmlformats.org/drawingml/2006/main" x="476250" y="1962150"/>
          <a:ext xmlns:a="http://schemas.openxmlformats.org/drawingml/2006/main" cx="11144250" cy="3667125"/>
        </p:xfrm>
        <a:graphic xmlns:a="http://schemas.openxmlformats.org/drawingml/2006/main">
          <a:graphicData uri="http://schemas.openxmlformats.org/drawingml/2006/chart">
            <c:chart xmlns:r="http://schemas.openxmlformats.org/officeDocument/2006/relationships" xmlns:c="http://schemas.openxmlformats.org/drawingml/2006/chart" r:id="R345a9e6848144ca4"/>
          </a:graphicData>
        </a:graphic>
      </p:graphicFrame>
      <p:sp>
        <p:nvSpPr>
          <p:cNvPr id="7" name="Gamma 0.3 96.70%     Original 96">
            <a:extLst xmlns:a="http://schemas.openxmlformats.org/drawingml/2006/main">
              <a:ext uri="{FF2B5EF4-FFF2-40B4-BE49-F238E27FC236}">
                <a16:creationId xmlns:a16="http://schemas.microsoft.com/office/drawing/2014/main" id="{5A9DAFBD-D646-4D4F-9690-8D2FFD75E2E6}"/>
              </a:ext>
            </a:extLst>
          </p:cNvPr>
          <p:cNvSpPr>
            <a:spLocks xmlns:a="http://schemas.openxmlformats.org/drawingml/2006/main" noGrp="1"/>
          </p:cNvSpPr>
          <p:nvPr/>
        </p:nvSpPr>
        <p:spPr>
          <a:xfrm xmlns:a="http://schemas.openxmlformats.org/drawingml/2006/main">
            <a:off x="609600" y="5886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65D9F3"/>
                </a:solidFill>
                <a:latin typeface="NanumGothic"/>
                <a:ea typeface="NanumGothic"/>
                <a:cs typeface="NanumGothic"/>
              </a:defRPr>
            </a:defPPr>
            <a:lvl1pPr algn="l">
              <a:defRPr sz="2025" b="1">
                <a:solidFill>
                  <a:srgbClr val="65D9F3"/>
                </a:solidFill>
                <a:latin typeface="NanumGothic"/>
                <a:ea typeface="NanumGothic"/>
                <a:cs typeface="NanumGothic"/>
              </a:defRPr>
            </a:lvl1pPr>
            <a:lvl2pPr algn="l">
              <a:defRPr sz="2025" b="1">
                <a:solidFill>
                  <a:srgbClr val="65D9F3"/>
                </a:solidFill>
                <a:latin typeface="NanumGothic"/>
                <a:ea typeface="NanumGothic"/>
                <a:cs typeface="NanumGothic"/>
              </a:defRPr>
            </a:lvl2pPr>
            <a:lvl3pPr algn="l">
              <a:defRPr sz="2025" b="1">
                <a:solidFill>
                  <a:srgbClr val="65D9F3"/>
                </a:solidFill>
                <a:latin typeface="NanumGothic"/>
                <a:ea typeface="NanumGothic"/>
                <a:cs typeface="NanumGothic"/>
              </a:defRPr>
            </a:lvl3pPr>
            <a:lvl4pPr algn="l">
              <a:defRPr sz="2025" b="1">
                <a:solidFill>
                  <a:srgbClr val="65D9F3"/>
                </a:solidFill>
                <a:latin typeface="NanumGothic"/>
                <a:ea typeface="NanumGothic"/>
                <a:cs typeface="NanumGothic"/>
              </a:defRPr>
            </a:lvl4pPr>
            <a:lvl5pPr algn="l">
              <a:defRPr sz="2025" b="1">
                <a:solidFill>
                  <a:srgbClr val="65D9F3"/>
                </a:solidFill>
                <a:latin typeface="NanumGothic"/>
                <a:ea typeface="NanumGothic"/>
                <a:cs typeface="NanumGothic"/>
              </a:defRPr>
            </a:lvl5pPr>
            <a:lvl6pPr algn="l">
              <a:defRPr sz="2025" b="1">
                <a:solidFill>
                  <a:srgbClr val="65D9F3"/>
                </a:solidFill>
                <a:latin typeface="NanumGothic"/>
                <a:ea typeface="NanumGothic"/>
                <a:cs typeface="NanumGothic"/>
              </a:defRPr>
            </a:lvl6pPr>
            <a:lvl7pPr algn="l">
              <a:defRPr sz="2025" b="1">
                <a:solidFill>
                  <a:srgbClr val="65D9F3"/>
                </a:solidFill>
                <a:latin typeface="NanumGothic"/>
                <a:ea typeface="NanumGothic"/>
                <a:cs typeface="NanumGothic"/>
              </a:defRPr>
            </a:lvl7pPr>
            <a:lvl8pPr algn="l">
              <a:defRPr sz="2025" b="1">
                <a:solidFill>
                  <a:srgbClr val="65D9F3"/>
                </a:solidFill>
                <a:latin typeface="NanumGothic"/>
                <a:ea typeface="NanumGothic"/>
                <a:cs typeface="NanumGothic"/>
              </a:defRPr>
            </a:lvl8pPr>
            <a:lvl9pPr algn="l">
              <a:defRPr sz="2025" b="1">
                <a:solidFill>
                  <a:srgbClr val="65D9F3"/>
                </a:solidFill>
                <a:latin typeface="NanumGothic"/>
                <a:ea typeface="NanumGothic"/>
                <a:cs typeface="NanumGothic"/>
              </a:defRPr>
            </a:lvl9pPr>
          </a:lstStyle>
          <a:p xmlns:a="http://schemas.openxmlformats.org/drawingml/2006/main">
            <a:pPr algn="l">
              <a:defRPr sz="2025" b="1">
                <a:solidFill>
                  <a:srgbClr val="65D9F3"/>
                </a:solidFill>
                <a:latin typeface="NanumGothic"/>
                <a:ea typeface="NanumGothic"/>
                <a:cs typeface="NanumGothic"/>
              </a:defRPr>
            </a:pPr>
            <a:r>
              <a:rPr sz="2025" b="1">
                <a:solidFill>
                  <a:srgbClr val="65D9F3"/>
                </a:solidFill>
                <a:latin typeface="NanumGothic"/>
                <a:ea typeface="NanumGothic"/>
                <a:cs typeface="NanumGothic"/>
              </a:rPr>
              <a:t>Gamma 0.3 96.70%     Original 96.53%     차이 +0.17%p</a:t>
            </a:r>
          </a:p>
        </p:txBody>
      </p:sp>
    </p:spTree>
    <p:extLst>
      <p:ext uri="{BB962C8B-B14F-4D97-AF65-F5344CB8AC3E}">
        <p14:creationId xmlns:p14="http://schemas.microsoft.com/office/powerpoint/2010/main" val="146831820"/>
      </p:ext>
    </p:extLst>
  </p:cSld>
</p:sld>
</file>

<file path=ppt/slides/slide12.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8" name="실험과 성능 비교">
            <a:extLst xmlns:a="http://schemas.openxmlformats.org/drawingml/2006/main">
              <a:ext uri="{FF2B5EF4-FFF2-40B4-BE49-F238E27FC236}">
                <a16:creationId xmlns:a16="http://schemas.microsoft.com/office/drawing/2014/main" id="{4E3E9E61-66C7-4DF3-8679-C5A022B45418}"/>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실험과 성능 비교</a:t>
            </a:r>
          </a:p>
        </p:txBody>
      </p:sp>
      <p:sp>
        <p:nvSpPr>
          <p:cNvPr id="2" name="복합 필터와 구성 필터 비교">
            <a:extLst xmlns:a="http://schemas.openxmlformats.org/drawingml/2006/main">
              <a:ext uri="{FF2B5EF4-FFF2-40B4-BE49-F238E27FC236}">
                <a16:creationId xmlns:a16="http://schemas.microsoft.com/office/drawing/2014/main" id="{F3F8C274-A5CA-4AF5-848E-983BCC07A605}"/>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복합 필터와 구성 필터 비교</a:t>
            </a:r>
          </a:p>
        </p:txBody>
      </p:sp>
      <p:sp>
        <p:nvSpPr>
          <p:cNvPr id="3" name="경기대학교 컴퓨터과학과">
            <a:extLst xmlns:a="http://schemas.openxmlformats.org/drawingml/2006/main">
              <a:ext uri="{FF2B5EF4-FFF2-40B4-BE49-F238E27FC236}">
                <a16:creationId xmlns:a16="http://schemas.microsoft.com/office/drawing/2014/main" id="{57105D4D-5865-4E47-9B85-2C2B34E06A65}"/>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12">
            <a:extLst xmlns:a="http://schemas.openxmlformats.org/drawingml/2006/main">
              <a:ext uri="{FF2B5EF4-FFF2-40B4-BE49-F238E27FC236}">
                <a16:creationId xmlns:a16="http://schemas.microsoft.com/office/drawing/2014/main" id="{9159424E-F85B-4566-866D-973AE61DE37A}"/>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12</a:t>
            </a:r>
          </a:p>
        </p:txBody>
      </p:sp>
      <p:sp>
        <p:nvSpPr>
          <p:cNvPr id="5" name="mAP50-95 (%)  /  Clean  /  Seed ">
            <a:extLst xmlns:a="http://schemas.openxmlformats.org/drawingml/2006/main">
              <a:ext uri="{FF2B5EF4-FFF2-40B4-BE49-F238E27FC236}">
                <a16:creationId xmlns:a16="http://schemas.microsoft.com/office/drawing/2014/main" id="{97925374-6169-475D-B2C8-6AA1AE388A74}"/>
              </a:ext>
            </a:extLst>
          </p:cNvPr>
          <p:cNvSpPr>
            <a:spLocks xmlns:a="http://schemas.openxmlformats.org/drawingml/2006/main" noGrp="1"/>
          </p:cNvSpPr>
          <p:nvPr/>
        </p:nvSpPr>
        <p:spPr>
          <a:xfrm xmlns:a="http://schemas.openxmlformats.org/drawingml/2006/main">
            <a:off x="609600" y="1495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AAB8CC"/>
                </a:solidFill>
                <a:latin typeface="NanumGothic"/>
                <a:ea typeface="NanumGothic"/>
                <a:cs typeface="NanumGothic"/>
              </a:defRPr>
            </a:defPPr>
            <a:lvl1pPr algn="l">
              <a:defRPr sz="1575" b="1">
                <a:solidFill>
                  <a:srgbClr val="AAB8CC"/>
                </a:solidFill>
                <a:latin typeface="NanumGothic"/>
                <a:ea typeface="NanumGothic"/>
                <a:cs typeface="NanumGothic"/>
              </a:defRPr>
            </a:lvl1pPr>
            <a:lvl2pPr algn="l">
              <a:defRPr sz="1575" b="1">
                <a:solidFill>
                  <a:srgbClr val="AAB8CC"/>
                </a:solidFill>
                <a:latin typeface="NanumGothic"/>
                <a:ea typeface="NanumGothic"/>
                <a:cs typeface="NanumGothic"/>
              </a:defRPr>
            </a:lvl2pPr>
            <a:lvl3pPr algn="l">
              <a:defRPr sz="1575" b="1">
                <a:solidFill>
                  <a:srgbClr val="AAB8CC"/>
                </a:solidFill>
                <a:latin typeface="NanumGothic"/>
                <a:ea typeface="NanumGothic"/>
                <a:cs typeface="NanumGothic"/>
              </a:defRPr>
            </a:lvl3pPr>
            <a:lvl4pPr algn="l">
              <a:defRPr sz="1575" b="1">
                <a:solidFill>
                  <a:srgbClr val="AAB8CC"/>
                </a:solidFill>
                <a:latin typeface="NanumGothic"/>
                <a:ea typeface="NanumGothic"/>
                <a:cs typeface="NanumGothic"/>
              </a:defRPr>
            </a:lvl4pPr>
            <a:lvl5pPr algn="l">
              <a:defRPr sz="1575" b="1">
                <a:solidFill>
                  <a:srgbClr val="AAB8CC"/>
                </a:solidFill>
                <a:latin typeface="NanumGothic"/>
                <a:ea typeface="NanumGothic"/>
                <a:cs typeface="NanumGothic"/>
              </a:defRPr>
            </a:lvl5pPr>
            <a:lvl6pPr algn="l">
              <a:defRPr sz="1575" b="1">
                <a:solidFill>
                  <a:srgbClr val="AAB8CC"/>
                </a:solidFill>
                <a:latin typeface="NanumGothic"/>
                <a:ea typeface="NanumGothic"/>
                <a:cs typeface="NanumGothic"/>
              </a:defRPr>
            </a:lvl6pPr>
            <a:lvl7pPr algn="l">
              <a:defRPr sz="1575" b="1">
                <a:solidFill>
                  <a:srgbClr val="AAB8CC"/>
                </a:solidFill>
                <a:latin typeface="NanumGothic"/>
                <a:ea typeface="NanumGothic"/>
                <a:cs typeface="NanumGothic"/>
              </a:defRPr>
            </a:lvl7pPr>
            <a:lvl8pPr algn="l">
              <a:defRPr sz="1575" b="1">
                <a:solidFill>
                  <a:srgbClr val="AAB8CC"/>
                </a:solidFill>
                <a:latin typeface="NanumGothic"/>
                <a:ea typeface="NanumGothic"/>
                <a:cs typeface="NanumGothic"/>
              </a:defRPr>
            </a:lvl8pPr>
            <a:lvl9pPr algn="l">
              <a:defRPr sz="1575" b="1">
                <a:solidFill>
                  <a:srgbClr val="AAB8CC"/>
                </a:solidFill>
                <a:latin typeface="NanumGothic"/>
                <a:ea typeface="NanumGothic"/>
                <a:cs typeface="NanumGothic"/>
              </a:defRPr>
            </a:lvl9pPr>
          </a:lstStyle>
          <a:p xmlns:a="http://schemas.openxmlformats.org/drawingml/2006/main">
            <a:pPr algn="l">
              <a:defRPr sz="1575" b="1">
                <a:solidFill>
                  <a:srgbClr val="AAB8CC"/>
                </a:solidFill>
                <a:latin typeface="NanumGothic"/>
                <a:ea typeface="NanumGothic"/>
                <a:cs typeface="NanumGothic"/>
              </a:defRPr>
            </a:pPr>
            <a:r>
              <a:rPr sz="1575" b="1">
                <a:solidFill>
                  <a:srgbClr val="AAB8CC"/>
                </a:solidFill>
                <a:latin typeface="NanumGothic"/>
                <a:ea typeface="NanumGothic"/>
                <a:cs typeface="NanumGothic"/>
              </a:rPr>
              <a:t>mAP50-95 (%)  /  Clean  /  Seed 42</a:t>
            </a:r>
          </a:p>
        </p:txBody>
      </p:sp>
      <p:graphicFrame>
        <p:nvGraphicFramePr>
          <p:cNvPr id="6" name="Chart">
            <a:extLst xmlns:a="http://schemas.openxmlformats.org/drawingml/2006/main">
              <a:ext uri="{FF2B5EF4-FFF2-40B4-BE49-F238E27FC236}">
                <a16:creationId xmlns:a16="http://schemas.microsoft.com/office/drawing/2014/main" id="{11321E03-7047-445F-BE10-3E0A9C6350A1}"/>
              </a:ext>
            </a:extLst>
          </p:cNvPr>
          <p:cNvGraphicFramePr/>
          <p:nvPr/>
        </p:nvGraphicFramePr>
        <p:xfrm>
          <a:off xmlns:a="http://schemas.openxmlformats.org/drawingml/2006/main" x="609600" y="1971675"/>
          <a:ext xmlns:a="http://schemas.openxmlformats.org/drawingml/2006/main" cx="10972800" cy="3571875"/>
        </p:xfrm>
        <a:graphic xmlns:a="http://schemas.openxmlformats.org/drawingml/2006/main">
          <a:graphicData uri="http://schemas.openxmlformats.org/drawingml/2006/chart">
            <c:chart xmlns:r="http://schemas.openxmlformats.org/officeDocument/2006/relationships" xmlns:c="http://schemas.openxmlformats.org/drawingml/2006/chart" r:id="Rcc9239de05cb400b"/>
          </a:graphicData>
        </a:graphic>
      </p:graphicFrame>
      <p:sp>
        <p:nvSpPr>
          <p:cNvPr id="7" name="5개 조합 모두 더 우수한 구성 필터의 mAP를 넘지 못함">
            <a:extLst xmlns:a="http://schemas.openxmlformats.org/drawingml/2006/main">
              <a:ext uri="{FF2B5EF4-FFF2-40B4-BE49-F238E27FC236}">
                <a16:creationId xmlns:a16="http://schemas.microsoft.com/office/drawing/2014/main" id="{2F836BD2-B72B-4579-8AB1-CA4527F95C8E}"/>
              </a:ext>
            </a:extLst>
          </p:cNvPr>
          <p:cNvSpPr>
            <a:spLocks xmlns:a="http://schemas.openxmlformats.org/drawingml/2006/main" noGrp="1"/>
          </p:cNvSpPr>
          <p:nvPr/>
        </p:nvSpPr>
        <p:spPr>
          <a:xfrm xmlns:a="http://schemas.openxmlformats.org/drawingml/2006/main">
            <a:off x="609600" y="5886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65D9F3"/>
                </a:solidFill>
                <a:latin typeface="NanumGothic"/>
                <a:ea typeface="NanumGothic"/>
                <a:cs typeface="NanumGothic"/>
              </a:defRPr>
            </a:defPPr>
            <a:lvl1pPr algn="l">
              <a:defRPr sz="2025" b="1">
                <a:solidFill>
                  <a:srgbClr val="65D9F3"/>
                </a:solidFill>
                <a:latin typeface="NanumGothic"/>
                <a:ea typeface="NanumGothic"/>
                <a:cs typeface="NanumGothic"/>
              </a:defRPr>
            </a:lvl1pPr>
            <a:lvl2pPr algn="l">
              <a:defRPr sz="2025" b="1">
                <a:solidFill>
                  <a:srgbClr val="65D9F3"/>
                </a:solidFill>
                <a:latin typeface="NanumGothic"/>
                <a:ea typeface="NanumGothic"/>
                <a:cs typeface="NanumGothic"/>
              </a:defRPr>
            </a:lvl2pPr>
            <a:lvl3pPr algn="l">
              <a:defRPr sz="2025" b="1">
                <a:solidFill>
                  <a:srgbClr val="65D9F3"/>
                </a:solidFill>
                <a:latin typeface="NanumGothic"/>
                <a:ea typeface="NanumGothic"/>
                <a:cs typeface="NanumGothic"/>
              </a:defRPr>
            </a:lvl3pPr>
            <a:lvl4pPr algn="l">
              <a:defRPr sz="2025" b="1">
                <a:solidFill>
                  <a:srgbClr val="65D9F3"/>
                </a:solidFill>
                <a:latin typeface="NanumGothic"/>
                <a:ea typeface="NanumGothic"/>
                <a:cs typeface="NanumGothic"/>
              </a:defRPr>
            </a:lvl4pPr>
            <a:lvl5pPr algn="l">
              <a:defRPr sz="2025" b="1">
                <a:solidFill>
                  <a:srgbClr val="65D9F3"/>
                </a:solidFill>
                <a:latin typeface="NanumGothic"/>
                <a:ea typeface="NanumGothic"/>
                <a:cs typeface="NanumGothic"/>
              </a:defRPr>
            </a:lvl5pPr>
            <a:lvl6pPr algn="l">
              <a:defRPr sz="2025" b="1">
                <a:solidFill>
                  <a:srgbClr val="65D9F3"/>
                </a:solidFill>
                <a:latin typeface="NanumGothic"/>
                <a:ea typeface="NanumGothic"/>
                <a:cs typeface="NanumGothic"/>
              </a:defRPr>
            </a:lvl6pPr>
            <a:lvl7pPr algn="l">
              <a:defRPr sz="2025" b="1">
                <a:solidFill>
                  <a:srgbClr val="65D9F3"/>
                </a:solidFill>
                <a:latin typeface="NanumGothic"/>
                <a:ea typeface="NanumGothic"/>
                <a:cs typeface="NanumGothic"/>
              </a:defRPr>
            </a:lvl7pPr>
            <a:lvl8pPr algn="l">
              <a:defRPr sz="2025" b="1">
                <a:solidFill>
                  <a:srgbClr val="65D9F3"/>
                </a:solidFill>
                <a:latin typeface="NanumGothic"/>
                <a:ea typeface="NanumGothic"/>
                <a:cs typeface="NanumGothic"/>
              </a:defRPr>
            </a:lvl8pPr>
            <a:lvl9pPr algn="l">
              <a:defRPr sz="2025" b="1">
                <a:solidFill>
                  <a:srgbClr val="65D9F3"/>
                </a:solidFill>
                <a:latin typeface="NanumGothic"/>
                <a:ea typeface="NanumGothic"/>
                <a:cs typeface="NanumGothic"/>
              </a:defRPr>
            </a:lvl9pPr>
          </a:lstStyle>
          <a:p xmlns:a="http://schemas.openxmlformats.org/drawingml/2006/main">
            <a:pPr algn="l">
              <a:defRPr sz="2025" b="1">
                <a:solidFill>
                  <a:srgbClr val="65D9F3"/>
                </a:solidFill>
                <a:latin typeface="NanumGothic"/>
                <a:ea typeface="NanumGothic"/>
                <a:cs typeface="NanumGothic"/>
              </a:defRPr>
            </a:pPr>
            <a:r>
              <a:rPr sz="2025" b="1">
                <a:solidFill>
                  <a:srgbClr val="65D9F3"/>
                </a:solidFill>
                <a:latin typeface="NanumGothic"/>
                <a:ea typeface="NanumGothic"/>
                <a:cs typeface="NanumGothic"/>
              </a:rPr>
              <a:t>5개 조합 모두 더 우수한 구성 필터의 mAP를 넘지 못함</a:t>
            </a:r>
          </a:p>
        </p:txBody>
      </p:sp>
    </p:spTree>
    <p:extLst>
      <p:ext uri="{BB962C8B-B14F-4D97-AF65-F5344CB8AC3E}">
        <p14:creationId xmlns:p14="http://schemas.microsoft.com/office/powerpoint/2010/main" val="2110386464"/>
      </p:ext>
    </p:extLst>
  </p:cSld>
</p:sld>
</file>

<file path=ppt/slides/slide13.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8" name="실험과 성능 비교">
            <a:extLst xmlns:a="http://schemas.openxmlformats.org/drawingml/2006/main">
              <a:ext uri="{FF2B5EF4-FFF2-40B4-BE49-F238E27FC236}">
                <a16:creationId xmlns:a16="http://schemas.microsoft.com/office/drawing/2014/main" id="{A50221AB-5BE8-4BC6-86E2-F5DC319C17A1}"/>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실험과 성능 비교</a:t>
            </a:r>
          </a:p>
        </p:txBody>
      </p:sp>
      <p:sp>
        <p:nvSpPr>
          <p:cNvPr id="2" name="평가 지표에 따른 순위 차이">
            <a:extLst xmlns:a="http://schemas.openxmlformats.org/drawingml/2006/main">
              <a:ext uri="{FF2B5EF4-FFF2-40B4-BE49-F238E27FC236}">
                <a16:creationId xmlns:a16="http://schemas.microsoft.com/office/drawing/2014/main" id="{70BD1CCB-2A3C-4D9F-9640-ECEBB4374D29}"/>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평가 지표에 따른 순위 차이</a:t>
            </a:r>
          </a:p>
        </p:txBody>
      </p:sp>
      <p:sp>
        <p:nvSpPr>
          <p:cNvPr id="3" name="경기대학교 컴퓨터과학과">
            <a:extLst xmlns:a="http://schemas.openxmlformats.org/drawingml/2006/main">
              <a:ext uri="{FF2B5EF4-FFF2-40B4-BE49-F238E27FC236}">
                <a16:creationId xmlns:a16="http://schemas.microsoft.com/office/drawing/2014/main" id="{83480DF9-3918-43CC-8312-7179D6BC738F}"/>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13">
            <a:extLst xmlns:a="http://schemas.openxmlformats.org/drawingml/2006/main">
              <a:ext uri="{FF2B5EF4-FFF2-40B4-BE49-F238E27FC236}">
                <a16:creationId xmlns:a16="http://schemas.microsoft.com/office/drawing/2014/main" id="{795E8A87-CB7B-4248-AF8E-C9808D6F873F}"/>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13</a:t>
            </a:r>
          </a:p>
        </p:txBody>
      </p:sp>
      <p:sp>
        <p:nvSpPr>
          <p:cNvPr id="5" name="Clean / Seed 42">
            <a:extLst xmlns:a="http://schemas.openxmlformats.org/drawingml/2006/main">
              <a:ext uri="{FF2B5EF4-FFF2-40B4-BE49-F238E27FC236}">
                <a16:creationId xmlns:a16="http://schemas.microsoft.com/office/drawing/2014/main" id="{647962CC-7F06-4449-A96B-DF1A87AC95BD}"/>
              </a:ext>
            </a:extLst>
          </p:cNvPr>
          <p:cNvSpPr>
            <a:spLocks xmlns:a="http://schemas.openxmlformats.org/drawingml/2006/main" noGrp="1"/>
          </p:cNvSpPr>
          <p:nvPr/>
        </p:nvSpPr>
        <p:spPr>
          <a:xfrm xmlns:a="http://schemas.openxmlformats.org/drawingml/2006/main">
            <a:off x="609600" y="1495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AAB8CC"/>
                </a:solidFill>
                <a:latin typeface="NanumGothic"/>
                <a:ea typeface="NanumGothic"/>
                <a:cs typeface="NanumGothic"/>
              </a:defRPr>
            </a:defPPr>
            <a:lvl1pPr algn="l">
              <a:defRPr sz="1575" b="1">
                <a:solidFill>
                  <a:srgbClr val="AAB8CC"/>
                </a:solidFill>
                <a:latin typeface="NanumGothic"/>
                <a:ea typeface="NanumGothic"/>
                <a:cs typeface="NanumGothic"/>
              </a:defRPr>
            </a:lvl1pPr>
            <a:lvl2pPr algn="l">
              <a:defRPr sz="1575" b="1">
                <a:solidFill>
                  <a:srgbClr val="AAB8CC"/>
                </a:solidFill>
                <a:latin typeface="NanumGothic"/>
                <a:ea typeface="NanumGothic"/>
                <a:cs typeface="NanumGothic"/>
              </a:defRPr>
            </a:lvl2pPr>
            <a:lvl3pPr algn="l">
              <a:defRPr sz="1575" b="1">
                <a:solidFill>
                  <a:srgbClr val="AAB8CC"/>
                </a:solidFill>
                <a:latin typeface="NanumGothic"/>
                <a:ea typeface="NanumGothic"/>
                <a:cs typeface="NanumGothic"/>
              </a:defRPr>
            </a:lvl3pPr>
            <a:lvl4pPr algn="l">
              <a:defRPr sz="1575" b="1">
                <a:solidFill>
                  <a:srgbClr val="AAB8CC"/>
                </a:solidFill>
                <a:latin typeface="NanumGothic"/>
                <a:ea typeface="NanumGothic"/>
                <a:cs typeface="NanumGothic"/>
              </a:defRPr>
            </a:lvl4pPr>
            <a:lvl5pPr algn="l">
              <a:defRPr sz="1575" b="1">
                <a:solidFill>
                  <a:srgbClr val="AAB8CC"/>
                </a:solidFill>
                <a:latin typeface="NanumGothic"/>
                <a:ea typeface="NanumGothic"/>
                <a:cs typeface="NanumGothic"/>
              </a:defRPr>
            </a:lvl5pPr>
            <a:lvl6pPr algn="l">
              <a:defRPr sz="1575" b="1">
                <a:solidFill>
                  <a:srgbClr val="AAB8CC"/>
                </a:solidFill>
                <a:latin typeface="NanumGothic"/>
                <a:ea typeface="NanumGothic"/>
                <a:cs typeface="NanumGothic"/>
              </a:defRPr>
            </a:lvl6pPr>
            <a:lvl7pPr algn="l">
              <a:defRPr sz="1575" b="1">
                <a:solidFill>
                  <a:srgbClr val="AAB8CC"/>
                </a:solidFill>
                <a:latin typeface="NanumGothic"/>
                <a:ea typeface="NanumGothic"/>
                <a:cs typeface="NanumGothic"/>
              </a:defRPr>
            </a:lvl7pPr>
            <a:lvl8pPr algn="l">
              <a:defRPr sz="1575" b="1">
                <a:solidFill>
                  <a:srgbClr val="AAB8CC"/>
                </a:solidFill>
                <a:latin typeface="NanumGothic"/>
                <a:ea typeface="NanumGothic"/>
                <a:cs typeface="NanumGothic"/>
              </a:defRPr>
            </a:lvl8pPr>
            <a:lvl9pPr algn="l">
              <a:defRPr sz="1575" b="1">
                <a:solidFill>
                  <a:srgbClr val="AAB8CC"/>
                </a:solidFill>
                <a:latin typeface="NanumGothic"/>
                <a:ea typeface="NanumGothic"/>
                <a:cs typeface="NanumGothic"/>
              </a:defRPr>
            </a:lvl9pPr>
          </a:lstStyle>
          <a:p xmlns:a="http://schemas.openxmlformats.org/drawingml/2006/main">
            <a:pPr algn="l">
              <a:defRPr sz="1575" b="1">
                <a:solidFill>
                  <a:srgbClr val="AAB8CC"/>
                </a:solidFill>
                <a:latin typeface="NanumGothic"/>
                <a:ea typeface="NanumGothic"/>
                <a:cs typeface="NanumGothic"/>
              </a:defRPr>
            </a:pPr>
            <a:r>
              <a:rPr sz="1575" b="1">
                <a:solidFill>
                  <a:srgbClr val="AAB8CC"/>
                </a:solidFill>
                <a:latin typeface="NanumGothic"/>
                <a:ea typeface="NanumGothic"/>
                <a:cs typeface="NanumGothic"/>
              </a:rPr>
              <a:t>Clean / Seed 42</a:t>
            </a:r>
          </a:p>
        </p:txBody>
      </p:sp>
      <p:graphicFrame>
        <p:nvGraphicFramePr>
          <p:cNvPr id="6" name="Chart">
            <a:extLst xmlns:a="http://schemas.openxmlformats.org/drawingml/2006/main">
              <a:ext uri="{FF2B5EF4-FFF2-40B4-BE49-F238E27FC236}">
                <a16:creationId xmlns:a16="http://schemas.microsoft.com/office/drawing/2014/main" id="{F73175D3-9427-4A93-ABB2-5F09FDB1BB84}"/>
              </a:ext>
            </a:extLst>
          </p:cNvPr>
          <p:cNvGraphicFramePr/>
          <p:nvPr/>
        </p:nvGraphicFramePr>
        <p:xfrm>
          <a:off xmlns:a="http://schemas.openxmlformats.org/drawingml/2006/main" x="609600" y="1971675"/>
          <a:ext xmlns:a="http://schemas.openxmlformats.org/drawingml/2006/main" cx="10972800" cy="3571875"/>
        </p:xfrm>
        <a:graphic xmlns:a="http://schemas.openxmlformats.org/drawingml/2006/main">
          <a:graphicData uri="http://schemas.openxmlformats.org/drawingml/2006/chart">
            <c:chart xmlns:r="http://schemas.openxmlformats.org/officeDocument/2006/relationships" xmlns:c="http://schemas.openxmlformats.org/drawingml/2006/chart" r:id="R706467d92de7442d"/>
          </a:graphicData>
        </a:graphic>
      </p:graphicFrame>
      <p:sp>
        <p:nvSpPr>
          <p:cNvPr id="7" name="대응 기준과 추론 임계값이 달라 지표별 해석이 필요">
            <a:extLst xmlns:a="http://schemas.openxmlformats.org/drawingml/2006/main">
              <a:ext uri="{FF2B5EF4-FFF2-40B4-BE49-F238E27FC236}">
                <a16:creationId xmlns:a16="http://schemas.microsoft.com/office/drawing/2014/main" id="{6117BC0F-34F7-4997-974E-4620DFEB56E4}"/>
              </a:ext>
            </a:extLst>
          </p:cNvPr>
          <p:cNvSpPr>
            <a:spLocks xmlns:a="http://schemas.openxmlformats.org/drawingml/2006/main" noGrp="1"/>
          </p:cNvSpPr>
          <p:nvPr/>
        </p:nvSpPr>
        <p:spPr>
          <a:xfrm xmlns:a="http://schemas.openxmlformats.org/drawingml/2006/main">
            <a:off x="609600" y="5886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65D9F3"/>
                </a:solidFill>
                <a:latin typeface="NanumGothic"/>
                <a:ea typeface="NanumGothic"/>
                <a:cs typeface="NanumGothic"/>
              </a:defRPr>
            </a:defPPr>
            <a:lvl1pPr algn="l">
              <a:defRPr sz="2025" b="1">
                <a:solidFill>
                  <a:srgbClr val="65D9F3"/>
                </a:solidFill>
                <a:latin typeface="NanumGothic"/>
                <a:ea typeface="NanumGothic"/>
                <a:cs typeface="NanumGothic"/>
              </a:defRPr>
            </a:lvl1pPr>
            <a:lvl2pPr algn="l">
              <a:defRPr sz="2025" b="1">
                <a:solidFill>
                  <a:srgbClr val="65D9F3"/>
                </a:solidFill>
                <a:latin typeface="NanumGothic"/>
                <a:ea typeface="NanumGothic"/>
                <a:cs typeface="NanumGothic"/>
              </a:defRPr>
            </a:lvl2pPr>
            <a:lvl3pPr algn="l">
              <a:defRPr sz="2025" b="1">
                <a:solidFill>
                  <a:srgbClr val="65D9F3"/>
                </a:solidFill>
                <a:latin typeface="NanumGothic"/>
                <a:ea typeface="NanumGothic"/>
                <a:cs typeface="NanumGothic"/>
              </a:defRPr>
            </a:lvl3pPr>
            <a:lvl4pPr algn="l">
              <a:defRPr sz="2025" b="1">
                <a:solidFill>
                  <a:srgbClr val="65D9F3"/>
                </a:solidFill>
                <a:latin typeface="NanumGothic"/>
                <a:ea typeface="NanumGothic"/>
                <a:cs typeface="NanumGothic"/>
              </a:defRPr>
            </a:lvl4pPr>
            <a:lvl5pPr algn="l">
              <a:defRPr sz="2025" b="1">
                <a:solidFill>
                  <a:srgbClr val="65D9F3"/>
                </a:solidFill>
                <a:latin typeface="NanumGothic"/>
                <a:ea typeface="NanumGothic"/>
                <a:cs typeface="NanumGothic"/>
              </a:defRPr>
            </a:lvl5pPr>
            <a:lvl6pPr algn="l">
              <a:defRPr sz="2025" b="1">
                <a:solidFill>
                  <a:srgbClr val="65D9F3"/>
                </a:solidFill>
                <a:latin typeface="NanumGothic"/>
                <a:ea typeface="NanumGothic"/>
                <a:cs typeface="NanumGothic"/>
              </a:defRPr>
            </a:lvl6pPr>
            <a:lvl7pPr algn="l">
              <a:defRPr sz="2025" b="1">
                <a:solidFill>
                  <a:srgbClr val="65D9F3"/>
                </a:solidFill>
                <a:latin typeface="NanumGothic"/>
                <a:ea typeface="NanumGothic"/>
                <a:cs typeface="NanumGothic"/>
              </a:defRPr>
            </a:lvl7pPr>
            <a:lvl8pPr algn="l">
              <a:defRPr sz="2025" b="1">
                <a:solidFill>
                  <a:srgbClr val="65D9F3"/>
                </a:solidFill>
                <a:latin typeface="NanumGothic"/>
                <a:ea typeface="NanumGothic"/>
                <a:cs typeface="NanumGothic"/>
              </a:defRPr>
            </a:lvl8pPr>
            <a:lvl9pPr algn="l">
              <a:defRPr sz="2025" b="1">
                <a:solidFill>
                  <a:srgbClr val="65D9F3"/>
                </a:solidFill>
                <a:latin typeface="NanumGothic"/>
                <a:ea typeface="NanumGothic"/>
                <a:cs typeface="NanumGothic"/>
              </a:defRPr>
            </a:lvl9pPr>
          </a:lstStyle>
          <a:p xmlns:a="http://schemas.openxmlformats.org/drawingml/2006/main">
            <a:pPr algn="l">
              <a:defRPr sz="2025" b="1">
                <a:solidFill>
                  <a:srgbClr val="65D9F3"/>
                </a:solidFill>
                <a:latin typeface="NanumGothic"/>
                <a:ea typeface="NanumGothic"/>
                <a:cs typeface="NanumGothic"/>
              </a:defRPr>
            </a:pPr>
            <a:r>
              <a:rPr sz="2025" b="1">
                <a:solidFill>
                  <a:srgbClr val="65D9F3"/>
                </a:solidFill>
                <a:latin typeface="NanumGothic"/>
                <a:ea typeface="NanumGothic"/>
                <a:cs typeface="NanumGothic"/>
              </a:rPr>
              <a:t>대응 기준과 추론 임계값이 달라 지표별 해석이 필요</a:t>
            </a:r>
          </a:p>
        </p:txBody>
      </p:sp>
    </p:spTree>
    <p:extLst>
      <p:ext uri="{BB962C8B-B14F-4D97-AF65-F5344CB8AC3E}">
        <p14:creationId xmlns:p14="http://schemas.microsoft.com/office/powerpoint/2010/main" val="2046499608"/>
      </p:ext>
    </p:extLst>
  </p:cSld>
</p:sld>
</file>

<file path=ppt/slides/slide14.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15" name="실험과 성능 비교">
            <a:extLst xmlns:a="http://schemas.openxmlformats.org/drawingml/2006/main">
              <a:ext uri="{FF2B5EF4-FFF2-40B4-BE49-F238E27FC236}">
                <a16:creationId xmlns:a16="http://schemas.microsoft.com/office/drawing/2014/main" id="{71E5C6FB-1583-46F4-BE59-04F8DDF67FCD}"/>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실험과 성능 비교</a:t>
            </a:r>
          </a:p>
        </p:txBody>
      </p:sp>
      <p:sp>
        <p:nvSpPr>
          <p:cNvPr id="2" name="가우시안 잡음 영상: Noise std=40">
            <a:extLst xmlns:a="http://schemas.openxmlformats.org/drawingml/2006/main">
              <a:ext uri="{FF2B5EF4-FFF2-40B4-BE49-F238E27FC236}">
                <a16:creationId xmlns:a16="http://schemas.microsoft.com/office/drawing/2014/main" id="{43CB1BAC-EA9A-44C6-872E-EE863A5EE48C}"/>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가우시안 잡음 영상: Noise std=40</a:t>
            </a:r>
          </a:p>
        </p:txBody>
      </p:sp>
      <p:sp>
        <p:nvSpPr>
          <p:cNvPr id="3" name="경기대학교 컴퓨터과학과">
            <a:extLst xmlns:a="http://schemas.openxmlformats.org/drawingml/2006/main">
              <a:ext uri="{FF2B5EF4-FFF2-40B4-BE49-F238E27FC236}">
                <a16:creationId xmlns:a16="http://schemas.microsoft.com/office/drawing/2014/main" id="{041CA0D5-8759-4A38-A788-C61B8324B2AD}"/>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14">
            <a:extLst xmlns:a="http://schemas.openxmlformats.org/drawingml/2006/main">
              <a:ext uri="{FF2B5EF4-FFF2-40B4-BE49-F238E27FC236}">
                <a16:creationId xmlns:a16="http://schemas.microsoft.com/office/drawing/2014/main" id="{6096CFBB-244C-42E5-BD1E-143D7F73558C}"/>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14</a:t>
            </a:r>
          </a:p>
        </p:txBody>
      </p:sp>
      <p:sp>
        <p:nvSpPr>
          <p:cNvPr id="5" name="Noise std=40을 추가한 동일 원장면의 저장 예시">
            <a:extLst xmlns:a="http://schemas.openxmlformats.org/drawingml/2006/main">
              <a:ext uri="{FF2B5EF4-FFF2-40B4-BE49-F238E27FC236}">
                <a16:creationId xmlns:a16="http://schemas.microsoft.com/office/drawing/2014/main" id="{B1355EDE-11A4-47D0-876B-EFF3AB0EF273}"/>
              </a:ext>
            </a:extLst>
          </p:cNvPr>
          <p:cNvSpPr>
            <a:spLocks xmlns:a="http://schemas.openxmlformats.org/drawingml/2006/main" noGrp="1"/>
          </p:cNvSpPr>
          <p:nvPr/>
        </p:nvSpPr>
        <p:spPr>
          <a:xfrm xmlns:a="http://schemas.openxmlformats.org/drawingml/2006/main">
            <a:off x="609600" y="15811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AAB8CC"/>
                </a:solidFill>
                <a:latin typeface="NanumGothic"/>
                <a:ea typeface="NanumGothic"/>
                <a:cs typeface="NanumGothic"/>
              </a:defRPr>
            </a:defPPr>
            <a:lvl1pPr algn="l">
              <a:defRPr sz="1800" b="1">
                <a:solidFill>
                  <a:srgbClr val="AAB8CC"/>
                </a:solidFill>
                <a:latin typeface="NanumGothic"/>
                <a:ea typeface="NanumGothic"/>
                <a:cs typeface="NanumGothic"/>
              </a:defRPr>
            </a:lvl1pPr>
            <a:lvl2pPr algn="l">
              <a:defRPr sz="1800" b="1">
                <a:solidFill>
                  <a:srgbClr val="AAB8CC"/>
                </a:solidFill>
                <a:latin typeface="NanumGothic"/>
                <a:ea typeface="NanumGothic"/>
                <a:cs typeface="NanumGothic"/>
              </a:defRPr>
            </a:lvl2pPr>
            <a:lvl3pPr algn="l">
              <a:defRPr sz="1800" b="1">
                <a:solidFill>
                  <a:srgbClr val="AAB8CC"/>
                </a:solidFill>
                <a:latin typeface="NanumGothic"/>
                <a:ea typeface="NanumGothic"/>
                <a:cs typeface="NanumGothic"/>
              </a:defRPr>
            </a:lvl3pPr>
            <a:lvl4pPr algn="l">
              <a:defRPr sz="1800" b="1">
                <a:solidFill>
                  <a:srgbClr val="AAB8CC"/>
                </a:solidFill>
                <a:latin typeface="NanumGothic"/>
                <a:ea typeface="NanumGothic"/>
                <a:cs typeface="NanumGothic"/>
              </a:defRPr>
            </a:lvl4pPr>
            <a:lvl5pPr algn="l">
              <a:defRPr sz="1800" b="1">
                <a:solidFill>
                  <a:srgbClr val="AAB8CC"/>
                </a:solidFill>
                <a:latin typeface="NanumGothic"/>
                <a:ea typeface="NanumGothic"/>
                <a:cs typeface="NanumGothic"/>
              </a:defRPr>
            </a:lvl5pPr>
            <a:lvl6pPr algn="l">
              <a:defRPr sz="1800" b="1">
                <a:solidFill>
                  <a:srgbClr val="AAB8CC"/>
                </a:solidFill>
                <a:latin typeface="NanumGothic"/>
                <a:ea typeface="NanumGothic"/>
                <a:cs typeface="NanumGothic"/>
              </a:defRPr>
            </a:lvl6pPr>
            <a:lvl7pPr algn="l">
              <a:defRPr sz="1800" b="1">
                <a:solidFill>
                  <a:srgbClr val="AAB8CC"/>
                </a:solidFill>
                <a:latin typeface="NanumGothic"/>
                <a:ea typeface="NanumGothic"/>
                <a:cs typeface="NanumGothic"/>
              </a:defRPr>
            </a:lvl7pPr>
            <a:lvl8pPr algn="l">
              <a:defRPr sz="1800" b="1">
                <a:solidFill>
                  <a:srgbClr val="AAB8CC"/>
                </a:solidFill>
                <a:latin typeface="NanumGothic"/>
                <a:ea typeface="NanumGothic"/>
                <a:cs typeface="NanumGothic"/>
              </a:defRPr>
            </a:lvl8pPr>
            <a:lvl9pPr algn="l">
              <a:defRPr sz="1800" b="1">
                <a:solidFill>
                  <a:srgbClr val="AAB8CC"/>
                </a:solidFill>
                <a:latin typeface="NanumGothic"/>
                <a:ea typeface="NanumGothic"/>
                <a:cs typeface="NanumGothic"/>
              </a:defRPr>
            </a:lvl9pPr>
          </a:lstStyle>
          <a:p xmlns:a="http://schemas.openxmlformats.org/drawingml/2006/main">
            <a:pPr algn="l">
              <a:defRPr sz="1800" b="1">
                <a:solidFill>
                  <a:srgbClr val="AAB8CC"/>
                </a:solidFill>
                <a:latin typeface="NanumGothic"/>
                <a:ea typeface="NanumGothic"/>
                <a:cs typeface="NanumGothic"/>
              </a:defRPr>
            </a:pPr>
            <a:r>
              <a:rPr sz="1800" b="1">
                <a:solidFill>
                  <a:srgbClr val="AAB8CC"/>
                </a:solidFill>
                <a:latin typeface="NanumGothic"/>
                <a:ea typeface="NanumGothic"/>
                <a:cs typeface="NanumGothic"/>
              </a:rPr>
              <a:t>Noise std=40을 추가한 동일 원장면의 저장 예시</a:t>
            </a:r>
          </a:p>
        </p:txBody>
      </p:sp>
      <p:pic>
        <p:nvPicPr>
          <p:cNvPr id="6" name="">
            <a:extLst xmlns:a="http://schemas.openxmlformats.org/drawingml/2006/main">
              <a:ext uri="{FF2B5EF4-FFF2-40B4-BE49-F238E27FC236}">
                <a16:creationId xmlns:a16="http://schemas.microsoft.com/office/drawing/2014/main" id="{8A8A7389-5818-49FB-B3DB-8D5EF9ACB49A}"/>
              </a:ext>
            </a:extLst>
          </p:cNvPr>
          <p:cNvPicPr>
            <a:picLocks xmlns:a="http://schemas.openxmlformats.org/drawingml/2006/main" noChangeAspect="1"/>
          </p:cNvPicPr>
          <p:nvPr/>
        </p:nvPicPr>
        <p:blipFill>
          <a:blip xmlns:r="http://schemas.openxmlformats.org/officeDocument/2006/relationships" xmlns:a="http://schemas.openxmlformats.org/drawingml/2006/main" r:embed="R0479a919598e4954"/>
          <a:srcRect xmlns:a="http://schemas.openxmlformats.org/drawingml/2006/main" l="50000" t="0" r="0" b="0"/>
          <a:stretch xmlns:a="http://schemas.openxmlformats.org/drawingml/2006/main"/>
        </p:blipFill>
        <p:spPr>
          <a:xfrm xmlns:a="http://schemas.openxmlformats.org/drawingml/2006/main">
            <a:off x="609600" y="2266950"/>
            <a:ext cx="3429000" cy="2743200"/>
          </a:xfrm>
          <a:prstGeom xmlns:a="http://schemas.openxmlformats.org/drawingml/2006/main" prst="rect">
            <a:avLst/>
          </a:prstGeom>
        </p:spPr>
      </p:pic>
      <p:sp>
        <p:nvSpPr>
          <p:cNvPr id="7" name="Noise input">
            <a:extLst xmlns:a="http://schemas.openxmlformats.org/drawingml/2006/main">
              <a:ext uri="{FF2B5EF4-FFF2-40B4-BE49-F238E27FC236}">
                <a16:creationId xmlns:a16="http://schemas.microsoft.com/office/drawing/2014/main" id="{CB4934B0-EB5E-4D43-8035-6E31DD1B00B1}"/>
              </a:ext>
            </a:extLst>
          </p:cNvPr>
          <p:cNvSpPr>
            <a:spLocks xmlns:a="http://schemas.openxmlformats.org/drawingml/2006/main" noGrp="1"/>
          </p:cNvSpPr>
          <p:nvPr/>
        </p:nvSpPr>
        <p:spPr>
          <a:xfrm xmlns:a="http://schemas.openxmlformats.org/drawingml/2006/main">
            <a:off x="6096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Noise input</a:t>
            </a:r>
          </a:p>
        </p:txBody>
      </p:sp>
      <p:sp>
        <p:nvSpPr>
          <p:cNvPr id="8" name="Noise std=40">
            <a:extLst xmlns:a="http://schemas.openxmlformats.org/drawingml/2006/main">
              <a:ext uri="{FF2B5EF4-FFF2-40B4-BE49-F238E27FC236}">
                <a16:creationId xmlns:a16="http://schemas.microsoft.com/office/drawing/2014/main" id="{3BFF3421-307C-4897-B621-3D4FBA4A57EE}"/>
              </a:ext>
            </a:extLst>
          </p:cNvPr>
          <p:cNvSpPr>
            <a:spLocks xmlns:a="http://schemas.openxmlformats.org/drawingml/2006/main" noGrp="1"/>
          </p:cNvSpPr>
          <p:nvPr/>
        </p:nvSpPr>
        <p:spPr>
          <a:xfrm xmlns:a="http://schemas.openxmlformats.org/drawingml/2006/main">
            <a:off x="6096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Noise std=40</a:t>
            </a:r>
          </a:p>
        </p:txBody>
      </p:sp>
      <p:pic>
        <p:nvPicPr>
          <p:cNvPr id="9" name="">
            <a:extLst xmlns:a="http://schemas.openxmlformats.org/drawingml/2006/main">
              <a:ext uri="{FF2B5EF4-FFF2-40B4-BE49-F238E27FC236}">
                <a16:creationId xmlns:a16="http://schemas.microsoft.com/office/drawing/2014/main" id="{1EEB557D-F43D-453F-A106-2FD344FD5F7E}"/>
              </a:ext>
            </a:extLst>
          </p:cNvPr>
          <p:cNvPicPr>
            <a:picLocks xmlns:a="http://schemas.openxmlformats.org/drawingml/2006/main" noChangeAspect="1"/>
          </p:cNvPicPr>
          <p:nvPr/>
        </p:nvPicPr>
        <p:blipFill>
          <a:blip xmlns:r="http://schemas.openxmlformats.org/officeDocument/2006/relationships" xmlns:a="http://schemas.openxmlformats.org/drawingml/2006/main" r:embed="R44323270140d4f87"/>
          <a:srcRect xmlns:a="http://schemas.openxmlformats.org/drawingml/2006/main" l="50000" t="0" r="0" b="0"/>
          <a:stretch xmlns:a="http://schemas.openxmlformats.org/drawingml/2006/main"/>
        </p:blipFill>
        <p:spPr>
          <a:xfrm xmlns:a="http://schemas.openxmlformats.org/drawingml/2006/main">
            <a:off x="4381500" y="2266950"/>
            <a:ext cx="3429000" cy="2743200"/>
          </a:xfrm>
          <a:prstGeom xmlns:a="http://schemas.openxmlformats.org/drawingml/2006/main" prst="rect">
            <a:avLst/>
          </a:prstGeom>
        </p:spPr>
      </p:pic>
      <p:sp>
        <p:nvSpPr>
          <p:cNvPr id="10" name="Gaussian Blur (max)">
            <a:extLst xmlns:a="http://schemas.openxmlformats.org/drawingml/2006/main">
              <a:ext uri="{FF2B5EF4-FFF2-40B4-BE49-F238E27FC236}">
                <a16:creationId xmlns:a16="http://schemas.microsoft.com/office/drawing/2014/main" id="{4E0597EF-D6A8-4CCD-86A2-5C0E68C1A018}"/>
              </a:ext>
            </a:extLst>
          </p:cNvPr>
          <p:cNvSpPr>
            <a:spLocks xmlns:a="http://schemas.openxmlformats.org/drawingml/2006/main" noGrp="1"/>
          </p:cNvSpPr>
          <p:nvPr/>
        </p:nvSpPr>
        <p:spPr>
          <a:xfrm xmlns:a="http://schemas.openxmlformats.org/drawingml/2006/main">
            <a:off x="43815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Gaussian Blur (max)</a:t>
            </a:r>
          </a:p>
        </p:txBody>
      </p:sp>
      <p:sp>
        <p:nvSpPr>
          <p:cNvPr id="11" name="Noise std=40 후 필터 적용">
            <a:extLst xmlns:a="http://schemas.openxmlformats.org/drawingml/2006/main">
              <a:ext uri="{FF2B5EF4-FFF2-40B4-BE49-F238E27FC236}">
                <a16:creationId xmlns:a16="http://schemas.microsoft.com/office/drawing/2014/main" id="{3A44ECED-0BC9-48AB-9767-EA5925E73A34}"/>
              </a:ext>
            </a:extLst>
          </p:cNvPr>
          <p:cNvSpPr>
            <a:spLocks xmlns:a="http://schemas.openxmlformats.org/drawingml/2006/main" noGrp="1"/>
          </p:cNvSpPr>
          <p:nvPr/>
        </p:nvSpPr>
        <p:spPr>
          <a:xfrm xmlns:a="http://schemas.openxmlformats.org/drawingml/2006/main">
            <a:off x="43815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Noise std=40 후 필터 적용</a:t>
            </a:r>
          </a:p>
        </p:txBody>
      </p:sp>
      <p:pic>
        <p:nvPicPr>
          <p:cNvPr id="12" name="">
            <a:extLst xmlns:a="http://schemas.openxmlformats.org/drawingml/2006/main">
              <a:ext uri="{FF2B5EF4-FFF2-40B4-BE49-F238E27FC236}">
                <a16:creationId xmlns:a16="http://schemas.microsoft.com/office/drawing/2014/main" id="{E8B058A4-8DAD-4F74-88EF-00203EC946A9}"/>
              </a:ext>
            </a:extLst>
          </p:cNvPr>
          <p:cNvPicPr>
            <a:picLocks xmlns:a="http://schemas.openxmlformats.org/drawingml/2006/main" noChangeAspect="1"/>
          </p:cNvPicPr>
          <p:nvPr/>
        </p:nvPicPr>
        <p:blipFill>
          <a:blip xmlns:r="http://schemas.openxmlformats.org/officeDocument/2006/relationships" xmlns:a="http://schemas.openxmlformats.org/drawingml/2006/main" r:embed="R042fecfe2b894d6d"/>
          <a:srcRect xmlns:a="http://schemas.openxmlformats.org/drawingml/2006/main" l="50000" t="0" r="0" b="0"/>
          <a:stretch xmlns:a="http://schemas.openxmlformats.org/drawingml/2006/main"/>
        </p:blipFill>
        <p:spPr>
          <a:xfrm xmlns:a="http://schemas.openxmlformats.org/drawingml/2006/main">
            <a:off x="8153400" y="2266950"/>
            <a:ext cx="3429000" cy="2743200"/>
          </a:xfrm>
          <a:prstGeom xmlns:a="http://schemas.openxmlformats.org/drawingml/2006/main" prst="rect">
            <a:avLst/>
          </a:prstGeom>
        </p:spPr>
      </p:pic>
      <p:sp>
        <p:nvSpPr>
          <p:cNvPr id="13" name="Emboss">
            <a:extLst xmlns:a="http://schemas.openxmlformats.org/drawingml/2006/main">
              <a:ext uri="{FF2B5EF4-FFF2-40B4-BE49-F238E27FC236}">
                <a16:creationId xmlns:a16="http://schemas.microsoft.com/office/drawing/2014/main" id="{4D6078EF-F9C0-4398-972F-7FCEAA53C972}"/>
              </a:ext>
            </a:extLst>
          </p:cNvPr>
          <p:cNvSpPr>
            <a:spLocks xmlns:a="http://schemas.openxmlformats.org/drawingml/2006/main" noGrp="1"/>
          </p:cNvSpPr>
          <p:nvPr/>
        </p:nvSpPr>
        <p:spPr>
          <a:xfrm xmlns:a="http://schemas.openxmlformats.org/drawingml/2006/main">
            <a:off x="81534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Emboss</a:t>
            </a:r>
          </a:p>
        </p:txBody>
      </p:sp>
      <p:sp>
        <p:nvSpPr>
          <p:cNvPr id="14" name="Noise std=40 후 필터 적용">
            <a:extLst xmlns:a="http://schemas.openxmlformats.org/drawingml/2006/main">
              <a:ext uri="{FF2B5EF4-FFF2-40B4-BE49-F238E27FC236}">
                <a16:creationId xmlns:a16="http://schemas.microsoft.com/office/drawing/2014/main" id="{569DFF92-B0BB-4633-8D22-44A360414B7F}"/>
              </a:ext>
            </a:extLst>
          </p:cNvPr>
          <p:cNvSpPr>
            <a:spLocks xmlns:a="http://schemas.openxmlformats.org/drawingml/2006/main" noGrp="1"/>
          </p:cNvSpPr>
          <p:nvPr/>
        </p:nvSpPr>
        <p:spPr>
          <a:xfrm xmlns:a="http://schemas.openxmlformats.org/drawingml/2006/main">
            <a:off x="81534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Noise std=40 후 필터 적용</a:t>
            </a:r>
          </a:p>
        </p:txBody>
      </p:sp>
    </p:spTree>
    <p:extLst>
      <p:ext uri="{BB962C8B-B14F-4D97-AF65-F5344CB8AC3E}">
        <p14:creationId xmlns:p14="http://schemas.microsoft.com/office/powerpoint/2010/main" val="1511517627"/>
      </p:ext>
    </p:extLst>
  </p:cSld>
</p:sld>
</file>

<file path=ppt/slides/slide15.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15" name="실험과 성능 비교">
            <a:extLst xmlns:a="http://schemas.openxmlformats.org/drawingml/2006/main">
              <a:ext uri="{FF2B5EF4-FFF2-40B4-BE49-F238E27FC236}">
                <a16:creationId xmlns:a16="http://schemas.microsoft.com/office/drawing/2014/main" id="{257C4898-47B7-441B-8434-FAECD0B94092}"/>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실험과 성능 비교</a:t>
            </a:r>
          </a:p>
        </p:txBody>
      </p:sp>
      <p:sp>
        <p:nvSpPr>
          <p:cNvPr id="2" name="가우시안 잡음 영상: Noise std=80">
            <a:extLst xmlns:a="http://schemas.openxmlformats.org/drawingml/2006/main">
              <a:ext uri="{FF2B5EF4-FFF2-40B4-BE49-F238E27FC236}">
                <a16:creationId xmlns:a16="http://schemas.microsoft.com/office/drawing/2014/main" id="{70F865FA-02FA-4F79-8134-6B0F315ECFE0}"/>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가우시안 잡음 영상: Noise std=80</a:t>
            </a:r>
          </a:p>
        </p:txBody>
      </p:sp>
      <p:sp>
        <p:nvSpPr>
          <p:cNvPr id="3" name="경기대학교 컴퓨터과학과">
            <a:extLst xmlns:a="http://schemas.openxmlformats.org/drawingml/2006/main">
              <a:ext uri="{FF2B5EF4-FFF2-40B4-BE49-F238E27FC236}">
                <a16:creationId xmlns:a16="http://schemas.microsoft.com/office/drawing/2014/main" id="{EBC408CF-96D2-41F0-A6C9-D5AD8534A01C}"/>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15">
            <a:extLst xmlns:a="http://schemas.openxmlformats.org/drawingml/2006/main">
              <a:ext uri="{FF2B5EF4-FFF2-40B4-BE49-F238E27FC236}">
                <a16:creationId xmlns:a16="http://schemas.microsoft.com/office/drawing/2014/main" id="{115A55E7-E96A-4F03-9A31-2065619FED3A}"/>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15</a:t>
            </a:r>
          </a:p>
        </p:txBody>
      </p:sp>
      <p:sp>
        <p:nvSpPr>
          <p:cNvPr id="5" name="Noise std=80을 추가한 동일 원장면의 저장 예시">
            <a:extLst xmlns:a="http://schemas.openxmlformats.org/drawingml/2006/main">
              <a:ext uri="{FF2B5EF4-FFF2-40B4-BE49-F238E27FC236}">
                <a16:creationId xmlns:a16="http://schemas.microsoft.com/office/drawing/2014/main" id="{D00540FF-0EE2-41AB-BFC2-6293679C57F7}"/>
              </a:ext>
            </a:extLst>
          </p:cNvPr>
          <p:cNvSpPr>
            <a:spLocks xmlns:a="http://schemas.openxmlformats.org/drawingml/2006/main" noGrp="1"/>
          </p:cNvSpPr>
          <p:nvPr/>
        </p:nvSpPr>
        <p:spPr>
          <a:xfrm xmlns:a="http://schemas.openxmlformats.org/drawingml/2006/main">
            <a:off x="609600" y="15811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AAB8CC"/>
                </a:solidFill>
                <a:latin typeface="NanumGothic"/>
                <a:ea typeface="NanumGothic"/>
                <a:cs typeface="NanumGothic"/>
              </a:defRPr>
            </a:defPPr>
            <a:lvl1pPr algn="l">
              <a:defRPr sz="1800" b="1">
                <a:solidFill>
                  <a:srgbClr val="AAB8CC"/>
                </a:solidFill>
                <a:latin typeface="NanumGothic"/>
                <a:ea typeface="NanumGothic"/>
                <a:cs typeface="NanumGothic"/>
              </a:defRPr>
            </a:lvl1pPr>
            <a:lvl2pPr algn="l">
              <a:defRPr sz="1800" b="1">
                <a:solidFill>
                  <a:srgbClr val="AAB8CC"/>
                </a:solidFill>
                <a:latin typeface="NanumGothic"/>
                <a:ea typeface="NanumGothic"/>
                <a:cs typeface="NanumGothic"/>
              </a:defRPr>
            </a:lvl2pPr>
            <a:lvl3pPr algn="l">
              <a:defRPr sz="1800" b="1">
                <a:solidFill>
                  <a:srgbClr val="AAB8CC"/>
                </a:solidFill>
                <a:latin typeface="NanumGothic"/>
                <a:ea typeface="NanumGothic"/>
                <a:cs typeface="NanumGothic"/>
              </a:defRPr>
            </a:lvl3pPr>
            <a:lvl4pPr algn="l">
              <a:defRPr sz="1800" b="1">
                <a:solidFill>
                  <a:srgbClr val="AAB8CC"/>
                </a:solidFill>
                <a:latin typeface="NanumGothic"/>
                <a:ea typeface="NanumGothic"/>
                <a:cs typeface="NanumGothic"/>
              </a:defRPr>
            </a:lvl4pPr>
            <a:lvl5pPr algn="l">
              <a:defRPr sz="1800" b="1">
                <a:solidFill>
                  <a:srgbClr val="AAB8CC"/>
                </a:solidFill>
                <a:latin typeface="NanumGothic"/>
                <a:ea typeface="NanumGothic"/>
                <a:cs typeface="NanumGothic"/>
              </a:defRPr>
            </a:lvl5pPr>
            <a:lvl6pPr algn="l">
              <a:defRPr sz="1800" b="1">
                <a:solidFill>
                  <a:srgbClr val="AAB8CC"/>
                </a:solidFill>
                <a:latin typeface="NanumGothic"/>
                <a:ea typeface="NanumGothic"/>
                <a:cs typeface="NanumGothic"/>
              </a:defRPr>
            </a:lvl6pPr>
            <a:lvl7pPr algn="l">
              <a:defRPr sz="1800" b="1">
                <a:solidFill>
                  <a:srgbClr val="AAB8CC"/>
                </a:solidFill>
                <a:latin typeface="NanumGothic"/>
                <a:ea typeface="NanumGothic"/>
                <a:cs typeface="NanumGothic"/>
              </a:defRPr>
            </a:lvl7pPr>
            <a:lvl8pPr algn="l">
              <a:defRPr sz="1800" b="1">
                <a:solidFill>
                  <a:srgbClr val="AAB8CC"/>
                </a:solidFill>
                <a:latin typeface="NanumGothic"/>
                <a:ea typeface="NanumGothic"/>
                <a:cs typeface="NanumGothic"/>
              </a:defRPr>
            </a:lvl8pPr>
            <a:lvl9pPr algn="l">
              <a:defRPr sz="1800" b="1">
                <a:solidFill>
                  <a:srgbClr val="AAB8CC"/>
                </a:solidFill>
                <a:latin typeface="NanumGothic"/>
                <a:ea typeface="NanumGothic"/>
                <a:cs typeface="NanumGothic"/>
              </a:defRPr>
            </a:lvl9pPr>
          </a:lstStyle>
          <a:p xmlns:a="http://schemas.openxmlformats.org/drawingml/2006/main">
            <a:pPr algn="l">
              <a:defRPr sz="1800" b="1">
                <a:solidFill>
                  <a:srgbClr val="AAB8CC"/>
                </a:solidFill>
                <a:latin typeface="NanumGothic"/>
                <a:ea typeface="NanumGothic"/>
                <a:cs typeface="NanumGothic"/>
              </a:defRPr>
            </a:pPr>
            <a:r>
              <a:rPr sz="1800" b="1">
                <a:solidFill>
                  <a:srgbClr val="AAB8CC"/>
                </a:solidFill>
                <a:latin typeface="NanumGothic"/>
                <a:ea typeface="NanumGothic"/>
                <a:cs typeface="NanumGothic"/>
              </a:rPr>
              <a:t>Noise std=80을 추가한 동일 원장면의 저장 예시</a:t>
            </a:r>
          </a:p>
        </p:txBody>
      </p:sp>
      <p:pic>
        <p:nvPicPr>
          <p:cNvPr id="6" name="">
            <a:extLst xmlns:a="http://schemas.openxmlformats.org/drawingml/2006/main">
              <a:ext uri="{FF2B5EF4-FFF2-40B4-BE49-F238E27FC236}">
                <a16:creationId xmlns:a16="http://schemas.microsoft.com/office/drawing/2014/main" id="{487566D0-1BDC-4AA9-B0A6-DEB0E41CD47B}"/>
              </a:ext>
            </a:extLst>
          </p:cNvPr>
          <p:cNvPicPr>
            <a:picLocks xmlns:a="http://schemas.openxmlformats.org/drawingml/2006/main" noChangeAspect="1"/>
          </p:cNvPicPr>
          <p:nvPr/>
        </p:nvPicPr>
        <p:blipFill>
          <a:blip xmlns:r="http://schemas.openxmlformats.org/officeDocument/2006/relationships" xmlns:a="http://schemas.openxmlformats.org/drawingml/2006/main" r:embed="R9c9b3ecd73634e6d"/>
          <a:srcRect xmlns:a="http://schemas.openxmlformats.org/drawingml/2006/main" l="50000" t="0" r="0" b="0"/>
          <a:stretch xmlns:a="http://schemas.openxmlformats.org/drawingml/2006/main"/>
        </p:blipFill>
        <p:spPr>
          <a:xfrm xmlns:a="http://schemas.openxmlformats.org/drawingml/2006/main">
            <a:off x="609600" y="2266950"/>
            <a:ext cx="3429000" cy="2743200"/>
          </a:xfrm>
          <a:prstGeom xmlns:a="http://schemas.openxmlformats.org/drawingml/2006/main" prst="rect">
            <a:avLst/>
          </a:prstGeom>
        </p:spPr>
      </p:pic>
      <p:sp>
        <p:nvSpPr>
          <p:cNvPr id="7" name="Noise input">
            <a:extLst xmlns:a="http://schemas.openxmlformats.org/drawingml/2006/main">
              <a:ext uri="{FF2B5EF4-FFF2-40B4-BE49-F238E27FC236}">
                <a16:creationId xmlns:a16="http://schemas.microsoft.com/office/drawing/2014/main" id="{72918AA0-C0B7-45AF-9FE2-4F7DD73F5142}"/>
              </a:ext>
            </a:extLst>
          </p:cNvPr>
          <p:cNvSpPr>
            <a:spLocks xmlns:a="http://schemas.openxmlformats.org/drawingml/2006/main" noGrp="1"/>
          </p:cNvSpPr>
          <p:nvPr/>
        </p:nvSpPr>
        <p:spPr>
          <a:xfrm xmlns:a="http://schemas.openxmlformats.org/drawingml/2006/main">
            <a:off x="6096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Noise input</a:t>
            </a:r>
          </a:p>
        </p:txBody>
      </p:sp>
      <p:sp>
        <p:nvSpPr>
          <p:cNvPr id="8" name="Noise std=80">
            <a:extLst xmlns:a="http://schemas.openxmlformats.org/drawingml/2006/main">
              <a:ext uri="{FF2B5EF4-FFF2-40B4-BE49-F238E27FC236}">
                <a16:creationId xmlns:a16="http://schemas.microsoft.com/office/drawing/2014/main" id="{30C13122-C332-4197-AF1C-F487F65F2D53}"/>
              </a:ext>
            </a:extLst>
          </p:cNvPr>
          <p:cNvSpPr>
            <a:spLocks xmlns:a="http://schemas.openxmlformats.org/drawingml/2006/main" noGrp="1"/>
          </p:cNvSpPr>
          <p:nvPr/>
        </p:nvSpPr>
        <p:spPr>
          <a:xfrm xmlns:a="http://schemas.openxmlformats.org/drawingml/2006/main">
            <a:off x="6096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Noise std=80</a:t>
            </a:r>
          </a:p>
        </p:txBody>
      </p:sp>
      <p:pic>
        <p:nvPicPr>
          <p:cNvPr id="9" name="">
            <a:extLst xmlns:a="http://schemas.openxmlformats.org/drawingml/2006/main">
              <a:ext uri="{FF2B5EF4-FFF2-40B4-BE49-F238E27FC236}">
                <a16:creationId xmlns:a16="http://schemas.microsoft.com/office/drawing/2014/main" id="{EAEA0679-02A6-4F1F-BD13-8F72A13914A4}"/>
              </a:ext>
            </a:extLst>
          </p:cNvPr>
          <p:cNvPicPr>
            <a:picLocks xmlns:a="http://schemas.openxmlformats.org/drawingml/2006/main" noChangeAspect="1"/>
          </p:cNvPicPr>
          <p:nvPr/>
        </p:nvPicPr>
        <p:blipFill>
          <a:blip xmlns:r="http://schemas.openxmlformats.org/officeDocument/2006/relationships" xmlns:a="http://schemas.openxmlformats.org/drawingml/2006/main" r:embed="Ra9fcdf3842d74bc2"/>
          <a:srcRect xmlns:a="http://schemas.openxmlformats.org/drawingml/2006/main" l="50000" t="0" r="0" b="0"/>
          <a:stretch xmlns:a="http://schemas.openxmlformats.org/drawingml/2006/main"/>
        </p:blipFill>
        <p:spPr>
          <a:xfrm xmlns:a="http://schemas.openxmlformats.org/drawingml/2006/main">
            <a:off x="4381500" y="2266950"/>
            <a:ext cx="3429000" cy="2743200"/>
          </a:xfrm>
          <a:prstGeom xmlns:a="http://schemas.openxmlformats.org/drawingml/2006/main" prst="rect">
            <a:avLst/>
          </a:prstGeom>
        </p:spPr>
      </p:pic>
      <p:sp>
        <p:nvSpPr>
          <p:cNvPr id="10" name="Gaussian Blur (max)">
            <a:extLst xmlns:a="http://schemas.openxmlformats.org/drawingml/2006/main">
              <a:ext uri="{FF2B5EF4-FFF2-40B4-BE49-F238E27FC236}">
                <a16:creationId xmlns:a16="http://schemas.microsoft.com/office/drawing/2014/main" id="{CADEA292-2479-4EAE-BD52-0CFC32E71F0D}"/>
              </a:ext>
            </a:extLst>
          </p:cNvPr>
          <p:cNvSpPr>
            <a:spLocks xmlns:a="http://schemas.openxmlformats.org/drawingml/2006/main" noGrp="1"/>
          </p:cNvSpPr>
          <p:nvPr/>
        </p:nvSpPr>
        <p:spPr>
          <a:xfrm xmlns:a="http://schemas.openxmlformats.org/drawingml/2006/main">
            <a:off x="43815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Gaussian Blur (max)</a:t>
            </a:r>
          </a:p>
        </p:txBody>
      </p:sp>
      <p:sp>
        <p:nvSpPr>
          <p:cNvPr id="11" name="Noise std=80 후 필터 적용">
            <a:extLst xmlns:a="http://schemas.openxmlformats.org/drawingml/2006/main">
              <a:ext uri="{FF2B5EF4-FFF2-40B4-BE49-F238E27FC236}">
                <a16:creationId xmlns:a16="http://schemas.microsoft.com/office/drawing/2014/main" id="{7A8C9413-3D9C-4E5B-8DE7-3FE88D8E73DD}"/>
              </a:ext>
            </a:extLst>
          </p:cNvPr>
          <p:cNvSpPr>
            <a:spLocks xmlns:a="http://schemas.openxmlformats.org/drawingml/2006/main" noGrp="1"/>
          </p:cNvSpPr>
          <p:nvPr/>
        </p:nvSpPr>
        <p:spPr>
          <a:xfrm xmlns:a="http://schemas.openxmlformats.org/drawingml/2006/main">
            <a:off x="43815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Noise std=80 후 필터 적용</a:t>
            </a:r>
          </a:p>
        </p:txBody>
      </p:sp>
      <p:pic>
        <p:nvPicPr>
          <p:cNvPr id="12" name="">
            <a:extLst xmlns:a="http://schemas.openxmlformats.org/drawingml/2006/main">
              <a:ext uri="{FF2B5EF4-FFF2-40B4-BE49-F238E27FC236}">
                <a16:creationId xmlns:a16="http://schemas.microsoft.com/office/drawing/2014/main" id="{4FCA6879-1B48-4554-AA17-64EFD461F656}"/>
              </a:ext>
            </a:extLst>
          </p:cNvPr>
          <p:cNvPicPr>
            <a:picLocks xmlns:a="http://schemas.openxmlformats.org/drawingml/2006/main" noChangeAspect="1"/>
          </p:cNvPicPr>
          <p:nvPr/>
        </p:nvPicPr>
        <p:blipFill>
          <a:blip xmlns:r="http://schemas.openxmlformats.org/officeDocument/2006/relationships" xmlns:a="http://schemas.openxmlformats.org/drawingml/2006/main" r:embed="Refd96722165b4901"/>
          <a:srcRect xmlns:a="http://schemas.openxmlformats.org/drawingml/2006/main" l="50000" t="0" r="0" b="0"/>
          <a:stretch xmlns:a="http://schemas.openxmlformats.org/drawingml/2006/main"/>
        </p:blipFill>
        <p:spPr>
          <a:xfrm xmlns:a="http://schemas.openxmlformats.org/drawingml/2006/main">
            <a:off x="8153400" y="2266950"/>
            <a:ext cx="3429000" cy="2743200"/>
          </a:xfrm>
          <a:prstGeom xmlns:a="http://schemas.openxmlformats.org/drawingml/2006/main" prst="rect">
            <a:avLst/>
          </a:prstGeom>
        </p:spPr>
      </p:pic>
      <p:sp>
        <p:nvSpPr>
          <p:cNvPr id="13" name="Emboss">
            <a:extLst xmlns:a="http://schemas.openxmlformats.org/drawingml/2006/main">
              <a:ext uri="{FF2B5EF4-FFF2-40B4-BE49-F238E27FC236}">
                <a16:creationId xmlns:a16="http://schemas.microsoft.com/office/drawing/2014/main" id="{658403AD-B0F1-4618-81C3-E839EDED630B}"/>
              </a:ext>
            </a:extLst>
          </p:cNvPr>
          <p:cNvSpPr>
            <a:spLocks xmlns:a="http://schemas.openxmlformats.org/drawingml/2006/main" noGrp="1"/>
          </p:cNvSpPr>
          <p:nvPr/>
        </p:nvSpPr>
        <p:spPr>
          <a:xfrm xmlns:a="http://schemas.openxmlformats.org/drawingml/2006/main">
            <a:off x="81534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Emboss</a:t>
            </a:r>
          </a:p>
        </p:txBody>
      </p:sp>
      <p:sp>
        <p:nvSpPr>
          <p:cNvPr id="14" name="Noise std=80 후 필터 적용">
            <a:extLst xmlns:a="http://schemas.openxmlformats.org/drawingml/2006/main">
              <a:ext uri="{FF2B5EF4-FFF2-40B4-BE49-F238E27FC236}">
                <a16:creationId xmlns:a16="http://schemas.microsoft.com/office/drawing/2014/main" id="{C67660B0-05CC-4C31-BEF0-204EBF7D75AA}"/>
              </a:ext>
            </a:extLst>
          </p:cNvPr>
          <p:cNvSpPr>
            <a:spLocks xmlns:a="http://schemas.openxmlformats.org/drawingml/2006/main" noGrp="1"/>
          </p:cNvSpPr>
          <p:nvPr/>
        </p:nvSpPr>
        <p:spPr>
          <a:xfrm xmlns:a="http://schemas.openxmlformats.org/drawingml/2006/main">
            <a:off x="81534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Noise std=80 후 필터 적용</a:t>
            </a:r>
          </a:p>
        </p:txBody>
      </p:sp>
    </p:spTree>
    <p:extLst>
      <p:ext uri="{BB962C8B-B14F-4D97-AF65-F5344CB8AC3E}">
        <p14:creationId xmlns:p14="http://schemas.microsoft.com/office/powerpoint/2010/main" val="129673032"/>
      </p:ext>
    </p:extLst>
  </p:cSld>
</p:sld>
</file>

<file path=ppt/slides/slide16.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8" name="실험과 성능 비교">
            <a:extLst xmlns:a="http://schemas.openxmlformats.org/drawingml/2006/main">
              <a:ext uri="{FF2B5EF4-FFF2-40B4-BE49-F238E27FC236}">
                <a16:creationId xmlns:a16="http://schemas.microsoft.com/office/drawing/2014/main" id="{20AF7234-BBA2-43D6-AB02-CEB495941671}"/>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실험과 성능 비교</a:t>
            </a:r>
          </a:p>
        </p:txBody>
      </p:sp>
      <p:sp>
        <p:nvSpPr>
          <p:cNvPr id="2" name="잡음 조건에 따른 성능 변화">
            <a:extLst xmlns:a="http://schemas.openxmlformats.org/drawingml/2006/main">
              <a:ext uri="{FF2B5EF4-FFF2-40B4-BE49-F238E27FC236}">
                <a16:creationId xmlns:a16="http://schemas.microsoft.com/office/drawing/2014/main" id="{389AD8BA-178A-4675-AB1A-3705756EA5E3}"/>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잡음 조건에 따른 성능 변화</a:t>
            </a:r>
          </a:p>
        </p:txBody>
      </p:sp>
      <p:sp>
        <p:nvSpPr>
          <p:cNvPr id="3" name="경기대학교 컴퓨터과학과">
            <a:extLst xmlns:a="http://schemas.openxmlformats.org/drawingml/2006/main">
              <a:ext uri="{FF2B5EF4-FFF2-40B4-BE49-F238E27FC236}">
                <a16:creationId xmlns:a16="http://schemas.microsoft.com/office/drawing/2014/main" id="{23A351EF-B627-4C72-9549-43420EB1A7AB}"/>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16">
            <a:extLst xmlns:a="http://schemas.openxmlformats.org/drawingml/2006/main">
              <a:ext uri="{FF2B5EF4-FFF2-40B4-BE49-F238E27FC236}">
                <a16:creationId xmlns:a16="http://schemas.microsoft.com/office/drawing/2014/main" id="{117FD775-C71A-40F0-B9BB-4CD6EBFB6EBD}"/>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16</a:t>
            </a:r>
          </a:p>
        </p:txBody>
      </p:sp>
      <p:sp>
        <p:nvSpPr>
          <p:cNvPr id="5" name="mAP50-95 (%)  /  Seed 42">
            <a:extLst xmlns:a="http://schemas.openxmlformats.org/drawingml/2006/main">
              <a:ext uri="{FF2B5EF4-FFF2-40B4-BE49-F238E27FC236}">
                <a16:creationId xmlns:a16="http://schemas.microsoft.com/office/drawing/2014/main" id="{6268ED52-FFFE-4263-A8ED-1EE7E1783416}"/>
              </a:ext>
            </a:extLst>
          </p:cNvPr>
          <p:cNvSpPr>
            <a:spLocks xmlns:a="http://schemas.openxmlformats.org/drawingml/2006/main" noGrp="1"/>
          </p:cNvSpPr>
          <p:nvPr/>
        </p:nvSpPr>
        <p:spPr>
          <a:xfrm xmlns:a="http://schemas.openxmlformats.org/drawingml/2006/main">
            <a:off x="609600" y="1495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AAB8CC"/>
                </a:solidFill>
                <a:latin typeface="NanumGothic"/>
                <a:ea typeface="NanumGothic"/>
                <a:cs typeface="NanumGothic"/>
              </a:defRPr>
            </a:defPPr>
            <a:lvl1pPr algn="l">
              <a:defRPr sz="1575" b="1">
                <a:solidFill>
                  <a:srgbClr val="AAB8CC"/>
                </a:solidFill>
                <a:latin typeface="NanumGothic"/>
                <a:ea typeface="NanumGothic"/>
                <a:cs typeface="NanumGothic"/>
              </a:defRPr>
            </a:lvl1pPr>
            <a:lvl2pPr algn="l">
              <a:defRPr sz="1575" b="1">
                <a:solidFill>
                  <a:srgbClr val="AAB8CC"/>
                </a:solidFill>
                <a:latin typeface="NanumGothic"/>
                <a:ea typeface="NanumGothic"/>
                <a:cs typeface="NanumGothic"/>
              </a:defRPr>
            </a:lvl2pPr>
            <a:lvl3pPr algn="l">
              <a:defRPr sz="1575" b="1">
                <a:solidFill>
                  <a:srgbClr val="AAB8CC"/>
                </a:solidFill>
                <a:latin typeface="NanumGothic"/>
                <a:ea typeface="NanumGothic"/>
                <a:cs typeface="NanumGothic"/>
              </a:defRPr>
            </a:lvl3pPr>
            <a:lvl4pPr algn="l">
              <a:defRPr sz="1575" b="1">
                <a:solidFill>
                  <a:srgbClr val="AAB8CC"/>
                </a:solidFill>
                <a:latin typeface="NanumGothic"/>
                <a:ea typeface="NanumGothic"/>
                <a:cs typeface="NanumGothic"/>
              </a:defRPr>
            </a:lvl4pPr>
            <a:lvl5pPr algn="l">
              <a:defRPr sz="1575" b="1">
                <a:solidFill>
                  <a:srgbClr val="AAB8CC"/>
                </a:solidFill>
                <a:latin typeface="NanumGothic"/>
                <a:ea typeface="NanumGothic"/>
                <a:cs typeface="NanumGothic"/>
              </a:defRPr>
            </a:lvl5pPr>
            <a:lvl6pPr algn="l">
              <a:defRPr sz="1575" b="1">
                <a:solidFill>
                  <a:srgbClr val="AAB8CC"/>
                </a:solidFill>
                <a:latin typeface="NanumGothic"/>
                <a:ea typeface="NanumGothic"/>
                <a:cs typeface="NanumGothic"/>
              </a:defRPr>
            </a:lvl6pPr>
            <a:lvl7pPr algn="l">
              <a:defRPr sz="1575" b="1">
                <a:solidFill>
                  <a:srgbClr val="AAB8CC"/>
                </a:solidFill>
                <a:latin typeface="NanumGothic"/>
                <a:ea typeface="NanumGothic"/>
                <a:cs typeface="NanumGothic"/>
              </a:defRPr>
            </a:lvl7pPr>
            <a:lvl8pPr algn="l">
              <a:defRPr sz="1575" b="1">
                <a:solidFill>
                  <a:srgbClr val="AAB8CC"/>
                </a:solidFill>
                <a:latin typeface="NanumGothic"/>
                <a:ea typeface="NanumGothic"/>
                <a:cs typeface="NanumGothic"/>
              </a:defRPr>
            </a:lvl8pPr>
            <a:lvl9pPr algn="l">
              <a:defRPr sz="1575" b="1">
                <a:solidFill>
                  <a:srgbClr val="AAB8CC"/>
                </a:solidFill>
                <a:latin typeface="NanumGothic"/>
                <a:ea typeface="NanumGothic"/>
                <a:cs typeface="NanumGothic"/>
              </a:defRPr>
            </a:lvl9pPr>
          </a:lstStyle>
          <a:p xmlns:a="http://schemas.openxmlformats.org/drawingml/2006/main">
            <a:pPr algn="l">
              <a:defRPr sz="1575" b="1">
                <a:solidFill>
                  <a:srgbClr val="AAB8CC"/>
                </a:solidFill>
                <a:latin typeface="NanumGothic"/>
                <a:ea typeface="NanumGothic"/>
                <a:cs typeface="NanumGothic"/>
              </a:defRPr>
            </a:pPr>
            <a:r>
              <a:rPr sz="1575" b="1">
                <a:solidFill>
                  <a:srgbClr val="AAB8CC"/>
                </a:solidFill>
                <a:latin typeface="NanumGothic"/>
                <a:ea typeface="NanumGothic"/>
                <a:cs typeface="NanumGothic"/>
              </a:rPr>
              <a:t>mAP50-95 (%)  /  Seed 42</a:t>
            </a:r>
          </a:p>
        </p:txBody>
      </p:sp>
      <p:graphicFrame>
        <p:nvGraphicFramePr>
          <p:cNvPr id="6" name="">
            <a:extLst xmlns:a="http://schemas.openxmlformats.org/drawingml/2006/main">
              <a:ext uri="{FF2B5EF4-FFF2-40B4-BE49-F238E27FC236}">
                <a16:creationId xmlns:a16="http://schemas.microsoft.com/office/drawing/2014/main" id="{2276566E-924A-4303-85B0-DBD5E61A59C6}"/>
              </a:ext>
            </a:extLst>
          </p:cNvPr>
          <p:cNvGraphicFramePr/>
          <p:nvPr/>
        </p:nvGraphicFramePr>
        <p:xfrm>
          <a:off xmlns:a="http://schemas.openxmlformats.org/drawingml/2006/main" x="609600" y="1885950"/>
          <a:ext xmlns:a="http://schemas.openxmlformats.org/drawingml/2006/main" cx="10972800" cy="3886200"/>
        </p:xfrm>
        <a:graphic xmlns:a="http://schemas.openxmlformats.org/drawingml/2006/main">
          <a:graphicData uri="http://schemas.openxmlformats.org/drawingml/2006/table">
            <a:tbl>
              <a:tblPr/>
              <a:tblGrid>
                <a:gridCol w="4343400"/>
                <a:gridCol w="2209800"/>
                <a:gridCol w="2209800"/>
                <a:gridCol w="2209800"/>
              </a:tblGrid>
              <a:tr h="323850">
                <a:tc>
                  <a:txBody>
                    <a:bodyPr lIns="28575" tIns="28575" rIns="28575" bIns="28575"/>
                    <a:lstStyle/>
                    <a:p>
                      <a:pPr algn="l"/>
                      <a:r>
                        <a:rPr sz="1650" b="1">
                          <a:solidFill>
                            <a:srgbClr val="F7FAFF"/>
                          </a:solidFill>
                          <a:latin typeface="NanumGothic"/>
                          <a:ea typeface="NanumGothic"/>
                          <a:cs typeface="NanumGothic"/>
                        </a:rPr>
                        <a:t>Filter</a:t>
                      </a:r>
                    </a:p>
                  </a:txBody>
                  <a:tcPr marL="47625" marR="47625" marT="0" marB="0" anchor="ctr">
                    <a:lnL w="19050">
                      <a:solidFill>
                        <a:srgbClr val="080D15"/>
                      </a:solidFill>
                    </a:lnL>
                    <a:lnR w="19050">
                      <a:solidFill>
                        <a:srgbClr val="080D15"/>
                      </a:solidFill>
                    </a:lnR>
                    <a:lnT w="19050">
                      <a:solidFill>
                        <a:srgbClr val="080D15"/>
                      </a:solidFill>
                    </a:lnT>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Clean</a:t>
                      </a:r>
                    </a:p>
                  </a:txBody>
                  <a:tcPr marL="47625" marR="47625" marT="0" marB="0" anchor="ctr">
                    <a:lnR w="19050">
                      <a:solidFill>
                        <a:srgbClr val="080D15"/>
                      </a:solidFill>
                    </a:lnR>
                    <a:lnT w="19050">
                      <a:solidFill>
                        <a:srgbClr val="080D15"/>
                      </a:solidFill>
                    </a:lnT>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Noise std=40</a:t>
                      </a:r>
                    </a:p>
                  </a:txBody>
                  <a:tcPr marL="47625" marR="47625" marT="0" marB="0" anchor="ctr">
                    <a:lnR w="19050">
                      <a:solidFill>
                        <a:srgbClr val="080D15"/>
                      </a:solidFill>
                    </a:lnR>
                    <a:lnT w="19050">
                      <a:solidFill>
                        <a:srgbClr val="080D15"/>
                      </a:solidFill>
                    </a:lnT>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Noise std=80</a:t>
                      </a:r>
                    </a:p>
                  </a:txBody>
                  <a:tcPr marL="47625" marR="47625" marT="0" marB="0" anchor="ctr">
                    <a:lnR w="19050">
                      <a:solidFill>
                        <a:srgbClr val="080D15"/>
                      </a:solidFill>
                    </a:lnR>
                    <a:lnT w="19050">
                      <a:solidFill>
                        <a:srgbClr val="080D15"/>
                      </a:solidFill>
                    </a:lnT>
                    <a:lnB w="19050">
                      <a:solidFill>
                        <a:srgbClr val="080D15"/>
                      </a:solidFill>
                    </a:lnB>
                    <a:solidFill>
                      <a:srgbClr val="080D15"/>
                    </a:solidFill>
                  </a:tcPr>
                </a:tc>
              </a:tr>
              <a:tr h="323850">
                <a:tc>
                  <a:txBody>
                    <a:bodyPr lIns="28575" tIns="28575" rIns="28575" bIns="28575"/>
                    <a:lstStyle/>
                    <a:p>
                      <a:pPr algn="l"/>
                      <a:r>
                        <a:rPr sz="1650" b="1">
                          <a:solidFill>
                            <a:srgbClr val="F7FAFF"/>
                          </a:solidFill>
                          <a:latin typeface="NanumGothic"/>
                          <a:ea typeface="NanumGothic"/>
                          <a:cs typeface="NanumGothic"/>
                        </a:rPr>
                        <a:t>Original</a:t>
                      </a:r>
                    </a:p>
                  </a:txBody>
                  <a:tcPr marL="47625" marR="47625" marT="0" marB="0" anchor="ctr">
                    <a:lnL w="19050">
                      <a:solidFill>
                        <a:srgbClr val="080D15"/>
                      </a:solidFill>
                    </a:lnL>
                    <a:lnR w="19050">
                      <a:solidFill>
                        <a:srgbClr val="080D15"/>
                      </a:solidFill>
                    </a:lnR>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96.5</a:t>
                      </a:r>
                    </a:p>
                  </a:txBody>
                  <a:tcPr marL="47625" marR="47625" marT="0" marB="0" anchor="ctr">
                    <a:lnR w="19050">
                      <a:solidFill>
                        <a:srgbClr val="080D15"/>
                      </a:solidFill>
                    </a:lnR>
                    <a:lnB w="19050">
                      <a:solidFill>
                        <a:srgbClr val="080D15"/>
                      </a:solidFill>
                    </a:lnB>
                    <a:solidFill>
                      <a:srgbClr val="1070B6"/>
                    </a:solidFill>
                  </a:tcPr>
                </a:tc>
                <a:tc>
                  <a:txBody>
                    <a:bodyPr lIns="28575" tIns="28575" rIns="28575" bIns="28575"/>
                    <a:lstStyle/>
                    <a:p>
                      <a:pPr algn="ctr"/>
                      <a:r>
                        <a:rPr sz="1650" b="1">
                          <a:solidFill>
                            <a:srgbClr val="F7FAFF"/>
                          </a:solidFill>
                          <a:latin typeface="NanumGothic"/>
                          <a:ea typeface="NanumGothic"/>
                          <a:cs typeface="NanumGothic"/>
                        </a:rPr>
                        <a:t>88.1</a:t>
                      </a:r>
                    </a:p>
                  </a:txBody>
                  <a:tcPr marL="47625" marR="47625" marT="0" marB="0" anchor="ctr">
                    <a:lnR w="19050">
                      <a:solidFill>
                        <a:srgbClr val="080D15"/>
                      </a:solidFill>
                    </a:lnR>
                    <a:lnB w="19050">
                      <a:solidFill>
                        <a:srgbClr val="080D15"/>
                      </a:solidFill>
                    </a:lnB>
                    <a:solidFill>
                      <a:srgbClr val="0F68A9"/>
                    </a:solidFill>
                  </a:tcPr>
                </a:tc>
                <a:tc>
                  <a:txBody>
                    <a:bodyPr lIns="28575" tIns="28575" rIns="28575" bIns="28575"/>
                    <a:lstStyle/>
                    <a:p>
                      <a:pPr algn="ctr"/>
                      <a:r>
                        <a:rPr sz="1650" b="1">
                          <a:solidFill>
                            <a:srgbClr val="F7FAFF"/>
                          </a:solidFill>
                          <a:latin typeface="NanumGothic"/>
                          <a:ea typeface="NanumGothic"/>
                          <a:cs typeface="NanumGothic"/>
                        </a:rPr>
                        <a:t>79.3</a:t>
                      </a:r>
                    </a:p>
                  </a:txBody>
                  <a:tcPr marL="47625" marR="47625" marT="0" marB="0" anchor="ctr">
                    <a:lnR w="19050">
                      <a:solidFill>
                        <a:srgbClr val="080D15"/>
                      </a:solidFill>
                    </a:lnR>
                    <a:lnB w="19050">
                      <a:solidFill>
                        <a:srgbClr val="080D15"/>
                      </a:solidFill>
                    </a:lnB>
                    <a:solidFill>
                      <a:srgbClr val="0E5F9D"/>
                    </a:solidFill>
                  </a:tcPr>
                </a:tc>
              </a:tr>
              <a:tr h="323850">
                <a:tc>
                  <a:txBody>
                    <a:bodyPr lIns="28575" tIns="28575" rIns="28575" bIns="28575"/>
                    <a:lstStyle/>
                    <a:p>
                      <a:pPr algn="l"/>
                      <a:r>
                        <a:rPr sz="1650" b="1">
                          <a:solidFill>
                            <a:srgbClr val="F7FAFF"/>
                          </a:solidFill>
                          <a:latin typeface="NanumGothic"/>
                          <a:ea typeface="NanumGothic"/>
                          <a:cs typeface="NanumGothic"/>
                        </a:rPr>
                        <a:t>Invert</a:t>
                      </a:r>
                    </a:p>
                  </a:txBody>
                  <a:tcPr marL="47625" marR="47625" marT="0" marB="0" anchor="ctr">
                    <a:lnL w="19050">
                      <a:solidFill>
                        <a:srgbClr val="080D15"/>
                      </a:solidFill>
                    </a:lnL>
                    <a:lnR w="19050">
                      <a:solidFill>
                        <a:srgbClr val="080D15"/>
                      </a:solidFill>
                    </a:lnR>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95.6</a:t>
                      </a:r>
                    </a:p>
                  </a:txBody>
                  <a:tcPr marL="47625" marR="47625" marT="0" marB="0" anchor="ctr">
                    <a:lnR w="19050">
                      <a:solidFill>
                        <a:srgbClr val="080D15"/>
                      </a:solidFill>
                    </a:lnR>
                    <a:lnB w="19050">
                      <a:solidFill>
                        <a:srgbClr val="080D15"/>
                      </a:solidFill>
                    </a:lnB>
                    <a:solidFill>
                      <a:srgbClr val="106FB5"/>
                    </a:solidFill>
                  </a:tcPr>
                </a:tc>
                <a:tc>
                  <a:txBody>
                    <a:bodyPr lIns="28575" tIns="28575" rIns="28575" bIns="28575"/>
                    <a:lstStyle/>
                    <a:p>
                      <a:pPr algn="ctr"/>
                      <a:r>
                        <a:rPr sz="1650" b="1">
                          <a:solidFill>
                            <a:srgbClr val="F7FAFF"/>
                          </a:solidFill>
                          <a:latin typeface="NanumGothic"/>
                          <a:ea typeface="NanumGothic"/>
                          <a:cs typeface="NanumGothic"/>
                        </a:rPr>
                        <a:t>85.2</a:t>
                      </a:r>
                    </a:p>
                  </a:txBody>
                  <a:tcPr marL="47625" marR="47625" marT="0" marB="0" anchor="ctr">
                    <a:lnR w="19050">
                      <a:solidFill>
                        <a:srgbClr val="080D15"/>
                      </a:solidFill>
                    </a:lnR>
                    <a:lnB w="19050">
                      <a:solidFill>
                        <a:srgbClr val="080D15"/>
                      </a:solidFill>
                    </a:lnB>
                    <a:solidFill>
                      <a:srgbClr val="0F65A5"/>
                    </a:solidFill>
                  </a:tcPr>
                </a:tc>
                <a:tc>
                  <a:txBody>
                    <a:bodyPr lIns="28575" tIns="28575" rIns="28575" bIns="28575"/>
                    <a:lstStyle/>
                    <a:p>
                      <a:pPr algn="ctr"/>
                      <a:r>
                        <a:rPr sz="1650" b="1">
                          <a:solidFill>
                            <a:srgbClr val="F7FAFF"/>
                          </a:solidFill>
                          <a:latin typeface="NanumGothic"/>
                          <a:ea typeface="NanumGothic"/>
                          <a:cs typeface="NanumGothic"/>
                        </a:rPr>
                        <a:t>72.2</a:t>
                      </a:r>
                    </a:p>
                  </a:txBody>
                  <a:tcPr marL="47625" marR="47625" marT="0" marB="0" anchor="ctr">
                    <a:lnR w="19050">
                      <a:solidFill>
                        <a:srgbClr val="080D15"/>
                      </a:solidFill>
                    </a:lnR>
                    <a:lnB w="19050">
                      <a:solidFill>
                        <a:srgbClr val="080D15"/>
                      </a:solidFill>
                    </a:lnB>
                    <a:solidFill>
                      <a:srgbClr val="0E5992"/>
                    </a:solidFill>
                  </a:tcPr>
                </a:tc>
              </a:tr>
              <a:tr h="323850">
                <a:tc>
                  <a:txBody>
                    <a:bodyPr lIns="28575" tIns="28575" rIns="28575" bIns="28575"/>
                    <a:lstStyle/>
                    <a:p>
                      <a:pPr algn="l"/>
                      <a:r>
                        <a:rPr sz="1650" b="1">
                          <a:solidFill>
                            <a:srgbClr val="F7FAFF"/>
                          </a:solidFill>
                          <a:latin typeface="NanumGothic"/>
                          <a:ea typeface="NanumGothic"/>
                          <a:cs typeface="NanumGothic"/>
                        </a:rPr>
                        <a:t>Otsu Threshold</a:t>
                      </a:r>
                    </a:p>
                  </a:txBody>
                  <a:tcPr marL="47625" marR="47625" marT="0" marB="0" anchor="ctr">
                    <a:lnL w="19050">
                      <a:solidFill>
                        <a:srgbClr val="080D15"/>
                      </a:solidFill>
                    </a:lnL>
                    <a:lnR w="19050">
                      <a:solidFill>
                        <a:srgbClr val="080D15"/>
                      </a:solidFill>
                    </a:lnR>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60.5</a:t>
                      </a:r>
                    </a:p>
                  </a:txBody>
                  <a:tcPr marL="47625" marR="47625" marT="0" marB="0" anchor="ctr">
                    <a:lnR w="19050">
                      <a:solidFill>
                        <a:srgbClr val="080D15"/>
                      </a:solidFill>
                    </a:lnR>
                    <a:lnB w="19050">
                      <a:solidFill>
                        <a:srgbClr val="080D15"/>
                      </a:solidFill>
                    </a:lnB>
                    <a:solidFill>
                      <a:srgbClr val="0D4D81"/>
                    </a:solidFill>
                  </a:tcPr>
                </a:tc>
                <a:tc>
                  <a:txBody>
                    <a:bodyPr lIns="28575" tIns="28575" rIns="28575" bIns="28575"/>
                    <a:lstStyle/>
                    <a:p>
                      <a:pPr algn="ctr"/>
                      <a:r>
                        <a:rPr sz="1650" b="1">
                          <a:solidFill>
                            <a:srgbClr val="F7FAFF"/>
                          </a:solidFill>
                          <a:latin typeface="NanumGothic"/>
                          <a:ea typeface="NanumGothic"/>
                          <a:cs typeface="NanumGothic"/>
                        </a:rPr>
                        <a:t>85.3</a:t>
                      </a:r>
                    </a:p>
                  </a:txBody>
                  <a:tcPr marL="47625" marR="47625" marT="0" marB="0" anchor="ctr">
                    <a:lnR w="19050">
                      <a:solidFill>
                        <a:srgbClr val="080D15"/>
                      </a:solidFill>
                    </a:lnR>
                    <a:lnB w="19050">
                      <a:solidFill>
                        <a:srgbClr val="080D15"/>
                      </a:solidFill>
                    </a:lnB>
                    <a:solidFill>
                      <a:srgbClr val="0F65A5"/>
                    </a:solidFill>
                  </a:tcPr>
                </a:tc>
                <a:tc>
                  <a:txBody>
                    <a:bodyPr lIns="28575" tIns="28575" rIns="28575" bIns="28575"/>
                    <a:lstStyle/>
                    <a:p>
                      <a:pPr algn="ctr"/>
                      <a:r>
                        <a:rPr sz="1650" b="1">
                          <a:solidFill>
                            <a:srgbClr val="F7FAFF"/>
                          </a:solidFill>
                          <a:latin typeface="NanumGothic"/>
                          <a:ea typeface="NanumGothic"/>
                          <a:cs typeface="NanumGothic"/>
                        </a:rPr>
                        <a:t>76.6</a:t>
                      </a:r>
                    </a:p>
                  </a:txBody>
                  <a:tcPr marL="47625" marR="47625" marT="0" marB="0" anchor="ctr">
                    <a:lnR w="19050">
                      <a:solidFill>
                        <a:srgbClr val="080D15"/>
                      </a:solidFill>
                    </a:lnR>
                    <a:lnB w="19050">
                      <a:solidFill>
                        <a:srgbClr val="080D15"/>
                      </a:solidFill>
                    </a:lnB>
                    <a:solidFill>
                      <a:srgbClr val="0E5D99"/>
                    </a:solidFill>
                  </a:tcPr>
                </a:tc>
              </a:tr>
              <a:tr h="323850">
                <a:tc>
                  <a:txBody>
                    <a:bodyPr lIns="28575" tIns="28575" rIns="28575" bIns="28575"/>
                    <a:lstStyle/>
                    <a:p>
                      <a:pPr algn="l"/>
                      <a:r>
                        <a:rPr sz="1650" b="1">
                          <a:solidFill>
                            <a:srgbClr val="F7FAFF"/>
                          </a:solidFill>
                          <a:latin typeface="NanumGothic"/>
                          <a:ea typeface="NanumGothic"/>
                          <a:cs typeface="NanumGothic"/>
                        </a:rPr>
                        <a:t>Solarize</a:t>
                      </a:r>
                    </a:p>
                  </a:txBody>
                  <a:tcPr marL="47625" marR="47625" marT="0" marB="0" anchor="ctr">
                    <a:lnL w="19050">
                      <a:solidFill>
                        <a:srgbClr val="080D15"/>
                      </a:solidFill>
                    </a:lnL>
                    <a:lnR w="19050">
                      <a:solidFill>
                        <a:srgbClr val="080D15"/>
                      </a:solidFill>
                    </a:lnR>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96.4</a:t>
                      </a:r>
                    </a:p>
                  </a:txBody>
                  <a:tcPr marL="47625" marR="47625" marT="0" marB="0" anchor="ctr">
                    <a:lnR w="19050">
                      <a:solidFill>
                        <a:srgbClr val="080D15"/>
                      </a:solidFill>
                    </a:lnR>
                    <a:lnB w="19050">
                      <a:solidFill>
                        <a:srgbClr val="080D15"/>
                      </a:solidFill>
                    </a:lnB>
                    <a:solidFill>
                      <a:srgbClr val="1070B6"/>
                    </a:solidFill>
                  </a:tcPr>
                </a:tc>
                <a:tc>
                  <a:txBody>
                    <a:bodyPr lIns="28575" tIns="28575" rIns="28575" bIns="28575"/>
                    <a:lstStyle/>
                    <a:p>
                      <a:pPr algn="ctr"/>
                      <a:r>
                        <a:rPr sz="1650" b="1">
                          <a:solidFill>
                            <a:srgbClr val="F7FAFF"/>
                          </a:solidFill>
                          <a:latin typeface="NanumGothic"/>
                          <a:ea typeface="NanumGothic"/>
                          <a:cs typeface="NanumGothic"/>
                        </a:rPr>
                        <a:t>86.9</a:t>
                      </a:r>
                    </a:p>
                  </a:txBody>
                  <a:tcPr marL="47625" marR="47625" marT="0" marB="0" anchor="ctr">
                    <a:lnR w="19050">
                      <a:solidFill>
                        <a:srgbClr val="080D15"/>
                      </a:solidFill>
                    </a:lnR>
                    <a:lnB w="19050">
                      <a:solidFill>
                        <a:srgbClr val="080D15"/>
                      </a:solidFill>
                    </a:lnB>
                    <a:solidFill>
                      <a:srgbClr val="0F67A8"/>
                    </a:solidFill>
                  </a:tcPr>
                </a:tc>
                <a:tc>
                  <a:txBody>
                    <a:bodyPr lIns="28575" tIns="28575" rIns="28575" bIns="28575"/>
                    <a:lstStyle/>
                    <a:p>
                      <a:pPr algn="ctr"/>
                      <a:r>
                        <a:rPr sz="1650" b="1">
                          <a:solidFill>
                            <a:srgbClr val="F7FAFF"/>
                          </a:solidFill>
                          <a:latin typeface="NanumGothic"/>
                          <a:ea typeface="NanumGothic"/>
                          <a:cs typeface="NanumGothic"/>
                        </a:rPr>
                        <a:t>74.8</a:t>
                      </a:r>
                    </a:p>
                  </a:txBody>
                  <a:tcPr marL="47625" marR="47625" marT="0" marB="0" anchor="ctr">
                    <a:lnR w="19050">
                      <a:solidFill>
                        <a:srgbClr val="080D15"/>
                      </a:solidFill>
                    </a:lnR>
                    <a:lnB w="19050">
                      <a:solidFill>
                        <a:srgbClr val="080D15"/>
                      </a:solidFill>
                    </a:lnB>
                    <a:solidFill>
                      <a:srgbClr val="0E5B96"/>
                    </a:solidFill>
                  </a:tcPr>
                </a:tc>
              </a:tr>
              <a:tr h="323850">
                <a:tc>
                  <a:txBody>
                    <a:bodyPr lIns="28575" tIns="28575" rIns="28575" bIns="28575"/>
                    <a:lstStyle/>
                    <a:p>
                      <a:pPr algn="l"/>
                      <a:r>
                        <a:rPr sz="1650" b="1">
                          <a:solidFill>
                            <a:srgbClr val="F7FAFF"/>
                          </a:solidFill>
                          <a:latin typeface="NanumGothic"/>
                          <a:ea typeface="NanumGothic"/>
                          <a:cs typeface="NanumGothic"/>
                        </a:rPr>
                        <a:t>Histogram Equalization</a:t>
                      </a:r>
                    </a:p>
                  </a:txBody>
                  <a:tcPr marL="47625" marR="47625" marT="0" marB="0" anchor="ctr">
                    <a:lnL w="19050">
                      <a:solidFill>
                        <a:srgbClr val="080D15"/>
                      </a:solidFill>
                    </a:lnL>
                    <a:lnR w="19050">
                      <a:solidFill>
                        <a:srgbClr val="080D15"/>
                      </a:solidFill>
                    </a:lnR>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96.3</a:t>
                      </a:r>
                    </a:p>
                  </a:txBody>
                  <a:tcPr marL="47625" marR="47625" marT="0" marB="0" anchor="ctr">
                    <a:lnR w="19050">
                      <a:solidFill>
                        <a:srgbClr val="080D15"/>
                      </a:solidFill>
                    </a:lnR>
                    <a:lnB w="19050">
                      <a:solidFill>
                        <a:srgbClr val="080D15"/>
                      </a:solidFill>
                    </a:lnB>
                    <a:solidFill>
                      <a:srgbClr val="106FB6"/>
                    </a:solidFill>
                  </a:tcPr>
                </a:tc>
                <a:tc>
                  <a:txBody>
                    <a:bodyPr lIns="28575" tIns="28575" rIns="28575" bIns="28575"/>
                    <a:lstStyle/>
                    <a:p>
                      <a:pPr algn="ctr"/>
                      <a:r>
                        <a:rPr sz="1650" b="1">
                          <a:solidFill>
                            <a:srgbClr val="F7FAFF"/>
                          </a:solidFill>
                          <a:latin typeface="NanumGothic"/>
                          <a:ea typeface="NanumGothic"/>
                          <a:cs typeface="NanumGothic"/>
                        </a:rPr>
                        <a:t>88.1</a:t>
                      </a:r>
                    </a:p>
                  </a:txBody>
                  <a:tcPr marL="47625" marR="47625" marT="0" marB="0" anchor="ctr">
                    <a:lnR w="19050">
                      <a:solidFill>
                        <a:srgbClr val="080D15"/>
                      </a:solidFill>
                    </a:lnR>
                    <a:lnB w="19050">
                      <a:solidFill>
                        <a:srgbClr val="080D15"/>
                      </a:solidFill>
                    </a:lnB>
                    <a:solidFill>
                      <a:srgbClr val="0F68A9"/>
                    </a:solidFill>
                  </a:tcPr>
                </a:tc>
                <a:tc>
                  <a:txBody>
                    <a:bodyPr lIns="28575" tIns="28575" rIns="28575" bIns="28575"/>
                    <a:lstStyle/>
                    <a:p>
                      <a:pPr algn="ctr"/>
                      <a:r>
                        <a:rPr sz="1650" b="1">
                          <a:solidFill>
                            <a:srgbClr val="F7FAFF"/>
                          </a:solidFill>
                          <a:latin typeface="NanumGothic"/>
                          <a:ea typeface="NanumGothic"/>
                          <a:cs typeface="NanumGothic"/>
                        </a:rPr>
                        <a:t>79.2</a:t>
                      </a:r>
                    </a:p>
                  </a:txBody>
                  <a:tcPr marL="47625" marR="47625" marT="0" marB="0" anchor="ctr">
                    <a:lnR w="19050">
                      <a:solidFill>
                        <a:srgbClr val="080D15"/>
                      </a:solidFill>
                    </a:lnR>
                    <a:lnB w="19050">
                      <a:solidFill>
                        <a:srgbClr val="080D15"/>
                      </a:solidFill>
                    </a:lnB>
                    <a:solidFill>
                      <a:srgbClr val="0E5F9C"/>
                    </a:solidFill>
                  </a:tcPr>
                </a:tc>
              </a:tr>
              <a:tr h="323850">
                <a:tc>
                  <a:txBody>
                    <a:bodyPr lIns="28575" tIns="28575" rIns="28575" bIns="28575"/>
                    <a:lstStyle/>
                    <a:p>
                      <a:pPr algn="l"/>
                      <a:r>
                        <a:rPr sz="1650" b="1">
                          <a:solidFill>
                            <a:srgbClr val="F7FAFF"/>
                          </a:solidFill>
                          <a:latin typeface="NanumGothic"/>
                          <a:ea typeface="NanumGothic"/>
                          <a:cs typeface="NanumGothic"/>
                        </a:rPr>
                        <a:t>CLAHE (max)</a:t>
                      </a:r>
                    </a:p>
                  </a:txBody>
                  <a:tcPr marL="47625" marR="47625" marT="0" marB="0" anchor="ctr">
                    <a:lnL w="19050">
                      <a:solidFill>
                        <a:srgbClr val="080D15"/>
                      </a:solidFill>
                    </a:lnL>
                    <a:lnR w="19050">
                      <a:solidFill>
                        <a:srgbClr val="080D15"/>
                      </a:solidFill>
                    </a:lnR>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96.0</a:t>
                      </a:r>
                    </a:p>
                  </a:txBody>
                  <a:tcPr marL="47625" marR="47625" marT="0" marB="0" anchor="ctr">
                    <a:lnR w="19050">
                      <a:solidFill>
                        <a:srgbClr val="080D15"/>
                      </a:solidFill>
                    </a:lnR>
                    <a:lnB w="19050">
                      <a:solidFill>
                        <a:srgbClr val="080D15"/>
                      </a:solidFill>
                    </a:lnB>
                    <a:solidFill>
                      <a:srgbClr val="106FB5"/>
                    </a:solidFill>
                  </a:tcPr>
                </a:tc>
                <a:tc>
                  <a:txBody>
                    <a:bodyPr lIns="28575" tIns="28575" rIns="28575" bIns="28575"/>
                    <a:lstStyle/>
                    <a:p>
                      <a:pPr algn="ctr"/>
                      <a:r>
                        <a:rPr sz="1650" b="1">
                          <a:solidFill>
                            <a:srgbClr val="F7FAFF"/>
                          </a:solidFill>
                          <a:latin typeface="NanumGothic"/>
                          <a:ea typeface="NanumGothic"/>
                          <a:cs typeface="NanumGothic"/>
                        </a:rPr>
                        <a:t>87.6</a:t>
                      </a:r>
                    </a:p>
                  </a:txBody>
                  <a:tcPr marL="47625" marR="47625" marT="0" marB="0" anchor="ctr">
                    <a:lnR w="19050">
                      <a:solidFill>
                        <a:srgbClr val="080D15"/>
                      </a:solidFill>
                    </a:lnR>
                    <a:lnB w="19050">
                      <a:solidFill>
                        <a:srgbClr val="080D15"/>
                      </a:solidFill>
                    </a:lnB>
                    <a:solidFill>
                      <a:srgbClr val="0F67A9"/>
                    </a:solidFill>
                  </a:tcPr>
                </a:tc>
                <a:tc>
                  <a:txBody>
                    <a:bodyPr lIns="28575" tIns="28575" rIns="28575" bIns="28575"/>
                    <a:lstStyle/>
                    <a:p>
                      <a:pPr algn="ctr"/>
                      <a:r>
                        <a:rPr sz="1650" b="1">
                          <a:solidFill>
                            <a:srgbClr val="F7FAFF"/>
                          </a:solidFill>
                          <a:latin typeface="NanumGothic"/>
                          <a:ea typeface="NanumGothic"/>
                          <a:cs typeface="NanumGothic"/>
                        </a:rPr>
                        <a:t>78.8</a:t>
                      </a:r>
                    </a:p>
                  </a:txBody>
                  <a:tcPr marL="47625" marR="47625" marT="0" marB="0" anchor="ctr">
                    <a:lnR w="19050">
                      <a:solidFill>
                        <a:srgbClr val="080D15"/>
                      </a:solidFill>
                    </a:lnR>
                    <a:lnB w="19050">
                      <a:solidFill>
                        <a:srgbClr val="080D15"/>
                      </a:solidFill>
                    </a:lnB>
                    <a:solidFill>
                      <a:srgbClr val="0E5F9C"/>
                    </a:solidFill>
                  </a:tcPr>
                </a:tc>
              </a:tr>
              <a:tr h="323850">
                <a:tc>
                  <a:txBody>
                    <a:bodyPr lIns="28575" tIns="28575" rIns="28575" bIns="28575"/>
                    <a:lstStyle/>
                    <a:p>
                      <a:pPr algn="l"/>
                      <a:r>
                        <a:rPr sz="1650" b="1">
                          <a:solidFill>
                            <a:srgbClr val="F7FAFF"/>
                          </a:solidFill>
                          <a:latin typeface="NanumGothic"/>
                          <a:ea typeface="NanumGothic"/>
                          <a:cs typeface="NanumGothic"/>
                        </a:rPr>
                        <a:t>Gamma 0.3</a:t>
                      </a:r>
                    </a:p>
                  </a:txBody>
                  <a:tcPr marL="47625" marR="47625" marT="0" marB="0" anchor="ctr">
                    <a:lnL w="19050">
                      <a:solidFill>
                        <a:srgbClr val="080D15"/>
                      </a:solidFill>
                    </a:lnL>
                    <a:lnR w="19050">
                      <a:solidFill>
                        <a:srgbClr val="080D15"/>
                      </a:solidFill>
                    </a:lnR>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96.7</a:t>
                      </a:r>
                    </a:p>
                  </a:txBody>
                  <a:tcPr marL="47625" marR="47625" marT="0" marB="0" anchor="ctr">
                    <a:lnR w="19050">
                      <a:solidFill>
                        <a:srgbClr val="080D15"/>
                      </a:solidFill>
                    </a:lnR>
                    <a:lnB w="19050">
                      <a:solidFill>
                        <a:srgbClr val="080D15"/>
                      </a:solidFill>
                    </a:lnB>
                    <a:solidFill>
                      <a:srgbClr val="1070B6"/>
                    </a:solidFill>
                  </a:tcPr>
                </a:tc>
                <a:tc>
                  <a:txBody>
                    <a:bodyPr lIns="28575" tIns="28575" rIns="28575" bIns="28575"/>
                    <a:lstStyle/>
                    <a:p>
                      <a:pPr algn="ctr"/>
                      <a:r>
                        <a:rPr sz="1650" b="1">
                          <a:solidFill>
                            <a:srgbClr val="F7FAFF"/>
                          </a:solidFill>
                          <a:latin typeface="NanumGothic"/>
                          <a:ea typeface="NanumGothic"/>
                          <a:cs typeface="NanumGothic"/>
                        </a:rPr>
                        <a:t>87.6</a:t>
                      </a:r>
                    </a:p>
                  </a:txBody>
                  <a:tcPr marL="47625" marR="47625" marT="0" marB="0" anchor="ctr">
                    <a:lnR w="19050">
                      <a:solidFill>
                        <a:srgbClr val="080D15"/>
                      </a:solidFill>
                    </a:lnR>
                    <a:lnB w="19050">
                      <a:solidFill>
                        <a:srgbClr val="080D15"/>
                      </a:solidFill>
                    </a:lnB>
                    <a:solidFill>
                      <a:srgbClr val="0F67A9"/>
                    </a:solidFill>
                  </a:tcPr>
                </a:tc>
                <a:tc>
                  <a:txBody>
                    <a:bodyPr lIns="28575" tIns="28575" rIns="28575" bIns="28575"/>
                    <a:lstStyle/>
                    <a:p>
                      <a:pPr algn="ctr"/>
                      <a:r>
                        <a:rPr sz="1650" b="1">
                          <a:solidFill>
                            <a:srgbClr val="F7FAFF"/>
                          </a:solidFill>
                          <a:latin typeface="NanumGothic"/>
                          <a:ea typeface="NanumGothic"/>
                          <a:cs typeface="NanumGothic"/>
                        </a:rPr>
                        <a:t>79.0</a:t>
                      </a:r>
                    </a:p>
                  </a:txBody>
                  <a:tcPr marL="47625" marR="47625" marT="0" marB="0" anchor="ctr">
                    <a:lnR w="19050">
                      <a:solidFill>
                        <a:srgbClr val="080D15"/>
                      </a:solidFill>
                    </a:lnR>
                    <a:lnB w="19050">
                      <a:solidFill>
                        <a:srgbClr val="080D15"/>
                      </a:solidFill>
                    </a:lnB>
                    <a:solidFill>
                      <a:srgbClr val="0E5F9C"/>
                    </a:solidFill>
                  </a:tcPr>
                </a:tc>
              </a:tr>
              <a:tr h="323850">
                <a:tc>
                  <a:txBody>
                    <a:bodyPr lIns="28575" tIns="28575" rIns="28575" bIns="28575"/>
                    <a:lstStyle/>
                    <a:p>
                      <a:pPr algn="l"/>
                      <a:r>
                        <a:rPr sz="1650" b="1">
                          <a:solidFill>
                            <a:srgbClr val="F7FAFF"/>
                          </a:solidFill>
                          <a:latin typeface="NanumGothic"/>
                          <a:ea typeface="NanumGothic"/>
                          <a:cs typeface="NanumGothic"/>
                        </a:rPr>
                        <a:t>Gaussian Blur (max)</a:t>
                      </a:r>
                    </a:p>
                  </a:txBody>
                  <a:tcPr marL="47625" marR="47625" marT="0" marB="0" anchor="ctr">
                    <a:lnL w="19050">
                      <a:solidFill>
                        <a:srgbClr val="080D15"/>
                      </a:solidFill>
                    </a:lnL>
                    <a:lnR w="19050">
                      <a:solidFill>
                        <a:srgbClr val="080D15"/>
                      </a:solidFill>
                    </a:lnR>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93.4</a:t>
                      </a:r>
                    </a:p>
                  </a:txBody>
                  <a:tcPr marL="47625" marR="47625" marT="0" marB="0" anchor="ctr">
                    <a:lnR w="19050">
                      <a:solidFill>
                        <a:srgbClr val="080D15"/>
                      </a:solidFill>
                    </a:lnR>
                    <a:lnB w="19050">
                      <a:solidFill>
                        <a:srgbClr val="080D15"/>
                      </a:solidFill>
                    </a:lnB>
                    <a:solidFill>
                      <a:srgbClr val="0F6DB1"/>
                    </a:solidFill>
                  </a:tcPr>
                </a:tc>
                <a:tc>
                  <a:txBody>
                    <a:bodyPr lIns="28575" tIns="28575" rIns="28575" bIns="28575"/>
                    <a:lstStyle/>
                    <a:p>
                      <a:pPr algn="ctr"/>
                      <a:r>
                        <a:rPr sz="1650" b="1">
                          <a:solidFill>
                            <a:srgbClr val="F7FAFF"/>
                          </a:solidFill>
                          <a:latin typeface="NanumGothic"/>
                          <a:ea typeface="NanumGothic"/>
                          <a:cs typeface="NanumGothic"/>
                        </a:rPr>
                        <a:t>88.8</a:t>
                      </a:r>
                    </a:p>
                  </a:txBody>
                  <a:tcPr marL="47625" marR="47625" marT="0" marB="0" anchor="ctr">
                    <a:lnR w="19050">
                      <a:solidFill>
                        <a:srgbClr val="080D15"/>
                      </a:solidFill>
                    </a:lnR>
                    <a:lnB w="19050">
                      <a:solidFill>
                        <a:srgbClr val="080D15"/>
                      </a:solidFill>
                    </a:lnB>
                    <a:solidFill>
                      <a:srgbClr val="0F68AB"/>
                    </a:solidFill>
                  </a:tcPr>
                </a:tc>
                <a:tc>
                  <a:txBody>
                    <a:bodyPr lIns="28575" tIns="28575" rIns="28575" bIns="28575"/>
                    <a:lstStyle/>
                    <a:p>
                      <a:pPr algn="ctr"/>
                      <a:r>
                        <a:rPr sz="1650" b="1">
                          <a:solidFill>
                            <a:srgbClr val="F7FAFF"/>
                          </a:solidFill>
                          <a:latin typeface="NanumGothic"/>
                          <a:ea typeface="NanumGothic"/>
                          <a:cs typeface="NanumGothic"/>
                        </a:rPr>
                        <a:t>82.9</a:t>
                      </a:r>
                    </a:p>
                  </a:txBody>
                  <a:tcPr marL="47625" marR="47625" marT="0" marB="0" anchor="ctr">
                    <a:lnR w="19050">
                      <a:solidFill>
                        <a:srgbClr val="080D15"/>
                      </a:solidFill>
                    </a:lnR>
                    <a:lnB w="19050">
                      <a:solidFill>
                        <a:srgbClr val="080D15"/>
                      </a:solidFill>
                    </a:lnB>
                    <a:solidFill>
                      <a:srgbClr val="0F63A2"/>
                    </a:solidFill>
                  </a:tcPr>
                </a:tc>
              </a:tr>
              <a:tr h="323850">
                <a:tc>
                  <a:txBody>
                    <a:bodyPr lIns="28575" tIns="28575" rIns="28575" bIns="28575"/>
                    <a:lstStyle/>
                    <a:p>
                      <a:pPr algn="l"/>
                      <a:r>
                        <a:rPr sz="1650" b="1">
                          <a:solidFill>
                            <a:srgbClr val="F7FAFF"/>
                          </a:solidFill>
                          <a:latin typeface="NanumGothic"/>
                          <a:ea typeface="NanumGothic"/>
                          <a:cs typeface="NanumGothic"/>
                        </a:rPr>
                        <a:t>Sobel Edges</a:t>
                      </a:r>
                    </a:p>
                  </a:txBody>
                  <a:tcPr marL="47625" marR="47625" marT="0" marB="0" anchor="ctr">
                    <a:lnL w="19050">
                      <a:solidFill>
                        <a:srgbClr val="080D15"/>
                      </a:solidFill>
                    </a:lnL>
                    <a:lnR w="19050">
                      <a:solidFill>
                        <a:srgbClr val="080D15"/>
                      </a:solidFill>
                    </a:lnR>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96.4</a:t>
                      </a:r>
                    </a:p>
                  </a:txBody>
                  <a:tcPr marL="47625" marR="47625" marT="0" marB="0" anchor="ctr">
                    <a:lnR w="19050">
                      <a:solidFill>
                        <a:srgbClr val="080D15"/>
                      </a:solidFill>
                    </a:lnR>
                    <a:lnB w="19050">
                      <a:solidFill>
                        <a:srgbClr val="080D15"/>
                      </a:solidFill>
                    </a:lnB>
                    <a:solidFill>
                      <a:srgbClr val="1070B6"/>
                    </a:solidFill>
                  </a:tcPr>
                </a:tc>
                <a:tc>
                  <a:txBody>
                    <a:bodyPr lIns="28575" tIns="28575" rIns="28575" bIns="28575"/>
                    <a:lstStyle/>
                    <a:p>
                      <a:pPr algn="ctr"/>
                      <a:r>
                        <a:rPr sz="1650" b="1">
                          <a:solidFill>
                            <a:srgbClr val="F7FAFF"/>
                          </a:solidFill>
                          <a:latin typeface="NanumGothic"/>
                          <a:ea typeface="NanumGothic"/>
                          <a:cs typeface="NanumGothic"/>
                        </a:rPr>
                        <a:t>78.1</a:t>
                      </a:r>
                    </a:p>
                  </a:txBody>
                  <a:tcPr marL="47625" marR="47625" marT="0" marB="0" anchor="ctr">
                    <a:lnR w="19050">
                      <a:solidFill>
                        <a:srgbClr val="080D15"/>
                      </a:solidFill>
                    </a:lnR>
                    <a:lnB w="19050">
                      <a:solidFill>
                        <a:srgbClr val="080D15"/>
                      </a:solidFill>
                    </a:lnB>
                    <a:solidFill>
                      <a:srgbClr val="0E5E9B"/>
                    </a:solidFill>
                  </a:tcPr>
                </a:tc>
                <a:tc>
                  <a:txBody>
                    <a:bodyPr lIns="28575" tIns="28575" rIns="28575" bIns="28575"/>
                    <a:lstStyle/>
                    <a:p>
                      <a:pPr algn="ctr"/>
                      <a:r>
                        <a:rPr sz="1650" b="1">
                          <a:solidFill>
                            <a:srgbClr val="F7FAFF"/>
                          </a:solidFill>
                          <a:latin typeface="NanumGothic"/>
                          <a:ea typeface="NanumGothic"/>
                          <a:cs typeface="NanumGothic"/>
                        </a:rPr>
                        <a:t>71.1</a:t>
                      </a:r>
                    </a:p>
                  </a:txBody>
                  <a:tcPr marL="47625" marR="47625" marT="0" marB="0" anchor="ctr">
                    <a:lnR w="19050">
                      <a:solidFill>
                        <a:srgbClr val="080D15"/>
                      </a:solidFill>
                    </a:lnR>
                    <a:lnB w="19050">
                      <a:solidFill>
                        <a:srgbClr val="080D15"/>
                      </a:solidFill>
                    </a:lnB>
                    <a:solidFill>
                      <a:srgbClr val="0E5790"/>
                    </a:solidFill>
                  </a:tcPr>
                </a:tc>
              </a:tr>
              <a:tr h="323850">
                <a:tc>
                  <a:txBody>
                    <a:bodyPr lIns="28575" tIns="28575" rIns="28575" bIns="28575"/>
                    <a:lstStyle/>
                    <a:p>
                      <a:pPr algn="l"/>
                      <a:r>
                        <a:rPr sz="1650" b="1">
                          <a:solidFill>
                            <a:srgbClr val="F7FAFF"/>
                          </a:solidFill>
                          <a:latin typeface="NanumGothic"/>
                          <a:ea typeface="NanumGothic"/>
                          <a:cs typeface="NanumGothic"/>
                        </a:rPr>
                        <a:t>Emboss</a:t>
                      </a:r>
                    </a:p>
                  </a:txBody>
                  <a:tcPr marL="47625" marR="47625" marT="0" marB="0" anchor="ctr">
                    <a:lnL w="19050">
                      <a:solidFill>
                        <a:srgbClr val="080D15"/>
                      </a:solidFill>
                    </a:lnL>
                    <a:lnR w="19050">
                      <a:solidFill>
                        <a:srgbClr val="080D15"/>
                      </a:solidFill>
                    </a:lnR>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96.1</a:t>
                      </a:r>
                    </a:p>
                  </a:txBody>
                  <a:tcPr marL="47625" marR="47625" marT="0" marB="0" anchor="ctr">
                    <a:lnR w="19050">
                      <a:solidFill>
                        <a:srgbClr val="080D15"/>
                      </a:solidFill>
                    </a:lnR>
                    <a:lnB w="19050">
                      <a:solidFill>
                        <a:srgbClr val="080D15"/>
                      </a:solidFill>
                    </a:lnB>
                    <a:solidFill>
                      <a:srgbClr val="106FB5"/>
                    </a:solidFill>
                  </a:tcPr>
                </a:tc>
                <a:tc>
                  <a:txBody>
                    <a:bodyPr lIns="28575" tIns="28575" rIns="28575" bIns="28575"/>
                    <a:lstStyle/>
                    <a:p>
                      <a:pPr algn="ctr"/>
                      <a:r>
                        <a:rPr sz="1650" b="1">
                          <a:solidFill>
                            <a:srgbClr val="F7FAFF"/>
                          </a:solidFill>
                          <a:latin typeface="NanumGothic"/>
                          <a:ea typeface="NanumGothic"/>
                          <a:cs typeface="NanumGothic"/>
                        </a:rPr>
                        <a:t>0.9</a:t>
                      </a:r>
                    </a:p>
                  </a:txBody>
                  <a:tcPr marL="47625" marR="47625" marT="0" marB="0" anchor="ctr">
                    <a:lnR w="19050">
                      <a:solidFill>
                        <a:srgbClr val="080D15"/>
                      </a:solidFill>
                    </a:lnR>
                    <a:lnB w="19050">
                      <a:solidFill>
                        <a:srgbClr val="080D15"/>
                      </a:solidFill>
                    </a:lnB>
                    <a:solidFill>
                      <a:srgbClr val="081529"/>
                    </a:solidFill>
                  </a:tcPr>
                </a:tc>
                <a:tc>
                  <a:txBody>
                    <a:bodyPr lIns="28575" tIns="28575" rIns="28575" bIns="28575"/>
                    <a:lstStyle/>
                    <a:p>
                      <a:pPr algn="ctr"/>
                      <a:r>
                        <a:rPr sz="1650" b="1">
                          <a:solidFill>
                            <a:srgbClr val="F7FAFF"/>
                          </a:solidFill>
                          <a:latin typeface="NanumGothic"/>
                          <a:ea typeface="NanumGothic"/>
                          <a:cs typeface="NanumGothic"/>
                        </a:rPr>
                        <a:t>0.1</a:t>
                      </a:r>
                    </a:p>
                  </a:txBody>
                  <a:tcPr marL="47625" marR="47625" marT="0" marB="0" anchor="ctr">
                    <a:lnR w="19050">
                      <a:solidFill>
                        <a:srgbClr val="080D15"/>
                      </a:solidFill>
                    </a:lnR>
                    <a:lnB w="19050">
                      <a:solidFill>
                        <a:srgbClr val="080D15"/>
                      </a:solidFill>
                    </a:lnB>
                    <a:solidFill>
                      <a:srgbClr val="081428"/>
                    </a:solidFill>
                  </a:tcPr>
                </a:tc>
              </a:tr>
              <a:tr h="323850">
                <a:tc>
                  <a:txBody>
                    <a:bodyPr lIns="28575" tIns="28575" rIns="28575" bIns="28575"/>
                    <a:lstStyle/>
                    <a:p>
                      <a:pPr algn="l"/>
                      <a:r>
                        <a:rPr sz="1650" b="1">
                          <a:solidFill>
                            <a:srgbClr val="F7FAFF"/>
                          </a:solidFill>
                          <a:latin typeface="NanumGothic"/>
                          <a:ea typeface="NanumGothic"/>
                          <a:cs typeface="NanumGothic"/>
                        </a:rPr>
                        <a:t>Unsharp (max)</a:t>
                      </a:r>
                    </a:p>
                  </a:txBody>
                  <a:tcPr marL="47625" marR="47625" marT="0" marB="0" anchor="ctr">
                    <a:lnL w="19050">
                      <a:solidFill>
                        <a:srgbClr val="080D15"/>
                      </a:solidFill>
                    </a:lnL>
                    <a:lnR w="19050">
                      <a:solidFill>
                        <a:srgbClr val="080D15"/>
                      </a:solidFill>
                    </a:lnR>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96.4</a:t>
                      </a:r>
                    </a:p>
                  </a:txBody>
                  <a:tcPr marL="47625" marR="47625" marT="0" marB="0" anchor="ctr">
                    <a:lnR w="19050">
                      <a:solidFill>
                        <a:srgbClr val="080D15"/>
                      </a:solidFill>
                    </a:lnR>
                    <a:lnB w="19050">
                      <a:solidFill>
                        <a:srgbClr val="080D15"/>
                      </a:solidFill>
                    </a:lnB>
                    <a:solidFill>
                      <a:srgbClr val="1070B6"/>
                    </a:solidFill>
                  </a:tcPr>
                </a:tc>
                <a:tc>
                  <a:txBody>
                    <a:bodyPr lIns="28575" tIns="28575" rIns="28575" bIns="28575"/>
                    <a:lstStyle/>
                    <a:p>
                      <a:pPr algn="ctr"/>
                      <a:r>
                        <a:rPr sz="1650" b="1">
                          <a:solidFill>
                            <a:srgbClr val="F7FAFF"/>
                          </a:solidFill>
                          <a:latin typeface="NanumGothic"/>
                          <a:ea typeface="NanumGothic"/>
                          <a:cs typeface="NanumGothic"/>
                        </a:rPr>
                        <a:t>73.7</a:t>
                      </a:r>
                    </a:p>
                  </a:txBody>
                  <a:tcPr marL="47625" marR="47625" marT="0" marB="0" anchor="ctr">
                    <a:lnR w="19050">
                      <a:solidFill>
                        <a:srgbClr val="080D15"/>
                      </a:solidFill>
                    </a:lnR>
                    <a:lnB w="19050">
                      <a:solidFill>
                        <a:srgbClr val="080D15"/>
                      </a:solidFill>
                    </a:lnB>
                    <a:solidFill>
                      <a:srgbClr val="0E5A94"/>
                    </a:solidFill>
                  </a:tcPr>
                </a:tc>
                <a:tc>
                  <a:txBody>
                    <a:bodyPr lIns="28575" tIns="28575" rIns="28575" bIns="28575"/>
                    <a:lstStyle/>
                    <a:p>
                      <a:pPr algn="ctr"/>
                      <a:r>
                        <a:rPr sz="1650" b="1">
                          <a:solidFill>
                            <a:srgbClr val="F7FAFF"/>
                          </a:solidFill>
                          <a:latin typeface="NanumGothic"/>
                          <a:ea typeface="NanumGothic"/>
                          <a:cs typeface="NanumGothic"/>
                        </a:rPr>
                        <a:t>63.9</a:t>
                      </a:r>
                    </a:p>
                  </a:txBody>
                  <a:tcPr marL="47625" marR="47625" marT="0" marB="0" anchor="ctr">
                    <a:lnR w="19050">
                      <a:solidFill>
                        <a:srgbClr val="080D15"/>
                      </a:solidFill>
                    </a:lnR>
                    <a:lnB w="19050">
                      <a:solidFill>
                        <a:srgbClr val="080D15"/>
                      </a:solidFill>
                    </a:lnB>
                    <a:solidFill>
                      <a:srgbClr val="0D5186"/>
                    </a:solidFill>
                  </a:tcPr>
                </a:tc>
              </a:tr>
            </a:tbl>
          </a:graphicData>
        </a:graphic>
      </p:graphicFrame>
      <p:sp>
        <p:nvSpPr>
          <p:cNvPr id="7" name="Gaussian Blur: 잡음 조건 최고     Embo">
            <a:extLst xmlns:a="http://schemas.openxmlformats.org/drawingml/2006/main">
              <a:ext uri="{FF2B5EF4-FFF2-40B4-BE49-F238E27FC236}">
                <a16:creationId xmlns:a16="http://schemas.microsoft.com/office/drawing/2014/main" id="{120B244B-878B-431D-AEF4-A29793102039}"/>
              </a:ext>
            </a:extLst>
          </p:cNvPr>
          <p:cNvSpPr>
            <a:spLocks xmlns:a="http://schemas.openxmlformats.org/drawingml/2006/main" noGrp="1"/>
          </p:cNvSpPr>
          <p:nvPr/>
        </p:nvSpPr>
        <p:spPr>
          <a:xfrm xmlns:a="http://schemas.openxmlformats.org/drawingml/2006/main">
            <a:off x="609600" y="602932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65D9F3"/>
                </a:solidFill>
                <a:latin typeface="NanumGothic"/>
                <a:ea typeface="NanumGothic"/>
                <a:cs typeface="NanumGothic"/>
              </a:defRPr>
            </a:defPPr>
            <a:lvl1pPr algn="l">
              <a:defRPr sz="1800" b="1">
                <a:solidFill>
                  <a:srgbClr val="65D9F3"/>
                </a:solidFill>
                <a:latin typeface="NanumGothic"/>
                <a:ea typeface="NanumGothic"/>
                <a:cs typeface="NanumGothic"/>
              </a:defRPr>
            </a:lvl1pPr>
            <a:lvl2pPr algn="l">
              <a:defRPr sz="1800" b="1">
                <a:solidFill>
                  <a:srgbClr val="65D9F3"/>
                </a:solidFill>
                <a:latin typeface="NanumGothic"/>
                <a:ea typeface="NanumGothic"/>
                <a:cs typeface="NanumGothic"/>
              </a:defRPr>
            </a:lvl2pPr>
            <a:lvl3pPr algn="l">
              <a:defRPr sz="1800" b="1">
                <a:solidFill>
                  <a:srgbClr val="65D9F3"/>
                </a:solidFill>
                <a:latin typeface="NanumGothic"/>
                <a:ea typeface="NanumGothic"/>
                <a:cs typeface="NanumGothic"/>
              </a:defRPr>
            </a:lvl3pPr>
            <a:lvl4pPr algn="l">
              <a:defRPr sz="1800" b="1">
                <a:solidFill>
                  <a:srgbClr val="65D9F3"/>
                </a:solidFill>
                <a:latin typeface="NanumGothic"/>
                <a:ea typeface="NanumGothic"/>
                <a:cs typeface="NanumGothic"/>
              </a:defRPr>
            </a:lvl4pPr>
            <a:lvl5pPr algn="l">
              <a:defRPr sz="1800" b="1">
                <a:solidFill>
                  <a:srgbClr val="65D9F3"/>
                </a:solidFill>
                <a:latin typeface="NanumGothic"/>
                <a:ea typeface="NanumGothic"/>
                <a:cs typeface="NanumGothic"/>
              </a:defRPr>
            </a:lvl5pPr>
            <a:lvl6pPr algn="l">
              <a:defRPr sz="1800" b="1">
                <a:solidFill>
                  <a:srgbClr val="65D9F3"/>
                </a:solidFill>
                <a:latin typeface="NanumGothic"/>
                <a:ea typeface="NanumGothic"/>
                <a:cs typeface="NanumGothic"/>
              </a:defRPr>
            </a:lvl6pPr>
            <a:lvl7pPr algn="l">
              <a:defRPr sz="1800" b="1">
                <a:solidFill>
                  <a:srgbClr val="65D9F3"/>
                </a:solidFill>
                <a:latin typeface="NanumGothic"/>
                <a:ea typeface="NanumGothic"/>
                <a:cs typeface="NanumGothic"/>
              </a:defRPr>
            </a:lvl7pPr>
            <a:lvl8pPr algn="l">
              <a:defRPr sz="1800" b="1">
                <a:solidFill>
                  <a:srgbClr val="65D9F3"/>
                </a:solidFill>
                <a:latin typeface="NanumGothic"/>
                <a:ea typeface="NanumGothic"/>
                <a:cs typeface="NanumGothic"/>
              </a:defRPr>
            </a:lvl8pPr>
            <a:lvl9pPr algn="l">
              <a:defRPr sz="1800" b="1">
                <a:solidFill>
                  <a:srgbClr val="65D9F3"/>
                </a:solidFill>
                <a:latin typeface="NanumGothic"/>
                <a:ea typeface="NanumGothic"/>
                <a:cs typeface="NanumGothic"/>
              </a:defRPr>
            </a:lvl9pPr>
          </a:lstStyle>
          <a:p xmlns:a="http://schemas.openxmlformats.org/drawingml/2006/main">
            <a:pPr algn="l">
              <a:defRPr sz="1800" b="1">
                <a:solidFill>
                  <a:srgbClr val="65D9F3"/>
                </a:solidFill>
                <a:latin typeface="NanumGothic"/>
                <a:ea typeface="NanumGothic"/>
                <a:cs typeface="NanumGothic"/>
              </a:defRPr>
            </a:pPr>
            <a:r>
              <a:rPr sz="1800" b="1">
                <a:solidFill>
                  <a:srgbClr val="65D9F3"/>
                </a:solidFill>
                <a:latin typeface="NanumGothic"/>
                <a:ea typeface="NanumGothic"/>
                <a:cs typeface="NanumGothic"/>
              </a:rPr>
              <a:t>Gaussian Blur: 잡음 조건 최고     Emboss: 잡음에서 큰 성능 저하</a:t>
            </a:r>
          </a:p>
        </p:txBody>
      </p:sp>
    </p:spTree>
    <p:extLst>
      <p:ext uri="{BB962C8B-B14F-4D97-AF65-F5344CB8AC3E}">
        <p14:creationId xmlns:p14="http://schemas.microsoft.com/office/powerpoint/2010/main" val="772636064"/>
      </p:ext>
    </p:extLst>
  </p:cSld>
</p:sld>
</file>

<file path=ppt/slides/slide17.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12" name="실험과 성능 비교">
            <a:extLst xmlns:a="http://schemas.openxmlformats.org/drawingml/2006/main">
              <a:ext uri="{FF2B5EF4-FFF2-40B4-BE49-F238E27FC236}">
                <a16:creationId xmlns:a16="http://schemas.microsoft.com/office/drawing/2014/main" id="{1B0A8F2C-9A53-4A84-A8FE-BC5BFF28D55D}"/>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실험과 성능 비교</a:t>
            </a:r>
          </a:p>
        </p:txBody>
      </p:sp>
      <p:sp>
        <p:nvSpPr>
          <p:cNvPr id="2" name="세 시드 반복 평가">
            <a:extLst xmlns:a="http://schemas.openxmlformats.org/drawingml/2006/main">
              <a:ext uri="{FF2B5EF4-FFF2-40B4-BE49-F238E27FC236}">
                <a16:creationId xmlns:a16="http://schemas.microsoft.com/office/drawing/2014/main" id="{6CA24E97-A3E2-4BD7-B901-4805A19FE9D7}"/>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세 시드 반복 평가</a:t>
            </a:r>
          </a:p>
        </p:txBody>
      </p:sp>
      <p:sp>
        <p:nvSpPr>
          <p:cNvPr id="3" name="경기대학교 컴퓨터과학과">
            <a:extLst xmlns:a="http://schemas.openxmlformats.org/drawingml/2006/main">
              <a:ext uri="{FF2B5EF4-FFF2-40B4-BE49-F238E27FC236}">
                <a16:creationId xmlns:a16="http://schemas.microsoft.com/office/drawing/2014/main" id="{2DBFF137-929B-4403-955D-B9DD44448ED5}"/>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17">
            <a:extLst xmlns:a="http://schemas.openxmlformats.org/drawingml/2006/main">
              <a:ext uri="{FF2B5EF4-FFF2-40B4-BE49-F238E27FC236}">
                <a16:creationId xmlns:a16="http://schemas.microsoft.com/office/drawing/2014/main" id="{AA90033E-CDE4-49E8-9854-6D4A425F155E}"/>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17</a:t>
            </a:r>
          </a:p>
        </p:txBody>
      </p:sp>
      <p:sp>
        <p:nvSpPr>
          <p:cNvPr id="5" name="반복: Seed 42, 43, 44  /  평균 ± 표본 ">
            <a:extLst xmlns:a="http://schemas.openxmlformats.org/drawingml/2006/main">
              <a:ext uri="{FF2B5EF4-FFF2-40B4-BE49-F238E27FC236}">
                <a16:creationId xmlns:a16="http://schemas.microsoft.com/office/drawing/2014/main" id="{2A73F165-98B1-47E3-BB92-6C4ADBB89375}"/>
              </a:ext>
            </a:extLst>
          </p:cNvPr>
          <p:cNvSpPr>
            <a:spLocks xmlns:a="http://schemas.openxmlformats.org/drawingml/2006/main" noGrp="1"/>
          </p:cNvSpPr>
          <p:nvPr/>
        </p:nvSpPr>
        <p:spPr>
          <a:xfrm xmlns:a="http://schemas.openxmlformats.org/drawingml/2006/main">
            <a:off x="609600" y="1495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AAB8CC"/>
                </a:solidFill>
                <a:latin typeface="NanumGothic"/>
                <a:ea typeface="NanumGothic"/>
                <a:cs typeface="NanumGothic"/>
              </a:defRPr>
            </a:defPPr>
            <a:lvl1pPr algn="l">
              <a:defRPr sz="1575" b="1">
                <a:solidFill>
                  <a:srgbClr val="AAB8CC"/>
                </a:solidFill>
                <a:latin typeface="NanumGothic"/>
                <a:ea typeface="NanumGothic"/>
                <a:cs typeface="NanumGothic"/>
              </a:defRPr>
            </a:lvl1pPr>
            <a:lvl2pPr algn="l">
              <a:defRPr sz="1575" b="1">
                <a:solidFill>
                  <a:srgbClr val="AAB8CC"/>
                </a:solidFill>
                <a:latin typeface="NanumGothic"/>
                <a:ea typeface="NanumGothic"/>
                <a:cs typeface="NanumGothic"/>
              </a:defRPr>
            </a:lvl2pPr>
            <a:lvl3pPr algn="l">
              <a:defRPr sz="1575" b="1">
                <a:solidFill>
                  <a:srgbClr val="AAB8CC"/>
                </a:solidFill>
                <a:latin typeface="NanumGothic"/>
                <a:ea typeface="NanumGothic"/>
                <a:cs typeface="NanumGothic"/>
              </a:defRPr>
            </a:lvl3pPr>
            <a:lvl4pPr algn="l">
              <a:defRPr sz="1575" b="1">
                <a:solidFill>
                  <a:srgbClr val="AAB8CC"/>
                </a:solidFill>
                <a:latin typeface="NanumGothic"/>
                <a:ea typeface="NanumGothic"/>
                <a:cs typeface="NanumGothic"/>
              </a:defRPr>
            </a:lvl4pPr>
            <a:lvl5pPr algn="l">
              <a:defRPr sz="1575" b="1">
                <a:solidFill>
                  <a:srgbClr val="AAB8CC"/>
                </a:solidFill>
                <a:latin typeface="NanumGothic"/>
                <a:ea typeface="NanumGothic"/>
                <a:cs typeface="NanumGothic"/>
              </a:defRPr>
            </a:lvl5pPr>
            <a:lvl6pPr algn="l">
              <a:defRPr sz="1575" b="1">
                <a:solidFill>
                  <a:srgbClr val="AAB8CC"/>
                </a:solidFill>
                <a:latin typeface="NanumGothic"/>
                <a:ea typeface="NanumGothic"/>
                <a:cs typeface="NanumGothic"/>
              </a:defRPr>
            </a:lvl6pPr>
            <a:lvl7pPr algn="l">
              <a:defRPr sz="1575" b="1">
                <a:solidFill>
                  <a:srgbClr val="AAB8CC"/>
                </a:solidFill>
                <a:latin typeface="NanumGothic"/>
                <a:ea typeface="NanumGothic"/>
                <a:cs typeface="NanumGothic"/>
              </a:defRPr>
            </a:lvl7pPr>
            <a:lvl8pPr algn="l">
              <a:defRPr sz="1575" b="1">
                <a:solidFill>
                  <a:srgbClr val="AAB8CC"/>
                </a:solidFill>
                <a:latin typeface="NanumGothic"/>
                <a:ea typeface="NanumGothic"/>
                <a:cs typeface="NanumGothic"/>
              </a:defRPr>
            </a:lvl8pPr>
            <a:lvl9pPr algn="l">
              <a:defRPr sz="1575" b="1">
                <a:solidFill>
                  <a:srgbClr val="AAB8CC"/>
                </a:solidFill>
                <a:latin typeface="NanumGothic"/>
                <a:ea typeface="NanumGothic"/>
                <a:cs typeface="NanumGothic"/>
              </a:defRPr>
            </a:lvl9pPr>
          </a:lstStyle>
          <a:p xmlns:a="http://schemas.openxmlformats.org/drawingml/2006/main">
            <a:pPr algn="l">
              <a:defRPr sz="1575" b="1">
                <a:solidFill>
                  <a:srgbClr val="AAB8CC"/>
                </a:solidFill>
                <a:latin typeface="NanumGothic"/>
                <a:ea typeface="NanumGothic"/>
                <a:cs typeface="NanumGothic"/>
              </a:defRPr>
            </a:pPr>
            <a:r>
              <a:rPr sz="1575" b="1">
                <a:solidFill>
                  <a:srgbClr val="AAB8CC"/>
                </a:solidFill>
                <a:latin typeface="NanumGothic"/>
                <a:ea typeface="NanumGothic"/>
                <a:cs typeface="NanumGothic"/>
              </a:rPr>
              <a:t>반복: Seed 42, 43, 44  /  평균 ± 표본 표준편차</a:t>
            </a:r>
          </a:p>
        </p:txBody>
      </p:sp>
      <p:sp>
        <p:nvSpPr>
          <p:cNvPr id="6" name="Clean / Strict detection accurac">
            <a:extLst xmlns:a="http://schemas.openxmlformats.org/drawingml/2006/main">
              <a:ext uri="{FF2B5EF4-FFF2-40B4-BE49-F238E27FC236}">
                <a16:creationId xmlns:a16="http://schemas.microsoft.com/office/drawing/2014/main" id="{2BCBDF45-A46F-49BA-B1FE-AB0A1B283542}"/>
              </a:ext>
            </a:extLst>
          </p:cNvPr>
          <p:cNvSpPr>
            <a:spLocks xmlns:a="http://schemas.openxmlformats.org/drawingml/2006/main" noGrp="1"/>
          </p:cNvSpPr>
          <p:nvPr/>
        </p:nvSpPr>
        <p:spPr>
          <a:xfrm xmlns:a="http://schemas.openxmlformats.org/drawingml/2006/main">
            <a:off x="609600" y="1819275"/>
            <a:ext cx="5238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7FAFF"/>
                </a:solidFill>
                <a:latin typeface="NanumGothic"/>
                <a:ea typeface="NanumGothic"/>
                <a:cs typeface="NanumGothic"/>
              </a:defRPr>
            </a:defPPr>
            <a:lvl1pPr algn="l">
              <a:defRPr sz="1725" b="1">
                <a:solidFill>
                  <a:srgbClr val="F7FAFF"/>
                </a:solidFill>
                <a:latin typeface="NanumGothic"/>
                <a:ea typeface="NanumGothic"/>
                <a:cs typeface="NanumGothic"/>
              </a:defRPr>
            </a:lvl1pPr>
            <a:lvl2pPr algn="l">
              <a:defRPr sz="1725" b="1">
                <a:solidFill>
                  <a:srgbClr val="F7FAFF"/>
                </a:solidFill>
                <a:latin typeface="NanumGothic"/>
                <a:ea typeface="NanumGothic"/>
                <a:cs typeface="NanumGothic"/>
              </a:defRPr>
            </a:lvl2pPr>
            <a:lvl3pPr algn="l">
              <a:defRPr sz="1725" b="1">
                <a:solidFill>
                  <a:srgbClr val="F7FAFF"/>
                </a:solidFill>
                <a:latin typeface="NanumGothic"/>
                <a:ea typeface="NanumGothic"/>
                <a:cs typeface="NanumGothic"/>
              </a:defRPr>
            </a:lvl3pPr>
            <a:lvl4pPr algn="l">
              <a:defRPr sz="1725" b="1">
                <a:solidFill>
                  <a:srgbClr val="F7FAFF"/>
                </a:solidFill>
                <a:latin typeface="NanumGothic"/>
                <a:ea typeface="NanumGothic"/>
                <a:cs typeface="NanumGothic"/>
              </a:defRPr>
            </a:lvl4pPr>
            <a:lvl5pPr algn="l">
              <a:defRPr sz="1725" b="1">
                <a:solidFill>
                  <a:srgbClr val="F7FAFF"/>
                </a:solidFill>
                <a:latin typeface="NanumGothic"/>
                <a:ea typeface="NanumGothic"/>
                <a:cs typeface="NanumGothic"/>
              </a:defRPr>
            </a:lvl5pPr>
            <a:lvl6pPr algn="l">
              <a:defRPr sz="1725" b="1">
                <a:solidFill>
                  <a:srgbClr val="F7FAFF"/>
                </a:solidFill>
                <a:latin typeface="NanumGothic"/>
                <a:ea typeface="NanumGothic"/>
                <a:cs typeface="NanumGothic"/>
              </a:defRPr>
            </a:lvl6pPr>
            <a:lvl7pPr algn="l">
              <a:defRPr sz="1725" b="1">
                <a:solidFill>
                  <a:srgbClr val="F7FAFF"/>
                </a:solidFill>
                <a:latin typeface="NanumGothic"/>
                <a:ea typeface="NanumGothic"/>
                <a:cs typeface="NanumGothic"/>
              </a:defRPr>
            </a:lvl7pPr>
            <a:lvl8pPr algn="l">
              <a:defRPr sz="1725" b="1">
                <a:solidFill>
                  <a:srgbClr val="F7FAFF"/>
                </a:solidFill>
                <a:latin typeface="NanumGothic"/>
                <a:ea typeface="NanumGothic"/>
                <a:cs typeface="NanumGothic"/>
              </a:defRPr>
            </a:lvl8pPr>
            <a:lvl9pPr algn="l">
              <a:defRPr sz="1725" b="1">
                <a:solidFill>
                  <a:srgbClr val="F7FAFF"/>
                </a:solidFill>
                <a:latin typeface="NanumGothic"/>
                <a:ea typeface="NanumGothic"/>
                <a:cs typeface="NanumGothic"/>
              </a:defRPr>
            </a:lvl9pPr>
          </a:lstStyle>
          <a:p xmlns:a="http://schemas.openxmlformats.org/drawingml/2006/main">
            <a:pPr algn="l">
              <a:defRPr sz="1725" b="1">
                <a:solidFill>
                  <a:srgbClr val="F7FAFF"/>
                </a:solidFill>
                <a:latin typeface="NanumGothic"/>
                <a:ea typeface="NanumGothic"/>
                <a:cs typeface="NanumGothic"/>
              </a:defRPr>
            </a:pPr>
            <a:r>
              <a:rPr sz="1725" b="1">
                <a:solidFill>
                  <a:srgbClr val="F7FAFF"/>
                </a:solidFill>
                <a:latin typeface="NanumGothic"/>
                <a:ea typeface="NanumGothic"/>
                <a:cs typeface="NanumGothic"/>
              </a:rPr>
              <a:t>Clean / Strict detection accuracy (%)</a:t>
            </a:r>
          </a:p>
        </p:txBody>
      </p:sp>
      <p:sp>
        <p:nvSpPr>
          <p:cNvPr id="7" name="Noise std=80 / mAP50-95 (%)">
            <a:extLst xmlns:a="http://schemas.openxmlformats.org/drawingml/2006/main">
              <a:ext uri="{FF2B5EF4-FFF2-40B4-BE49-F238E27FC236}">
                <a16:creationId xmlns:a16="http://schemas.microsoft.com/office/drawing/2014/main" id="{9F236B87-8D9F-4EF9-A2E2-73F14DC2A3FF}"/>
              </a:ext>
            </a:extLst>
          </p:cNvPr>
          <p:cNvSpPr>
            <a:spLocks xmlns:a="http://schemas.openxmlformats.org/drawingml/2006/main" noGrp="1"/>
          </p:cNvSpPr>
          <p:nvPr/>
        </p:nvSpPr>
        <p:spPr>
          <a:xfrm xmlns:a="http://schemas.openxmlformats.org/drawingml/2006/main">
            <a:off x="6581775" y="1819275"/>
            <a:ext cx="495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7FAFF"/>
                </a:solidFill>
                <a:latin typeface="NanumGothic"/>
                <a:ea typeface="NanumGothic"/>
                <a:cs typeface="NanumGothic"/>
              </a:defRPr>
            </a:defPPr>
            <a:lvl1pPr algn="l">
              <a:defRPr sz="1725" b="1">
                <a:solidFill>
                  <a:srgbClr val="F7FAFF"/>
                </a:solidFill>
                <a:latin typeface="NanumGothic"/>
                <a:ea typeface="NanumGothic"/>
                <a:cs typeface="NanumGothic"/>
              </a:defRPr>
            </a:lvl1pPr>
            <a:lvl2pPr algn="l">
              <a:defRPr sz="1725" b="1">
                <a:solidFill>
                  <a:srgbClr val="F7FAFF"/>
                </a:solidFill>
                <a:latin typeface="NanumGothic"/>
                <a:ea typeface="NanumGothic"/>
                <a:cs typeface="NanumGothic"/>
              </a:defRPr>
            </a:lvl2pPr>
            <a:lvl3pPr algn="l">
              <a:defRPr sz="1725" b="1">
                <a:solidFill>
                  <a:srgbClr val="F7FAFF"/>
                </a:solidFill>
                <a:latin typeface="NanumGothic"/>
                <a:ea typeface="NanumGothic"/>
                <a:cs typeface="NanumGothic"/>
              </a:defRPr>
            </a:lvl3pPr>
            <a:lvl4pPr algn="l">
              <a:defRPr sz="1725" b="1">
                <a:solidFill>
                  <a:srgbClr val="F7FAFF"/>
                </a:solidFill>
                <a:latin typeface="NanumGothic"/>
                <a:ea typeface="NanumGothic"/>
                <a:cs typeface="NanumGothic"/>
              </a:defRPr>
            </a:lvl4pPr>
            <a:lvl5pPr algn="l">
              <a:defRPr sz="1725" b="1">
                <a:solidFill>
                  <a:srgbClr val="F7FAFF"/>
                </a:solidFill>
                <a:latin typeface="NanumGothic"/>
                <a:ea typeface="NanumGothic"/>
                <a:cs typeface="NanumGothic"/>
              </a:defRPr>
            </a:lvl5pPr>
            <a:lvl6pPr algn="l">
              <a:defRPr sz="1725" b="1">
                <a:solidFill>
                  <a:srgbClr val="F7FAFF"/>
                </a:solidFill>
                <a:latin typeface="NanumGothic"/>
                <a:ea typeface="NanumGothic"/>
                <a:cs typeface="NanumGothic"/>
              </a:defRPr>
            </a:lvl6pPr>
            <a:lvl7pPr algn="l">
              <a:defRPr sz="1725" b="1">
                <a:solidFill>
                  <a:srgbClr val="F7FAFF"/>
                </a:solidFill>
                <a:latin typeface="NanumGothic"/>
                <a:ea typeface="NanumGothic"/>
                <a:cs typeface="NanumGothic"/>
              </a:defRPr>
            </a:lvl7pPr>
            <a:lvl8pPr algn="l">
              <a:defRPr sz="1725" b="1">
                <a:solidFill>
                  <a:srgbClr val="F7FAFF"/>
                </a:solidFill>
                <a:latin typeface="NanumGothic"/>
                <a:ea typeface="NanumGothic"/>
                <a:cs typeface="NanumGothic"/>
              </a:defRPr>
            </a:lvl8pPr>
            <a:lvl9pPr algn="l">
              <a:defRPr sz="1725" b="1">
                <a:solidFill>
                  <a:srgbClr val="F7FAFF"/>
                </a:solidFill>
                <a:latin typeface="NanumGothic"/>
                <a:ea typeface="NanumGothic"/>
                <a:cs typeface="NanumGothic"/>
              </a:defRPr>
            </a:lvl9pPr>
          </a:lstStyle>
          <a:p xmlns:a="http://schemas.openxmlformats.org/drawingml/2006/main">
            <a:pPr algn="l">
              <a:defRPr sz="1725" b="1">
                <a:solidFill>
                  <a:srgbClr val="F7FAFF"/>
                </a:solidFill>
                <a:latin typeface="NanumGothic"/>
                <a:ea typeface="NanumGothic"/>
                <a:cs typeface="NanumGothic"/>
              </a:defRPr>
            </a:pPr>
            <a:r>
              <a:rPr sz="1725" b="1">
                <a:solidFill>
                  <a:srgbClr val="F7FAFF"/>
                </a:solidFill>
                <a:latin typeface="NanumGothic"/>
                <a:ea typeface="NanumGothic"/>
                <a:cs typeface="NanumGothic"/>
              </a:rPr>
              <a:t>Noise std=80 / mAP50-95 (%)</a:t>
            </a:r>
          </a:p>
        </p:txBody>
      </p:sp>
      <p:graphicFrame>
        <p:nvGraphicFramePr>
          <p:cNvPr id="8" name="Chart">
            <a:extLst xmlns:a="http://schemas.openxmlformats.org/drawingml/2006/main">
              <a:ext uri="{FF2B5EF4-FFF2-40B4-BE49-F238E27FC236}">
                <a16:creationId xmlns:a16="http://schemas.microsoft.com/office/drawing/2014/main" id="{D2CA9B75-9511-48F1-B3E9-059E9D4054FD}"/>
              </a:ext>
            </a:extLst>
          </p:cNvPr>
          <p:cNvGraphicFramePr/>
          <p:nvPr/>
        </p:nvGraphicFramePr>
        <p:xfrm>
          <a:off xmlns:a="http://schemas.openxmlformats.org/drawingml/2006/main" x="685800" y="2276475"/>
          <a:ext xmlns:a="http://schemas.openxmlformats.org/drawingml/2006/main" cx="5124450" cy="2876550"/>
        </p:xfrm>
        <a:graphic xmlns:a="http://schemas.openxmlformats.org/drawingml/2006/main">
          <a:graphicData uri="http://schemas.openxmlformats.org/drawingml/2006/chart">
            <c:chart xmlns:r="http://schemas.openxmlformats.org/officeDocument/2006/relationships" xmlns:c="http://schemas.openxmlformats.org/drawingml/2006/chart" r:id="R1374bc0edc7146c2"/>
          </a:graphicData>
        </a:graphic>
      </p:graphicFrame>
      <p:graphicFrame>
        <p:nvGraphicFramePr>
          <p:cNvPr id="9" name="Chart">
            <a:extLst xmlns:a="http://schemas.openxmlformats.org/drawingml/2006/main">
              <a:ext uri="{FF2B5EF4-FFF2-40B4-BE49-F238E27FC236}">
                <a16:creationId xmlns:a16="http://schemas.microsoft.com/office/drawing/2014/main" id="{D13DF322-D81B-429D-95CE-4C6D6F48694D}"/>
              </a:ext>
            </a:extLst>
          </p:cNvPr>
          <p:cNvGraphicFramePr/>
          <p:nvPr/>
        </p:nvGraphicFramePr>
        <p:xfrm>
          <a:off xmlns:a="http://schemas.openxmlformats.org/drawingml/2006/main" x="6515100" y="2276475"/>
          <a:ext xmlns:a="http://schemas.openxmlformats.org/drawingml/2006/main" cx="5095875" cy="2876550"/>
        </p:xfrm>
        <a:graphic xmlns:a="http://schemas.openxmlformats.org/drawingml/2006/main">
          <a:graphicData uri="http://schemas.openxmlformats.org/drawingml/2006/chart">
            <c:chart xmlns:r="http://schemas.openxmlformats.org/officeDocument/2006/relationships" xmlns:c="http://schemas.openxmlformats.org/drawingml/2006/chart" r:id="Rd0a9bd2e63c84375"/>
          </a:graphicData>
        </a:graphic>
      </p:graphicFrame>
      <p:sp>
        <p:nvSpPr>
          <p:cNvPr id="10" name="Original 95.40 ± 0.53&#10;Invert+CLA">
            <a:extLst xmlns:a="http://schemas.openxmlformats.org/drawingml/2006/main">
              <a:ext uri="{FF2B5EF4-FFF2-40B4-BE49-F238E27FC236}">
                <a16:creationId xmlns:a16="http://schemas.microsoft.com/office/drawing/2014/main" id="{A827A13D-C7F5-4520-8AF9-B05D68CC7C51}"/>
              </a:ext>
            </a:extLst>
          </p:cNvPr>
          <p:cNvSpPr>
            <a:spLocks xmlns:a="http://schemas.openxmlformats.org/drawingml/2006/main" noGrp="1"/>
          </p:cNvSpPr>
          <p:nvPr/>
        </p:nvSpPr>
        <p:spPr>
          <a:xfrm xmlns:a="http://schemas.openxmlformats.org/drawingml/2006/main">
            <a:off x="609600" y="5314950"/>
            <a:ext cx="5238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B8CC"/>
                </a:solidFill>
                <a:latin typeface="NanumGothic"/>
                <a:ea typeface="NanumGothic"/>
                <a:cs typeface="NanumGothic"/>
              </a:defRPr>
            </a:defPPr>
            <a:lvl1pPr algn="l">
              <a:defRPr sz="1875" b="1">
                <a:solidFill>
                  <a:srgbClr val="AAB8CC"/>
                </a:solidFill>
                <a:latin typeface="NanumGothic"/>
                <a:ea typeface="NanumGothic"/>
                <a:cs typeface="NanumGothic"/>
              </a:defRPr>
            </a:lvl1pPr>
            <a:lvl2pPr algn="l">
              <a:defRPr sz="1875" b="1">
                <a:solidFill>
                  <a:srgbClr val="AAB8CC"/>
                </a:solidFill>
                <a:latin typeface="NanumGothic"/>
                <a:ea typeface="NanumGothic"/>
                <a:cs typeface="NanumGothic"/>
              </a:defRPr>
            </a:lvl2pPr>
            <a:lvl3pPr algn="l">
              <a:defRPr sz="1875" b="1">
                <a:solidFill>
                  <a:srgbClr val="AAB8CC"/>
                </a:solidFill>
                <a:latin typeface="NanumGothic"/>
                <a:ea typeface="NanumGothic"/>
                <a:cs typeface="NanumGothic"/>
              </a:defRPr>
            </a:lvl3pPr>
            <a:lvl4pPr algn="l">
              <a:defRPr sz="1875" b="1">
                <a:solidFill>
                  <a:srgbClr val="AAB8CC"/>
                </a:solidFill>
                <a:latin typeface="NanumGothic"/>
                <a:ea typeface="NanumGothic"/>
                <a:cs typeface="NanumGothic"/>
              </a:defRPr>
            </a:lvl4pPr>
            <a:lvl5pPr algn="l">
              <a:defRPr sz="1875" b="1">
                <a:solidFill>
                  <a:srgbClr val="AAB8CC"/>
                </a:solidFill>
                <a:latin typeface="NanumGothic"/>
                <a:ea typeface="NanumGothic"/>
                <a:cs typeface="NanumGothic"/>
              </a:defRPr>
            </a:lvl5pPr>
            <a:lvl6pPr algn="l">
              <a:defRPr sz="1875" b="1">
                <a:solidFill>
                  <a:srgbClr val="AAB8CC"/>
                </a:solidFill>
                <a:latin typeface="NanumGothic"/>
                <a:ea typeface="NanumGothic"/>
                <a:cs typeface="NanumGothic"/>
              </a:defRPr>
            </a:lvl6pPr>
            <a:lvl7pPr algn="l">
              <a:defRPr sz="1875" b="1">
                <a:solidFill>
                  <a:srgbClr val="AAB8CC"/>
                </a:solidFill>
                <a:latin typeface="NanumGothic"/>
                <a:ea typeface="NanumGothic"/>
                <a:cs typeface="NanumGothic"/>
              </a:defRPr>
            </a:lvl7pPr>
            <a:lvl8pPr algn="l">
              <a:defRPr sz="1875" b="1">
                <a:solidFill>
                  <a:srgbClr val="AAB8CC"/>
                </a:solidFill>
                <a:latin typeface="NanumGothic"/>
                <a:ea typeface="NanumGothic"/>
                <a:cs typeface="NanumGothic"/>
              </a:defRPr>
            </a:lvl8pPr>
            <a:lvl9pPr algn="l">
              <a:defRPr sz="1875" b="1">
                <a:solidFill>
                  <a:srgbClr val="AAB8CC"/>
                </a:solidFill>
                <a:latin typeface="NanumGothic"/>
                <a:ea typeface="NanumGothic"/>
                <a:cs typeface="NanumGothic"/>
              </a:defRPr>
            </a:lvl9pPr>
          </a:lstStyle>
          <a:p xmlns:a="http://schemas.openxmlformats.org/drawingml/2006/main">
            <a:pPr algn="l">
              <a:defRPr sz="1875" b="1">
                <a:solidFill>
                  <a:srgbClr val="AAB8CC"/>
                </a:solidFill>
                <a:latin typeface="NanumGothic"/>
                <a:ea typeface="NanumGothic"/>
                <a:cs typeface="NanumGothic"/>
              </a:defRPr>
            </a:pPr>
            <a:r>
              <a:rPr sz="1875" b="1">
                <a:solidFill>
                  <a:srgbClr val="AAB8CC"/>
                </a:solidFill>
                <a:latin typeface="NanumGothic"/>
                <a:ea typeface="NanumGothic"/>
                <a:cs typeface="NanumGothic"/>
              </a:rPr>
              <a:t>Original 95.40 ± 0.53</a:t>
            </a:r>
          </a:p>
          <a:p xmlns:a="http://schemas.openxmlformats.org/drawingml/2006/main">
            <a:pPr algn="l">
              <a:defRPr sz="1875" b="1">
                <a:solidFill>
                  <a:srgbClr val="AAB8CC"/>
                </a:solidFill>
                <a:latin typeface="NanumGothic"/>
                <a:ea typeface="NanumGothic"/>
                <a:cs typeface="NanumGothic"/>
              </a:defRPr>
            </a:pPr>
            <a:r>
              <a:rPr sz="1875" b="1">
                <a:solidFill>
                  <a:srgbClr val="AAB8CC"/>
                </a:solidFill>
                <a:latin typeface="NanumGothic"/>
                <a:ea typeface="NanumGothic"/>
                <a:cs typeface="NanumGothic"/>
              </a:rPr>
              <a:t>Invert+CLAHE 95.47 ± 2.27</a:t>
            </a:r>
          </a:p>
        </p:txBody>
      </p:sp>
      <p:sp>
        <p:nvSpPr>
          <p:cNvPr id="11" name="Original 79.60 ± 0.26&#10;Gaussian B">
            <a:extLst xmlns:a="http://schemas.openxmlformats.org/drawingml/2006/main">
              <a:ext uri="{FF2B5EF4-FFF2-40B4-BE49-F238E27FC236}">
                <a16:creationId xmlns:a16="http://schemas.microsoft.com/office/drawing/2014/main" id="{6F2FFE59-957D-4B40-8658-EEE5ED8B7141}"/>
              </a:ext>
            </a:extLst>
          </p:cNvPr>
          <p:cNvSpPr>
            <a:spLocks xmlns:a="http://schemas.openxmlformats.org/drawingml/2006/main" noGrp="1"/>
          </p:cNvSpPr>
          <p:nvPr/>
        </p:nvSpPr>
        <p:spPr>
          <a:xfrm xmlns:a="http://schemas.openxmlformats.org/drawingml/2006/main">
            <a:off x="6581775" y="5314950"/>
            <a:ext cx="50006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3B92FF"/>
                </a:solidFill>
                <a:latin typeface="NanumGothic"/>
                <a:ea typeface="NanumGothic"/>
                <a:cs typeface="NanumGothic"/>
              </a:defRPr>
            </a:defPPr>
            <a:lvl1pPr algn="l">
              <a:defRPr sz="1875" b="1">
                <a:solidFill>
                  <a:srgbClr val="3B92FF"/>
                </a:solidFill>
                <a:latin typeface="NanumGothic"/>
                <a:ea typeface="NanumGothic"/>
                <a:cs typeface="NanumGothic"/>
              </a:defRPr>
            </a:lvl1pPr>
            <a:lvl2pPr algn="l">
              <a:defRPr sz="1875" b="1">
                <a:solidFill>
                  <a:srgbClr val="3B92FF"/>
                </a:solidFill>
                <a:latin typeface="NanumGothic"/>
                <a:ea typeface="NanumGothic"/>
                <a:cs typeface="NanumGothic"/>
              </a:defRPr>
            </a:lvl2pPr>
            <a:lvl3pPr algn="l">
              <a:defRPr sz="1875" b="1">
                <a:solidFill>
                  <a:srgbClr val="3B92FF"/>
                </a:solidFill>
                <a:latin typeface="NanumGothic"/>
                <a:ea typeface="NanumGothic"/>
                <a:cs typeface="NanumGothic"/>
              </a:defRPr>
            </a:lvl3pPr>
            <a:lvl4pPr algn="l">
              <a:defRPr sz="1875" b="1">
                <a:solidFill>
                  <a:srgbClr val="3B92FF"/>
                </a:solidFill>
                <a:latin typeface="NanumGothic"/>
                <a:ea typeface="NanumGothic"/>
                <a:cs typeface="NanumGothic"/>
              </a:defRPr>
            </a:lvl4pPr>
            <a:lvl5pPr algn="l">
              <a:defRPr sz="1875" b="1">
                <a:solidFill>
                  <a:srgbClr val="3B92FF"/>
                </a:solidFill>
                <a:latin typeface="NanumGothic"/>
                <a:ea typeface="NanumGothic"/>
                <a:cs typeface="NanumGothic"/>
              </a:defRPr>
            </a:lvl5pPr>
            <a:lvl6pPr algn="l">
              <a:defRPr sz="1875" b="1">
                <a:solidFill>
                  <a:srgbClr val="3B92FF"/>
                </a:solidFill>
                <a:latin typeface="NanumGothic"/>
                <a:ea typeface="NanumGothic"/>
                <a:cs typeface="NanumGothic"/>
              </a:defRPr>
            </a:lvl6pPr>
            <a:lvl7pPr algn="l">
              <a:defRPr sz="1875" b="1">
                <a:solidFill>
                  <a:srgbClr val="3B92FF"/>
                </a:solidFill>
                <a:latin typeface="NanumGothic"/>
                <a:ea typeface="NanumGothic"/>
                <a:cs typeface="NanumGothic"/>
              </a:defRPr>
            </a:lvl7pPr>
            <a:lvl8pPr algn="l">
              <a:defRPr sz="1875" b="1">
                <a:solidFill>
                  <a:srgbClr val="3B92FF"/>
                </a:solidFill>
                <a:latin typeface="NanumGothic"/>
                <a:ea typeface="NanumGothic"/>
                <a:cs typeface="NanumGothic"/>
              </a:defRPr>
            </a:lvl8pPr>
            <a:lvl9pPr algn="l">
              <a:defRPr sz="1875" b="1">
                <a:solidFill>
                  <a:srgbClr val="3B92FF"/>
                </a:solidFill>
                <a:latin typeface="NanumGothic"/>
                <a:ea typeface="NanumGothic"/>
                <a:cs typeface="NanumGothic"/>
              </a:defRPr>
            </a:lvl9pPr>
          </a:lstStyle>
          <a:p xmlns:a="http://schemas.openxmlformats.org/drawingml/2006/main">
            <a:pPr algn="l">
              <a:defRPr sz="1875" b="1">
                <a:solidFill>
                  <a:srgbClr val="3B92FF"/>
                </a:solidFill>
                <a:latin typeface="NanumGothic"/>
                <a:ea typeface="NanumGothic"/>
                <a:cs typeface="NanumGothic"/>
              </a:defRPr>
            </a:pPr>
            <a:r>
              <a:rPr sz="1875" b="1">
                <a:solidFill>
                  <a:srgbClr val="3B92FF"/>
                </a:solidFill>
                <a:latin typeface="NanumGothic"/>
                <a:ea typeface="NanumGothic"/>
                <a:cs typeface="NanumGothic"/>
              </a:rPr>
              <a:t>Original 79.60 ± 0.26</a:t>
            </a:r>
          </a:p>
          <a:p xmlns:a="http://schemas.openxmlformats.org/drawingml/2006/main">
            <a:pPr algn="l">
              <a:defRPr sz="1875" b="1">
                <a:solidFill>
                  <a:srgbClr val="3B92FF"/>
                </a:solidFill>
                <a:latin typeface="NanumGothic"/>
                <a:ea typeface="NanumGothic"/>
                <a:cs typeface="NanumGothic"/>
              </a:defRPr>
            </a:pPr>
            <a:r>
              <a:rPr sz="1875" b="1">
                <a:solidFill>
                  <a:srgbClr val="3B92FF"/>
                </a:solidFill>
                <a:latin typeface="NanumGothic"/>
                <a:ea typeface="NanumGothic"/>
                <a:cs typeface="NanumGothic"/>
              </a:rPr>
              <a:t>Gaussian Blur 82.86 ± 0.08</a:t>
            </a:r>
          </a:p>
        </p:txBody>
      </p:sp>
    </p:spTree>
    <p:extLst>
      <p:ext uri="{BB962C8B-B14F-4D97-AF65-F5344CB8AC3E}">
        <p14:creationId xmlns:p14="http://schemas.microsoft.com/office/powerpoint/2010/main" val="177196414"/>
      </p:ext>
    </p:extLst>
  </p:cSld>
</p:sld>
</file>

<file path=ppt/slides/slide18.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10" name="결론과 후속 연구">
            <a:extLst xmlns:a="http://schemas.openxmlformats.org/drawingml/2006/main">
              <a:ext uri="{FF2B5EF4-FFF2-40B4-BE49-F238E27FC236}">
                <a16:creationId xmlns:a16="http://schemas.microsoft.com/office/drawing/2014/main" id="{F7F5702A-119A-49C1-B4E5-A49869E05C7E}"/>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결론과 후속 연구</a:t>
            </a:r>
          </a:p>
        </p:txBody>
      </p:sp>
      <p:sp>
        <p:nvSpPr>
          <p:cNvPr id="2" name="해석 범위와 후속 검증">
            <a:extLst xmlns:a="http://schemas.openxmlformats.org/drawingml/2006/main">
              <a:ext uri="{FF2B5EF4-FFF2-40B4-BE49-F238E27FC236}">
                <a16:creationId xmlns:a16="http://schemas.microsoft.com/office/drawing/2014/main" id="{F7C02111-0047-4BDB-AAB3-1F2C45DF7E13}"/>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해석 범위와 후속 검증</a:t>
            </a:r>
          </a:p>
        </p:txBody>
      </p:sp>
      <p:sp>
        <p:nvSpPr>
          <p:cNvPr id="3" name="경기대학교 컴퓨터과학과">
            <a:extLst xmlns:a="http://schemas.openxmlformats.org/drawingml/2006/main">
              <a:ext uri="{FF2B5EF4-FFF2-40B4-BE49-F238E27FC236}">
                <a16:creationId xmlns:a16="http://schemas.microsoft.com/office/drawing/2014/main" id="{BA20B383-E1BA-4F50-A92E-5843AE556054}"/>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18">
            <a:extLst xmlns:a="http://schemas.openxmlformats.org/drawingml/2006/main">
              <a:ext uri="{FF2B5EF4-FFF2-40B4-BE49-F238E27FC236}">
                <a16:creationId xmlns:a16="http://schemas.microsoft.com/office/drawing/2014/main" id="{91CD4516-D615-4A46-ABBC-DC66DAC4CCFE}"/>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18</a:t>
            </a:r>
          </a:p>
        </p:txBody>
      </p:sp>
      <p:sp>
        <p:nvSpPr>
          <p:cNvPr id="5" name="조건별 재학습의 비교 결과">
            <a:extLst xmlns:a="http://schemas.openxmlformats.org/drawingml/2006/main">
              <a:ext uri="{FF2B5EF4-FFF2-40B4-BE49-F238E27FC236}">
                <a16:creationId xmlns:a16="http://schemas.microsoft.com/office/drawing/2014/main" id="{CB3AE01A-937D-43A6-85A2-55E2F68CED9E}"/>
              </a:ext>
            </a:extLst>
          </p:cNvPr>
          <p:cNvSpPr>
            <a:spLocks xmlns:a="http://schemas.openxmlformats.org/drawingml/2006/main" noGrp="1"/>
          </p:cNvSpPr>
          <p:nvPr/>
        </p:nvSpPr>
        <p:spPr>
          <a:xfrm xmlns:a="http://schemas.openxmlformats.org/drawingml/2006/main">
            <a:off x="609600" y="15906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B92FF"/>
                </a:solidFill>
                <a:latin typeface="NanumGothic"/>
                <a:ea typeface="NanumGothic"/>
                <a:cs typeface="NanumGothic"/>
              </a:defRPr>
            </a:defPPr>
            <a:lvl1pPr algn="l">
              <a:defRPr sz="2700" b="1">
                <a:solidFill>
                  <a:srgbClr val="3B92FF"/>
                </a:solidFill>
                <a:latin typeface="NanumGothic"/>
                <a:ea typeface="NanumGothic"/>
                <a:cs typeface="NanumGothic"/>
              </a:defRPr>
            </a:lvl1pPr>
            <a:lvl2pPr algn="l">
              <a:defRPr sz="2700" b="1">
                <a:solidFill>
                  <a:srgbClr val="3B92FF"/>
                </a:solidFill>
                <a:latin typeface="NanumGothic"/>
                <a:ea typeface="NanumGothic"/>
                <a:cs typeface="NanumGothic"/>
              </a:defRPr>
            </a:lvl2pPr>
            <a:lvl3pPr algn="l">
              <a:defRPr sz="2700" b="1">
                <a:solidFill>
                  <a:srgbClr val="3B92FF"/>
                </a:solidFill>
                <a:latin typeface="NanumGothic"/>
                <a:ea typeface="NanumGothic"/>
                <a:cs typeface="NanumGothic"/>
              </a:defRPr>
            </a:lvl3pPr>
            <a:lvl4pPr algn="l">
              <a:defRPr sz="2700" b="1">
                <a:solidFill>
                  <a:srgbClr val="3B92FF"/>
                </a:solidFill>
                <a:latin typeface="NanumGothic"/>
                <a:ea typeface="NanumGothic"/>
                <a:cs typeface="NanumGothic"/>
              </a:defRPr>
            </a:lvl4pPr>
            <a:lvl5pPr algn="l">
              <a:defRPr sz="2700" b="1">
                <a:solidFill>
                  <a:srgbClr val="3B92FF"/>
                </a:solidFill>
                <a:latin typeface="NanumGothic"/>
                <a:ea typeface="NanumGothic"/>
                <a:cs typeface="NanumGothic"/>
              </a:defRPr>
            </a:lvl5pPr>
            <a:lvl6pPr algn="l">
              <a:defRPr sz="2700" b="1">
                <a:solidFill>
                  <a:srgbClr val="3B92FF"/>
                </a:solidFill>
                <a:latin typeface="NanumGothic"/>
                <a:ea typeface="NanumGothic"/>
                <a:cs typeface="NanumGothic"/>
              </a:defRPr>
            </a:lvl6pPr>
            <a:lvl7pPr algn="l">
              <a:defRPr sz="2700" b="1">
                <a:solidFill>
                  <a:srgbClr val="3B92FF"/>
                </a:solidFill>
                <a:latin typeface="NanumGothic"/>
                <a:ea typeface="NanumGothic"/>
                <a:cs typeface="NanumGothic"/>
              </a:defRPr>
            </a:lvl7pPr>
            <a:lvl8pPr algn="l">
              <a:defRPr sz="2700" b="1">
                <a:solidFill>
                  <a:srgbClr val="3B92FF"/>
                </a:solidFill>
                <a:latin typeface="NanumGothic"/>
                <a:ea typeface="NanumGothic"/>
                <a:cs typeface="NanumGothic"/>
              </a:defRPr>
            </a:lvl8pPr>
            <a:lvl9pPr algn="l">
              <a:defRPr sz="2700" b="1">
                <a:solidFill>
                  <a:srgbClr val="3B92FF"/>
                </a:solidFill>
                <a:latin typeface="NanumGothic"/>
                <a:ea typeface="NanumGothic"/>
                <a:cs typeface="NanumGothic"/>
              </a:defRPr>
            </a:lvl9pPr>
          </a:lstStyle>
          <a:p xmlns:a="http://schemas.openxmlformats.org/drawingml/2006/main">
            <a:pPr algn="l">
              <a:defRPr sz="2700" b="1">
                <a:solidFill>
                  <a:srgbClr val="3B92FF"/>
                </a:solidFill>
                <a:latin typeface="NanumGothic"/>
                <a:ea typeface="NanumGothic"/>
                <a:cs typeface="NanumGothic"/>
              </a:defRPr>
            </a:pPr>
            <a:r>
              <a:rPr sz="2700" b="1">
                <a:solidFill>
                  <a:srgbClr val="3B92FF"/>
                </a:solidFill>
                <a:latin typeface="NanumGothic"/>
                <a:ea typeface="NanumGothic"/>
                <a:cs typeface="NanumGothic"/>
              </a:rPr>
              <a:t>조건별 재학습의 비교 결과</a:t>
            </a:r>
          </a:p>
        </p:txBody>
      </p:sp>
      <p:sp>
        <p:nvSpPr>
          <p:cNvPr id="6" name="고정 모델의 미지 촬영 조건 적응성은 별도 검증 필요">
            <a:extLst xmlns:a="http://schemas.openxmlformats.org/drawingml/2006/main">
              <a:ext uri="{FF2B5EF4-FFF2-40B4-BE49-F238E27FC236}">
                <a16:creationId xmlns:a16="http://schemas.microsoft.com/office/drawing/2014/main" id="{F84EF5DF-5246-423D-9046-9F9F720092E1}"/>
              </a:ext>
            </a:extLst>
          </p:cNvPr>
          <p:cNvSpPr>
            <a:spLocks xmlns:a="http://schemas.openxmlformats.org/drawingml/2006/main" noGrp="1"/>
          </p:cNvSpPr>
          <p:nvPr/>
        </p:nvSpPr>
        <p:spPr>
          <a:xfrm xmlns:a="http://schemas.openxmlformats.org/drawingml/2006/main">
            <a:off x="609600" y="26003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7FAFF"/>
                </a:solidFill>
                <a:latin typeface="NanumGothic"/>
                <a:ea typeface="NanumGothic"/>
                <a:cs typeface="NanumGothic"/>
              </a:defRPr>
            </a:defPPr>
            <a:lvl1pPr algn="l">
              <a:defRPr sz="2325" b="1">
                <a:solidFill>
                  <a:srgbClr val="F7FAFF"/>
                </a:solidFill>
                <a:latin typeface="NanumGothic"/>
                <a:ea typeface="NanumGothic"/>
                <a:cs typeface="NanumGothic"/>
              </a:defRPr>
            </a:lvl1pPr>
            <a:lvl2pPr algn="l">
              <a:defRPr sz="2325" b="1">
                <a:solidFill>
                  <a:srgbClr val="F7FAFF"/>
                </a:solidFill>
                <a:latin typeface="NanumGothic"/>
                <a:ea typeface="NanumGothic"/>
                <a:cs typeface="NanumGothic"/>
              </a:defRPr>
            </a:lvl2pPr>
            <a:lvl3pPr algn="l">
              <a:defRPr sz="2325" b="1">
                <a:solidFill>
                  <a:srgbClr val="F7FAFF"/>
                </a:solidFill>
                <a:latin typeface="NanumGothic"/>
                <a:ea typeface="NanumGothic"/>
                <a:cs typeface="NanumGothic"/>
              </a:defRPr>
            </a:lvl3pPr>
            <a:lvl4pPr algn="l">
              <a:defRPr sz="2325" b="1">
                <a:solidFill>
                  <a:srgbClr val="F7FAFF"/>
                </a:solidFill>
                <a:latin typeface="NanumGothic"/>
                <a:ea typeface="NanumGothic"/>
                <a:cs typeface="NanumGothic"/>
              </a:defRPr>
            </a:lvl4pPr>
            <a:lvl5pPr algn="l">
              <a:defRPr sz="2325" b="1">
                <a:solidFill>
                  <a:srgbClr val="F7FAFF"/>
                </a:solidFill>
                <a:latin typeface="NanumGothic"/>
                <a:ea typeface="NanumGothic"/>
                <a:cs typeface="NanumGothic"/>
              </a:defRPr>
            </a:lvl5pPr>
            <a:lvl6pPr algn="l">
              <a:defRPr sz="2325" b="1">
                <a:solidFill>
                  <a:srgbClr val="F7FAFF"/>
                </a:solidFill>
                <a:latin typeface="NanumGothic"/>
                <a:ea typeface="NanumGothic"/>
                <a:cs typeface="NanumGothic"/>
              </a:defRPr>
            </a:lvl6pPr>
            <a:lvl7pPr algn="l">
              <a:defRPr sz="2325" b="1">
                <a:solidFill>
                  <a:srgbClr val="F7FAFF"/>
                </a:solidFill>
                <a:latin typeface="NanumGothic"/>
                <a:ea typeface="NanumGothic"/>
                <a:cs typeface="NanumGothic"/>
              </a:defRPr>
            </a:lvl7pPr>
            <a:lvl8pPr algn="l">
              <a:defRPr sz="2325" b="1">
                <a:solidFill>
                  <a:srgbClr val="F7FAFF"/>
                </a:solidFill>
                <a:latin typeface="NanumGothic"/>
                <a:ea typeface="NanumGothic"/>
                <a:cs typeface="NanumGothic"/>
              </a:defRPr>
            </a:lvl8pPr>
            <a:lvl9pPr algn="l">
              <a:defRPr sz="2325" b="1">
                <a:solidFill>
                  <a:srgbClr val="F7FAFF"/>
                </a:solidFill>
                <a:latin typeface="NanumGothic"/>
                <a:ea typeface="NanumGothic"/>
                <a:cs typeface="NanumGothic"/>
              </a:defRPr>
            </a:lvl9pPr>
          </a:lstStyle>
          <a:p xmlns:a="http://schemas.openxmlformats.org/drawingml/2006/main">
            <a:pPr algn="l">
              <a:defRPr sz="2325" b="1">
                <a:solidFill>
                  <a:srgbClr val="F7FAFF"/>
                </a:solidFill>
                <a:latin typeface="NanumGothic"/>
                <a:ea typeface="NanumGothic"/>
                <a:cs typeface="NanumGothic"/>
              </a:defRPr>
            </a:pPr>
            <a:r>
              <a:rPr sz="2325" b="1">
                <a:solidFill>
                  <a:srgbClr val="F7FAFF"/>
                </a:solidFill>
                <a:latin typeface="NanumGothic"/>
                <a:ea typeface="NanumGothic"/>
                <a:cs typeface="NanumGothic"/>
              </a:rPr>
              <a:t>고정 모델의 미지 촬영 조건 적응성은 별도 검증 필요</a:t>
            </a:r>
          </a:p>
        </p:txBody>
      </p:sp>
      <p:sp>
        <p:nvSpPr>
          <p:cNvPr id="7" name="내부 학습·검증 간 유사 그룹 중복 9–20개">
            <a:extLst xmlns:a="http://schemas.openxmlformats.org/drawingml/2006/main">
              <a:ext uri="{FF2B5EF4-FFF2-40B4-BE49-F238E27FC236}">
                <a16:creationId xmlns:a16="http://schemas.microsoft.com/office/drawing/2014/main" id="{9B20D4AF-081B-4104-880E-4B08CFF91976}"/>
              </a:ext>
            </a:extLst>
          </p:cNvPr>
          <p:cNvSpPr>
            <a:spLocks xmlns:a="http://schemas.openxmlformats.org/drawingml/2006/main" noGrp="1"/>
          </p:cNvSpPr>
          <p:nvPr/>
        </p:nvSpPr>
        <p:spPr>
          <a:xfrm xmlns:a="http://schemas.openxmlformats.org/drawingml/2006/main">
            <a:off x="609600" y="34766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AAB8CC"/>
                </a:solidFill>
                <a:latin typeface="NanumGothic"/>
                <a:ea typeface="NanumGothic"/>
                <a:cs typeface="NanumGothic"/>
              </a:defRPr>
            </a:defPPr>
            <a:lvl1pPr algn="l">
              <a:defRPr sz="2175" b="1">
                <a:solidFill>
                  <a:srgbClr val="AAB8CC"/>
                </a:solidFill>
                <a:latin typeface="NanumGothic"/>
                <a:ea typeface="NanumGothic"/>
                <a:cs typeface="NanumGothic"/>
              </a:defRPr>
            </a:lvl1pPr>
            <a:lvl2pPr algn="l">
              <a:defRPr sz="2175" b="1">
                <a:solidFill>
                  <a:srgbClr val="AAB8CC"/>
                </a:solidFill>
                <a:latin typeface="NanumGothic"/>
                <a:ea typeface="NanumGothic"/>
                <a:cs typeface="NanumGothic"/>
              </a:defRPr>
            </a:lvl2pPr>
            <a:lvl3pPr algn="l">
              <a:defRPr sz="2175" b="1">
                <a:solidFill>
                  <a:srgbClr val="AAB8CC"/>
                </a:solidFill>
                <a:latin typeface="NanumGothic"/>
                <a:ea typeface="NanumGothic"/>
                <a:cs typeface="NanumGothic"/>
              </a:defRPr>
            </a:lvl3pPr>
            <a:lvl4pPr algn="l">
              <a:defRPr sz="2175" b="1">
                <a:solidFill>
                  <a:srgbClr val="AAB8CC"/>
                </a:solidFill>
                <a:latin typeface="NanumGothic"/>
                <a:ea typeface="NanumGothic"/>
                <a:cs typeface="NanumGothic"/>
              </a:defRPr>
            </a:lvl4pPr>
            <a:lvl5pPr algn="l">
              <a:defRPr sz="2175" b="1">
                <a:solidFill>
                  <a:srgbClr val="AAB8CC"/>
                </a:solidFill>
                <a:latin typeface="NanumGothic"/>
                <a:ea typeface="NanumGothic"/>
                <a:cs typeface="NanumGothic"/>
              </a:defRPr>
            </a:lvl5pPr>
            <a:lvl6pPr algn="l">
              <a:defRPr sz="2175" b="1">
                <a:solidFill>
                  <a:srgbClr val="AAB8CC"/>
                </a:solidFill>
                <a:latin typeface="NanumGothic"/>
                <a:ea typeface="NanumGothic"/>
                <a:cs typeface="NanumGothic"/>
              </a:defRPr>
            </a:lvl6pPr>
            <a:lvl7pPr algn="l">
              <a:defRPr sz="2175" b="1">
                <a:solidFill>
                  <a:srgbClr val="AAB8CC"/>
                </a:solidFill>
                <a:latin typeface="NanumGothic"/>
                <a:ea typeface="NanumGothic"/>
                <a:cs typeface="NanumGothic"/>
              </a:defRPr>
            </a:lvl7pPr>
            <a:lvl8pPr algn="l">
              <a:defRPr sz="2175" b="1">
                <a:solidFill>
                  <a:srgbClr val="AAB8CC"/>
                </a:solidFill>
                <a:latin typeface="NanumGothic"/>
                <a:ea typeface="NanumGothic"/>
                <a:cs typeface="NanumGothic"/>
              </a:defRPr>
            </a:lvl8pPr>
            <a:lvl9pPr algn="l">
              <a:defRPr sz="2175" b="1">
                <a:solidFill>
                  <a:srgbClr val="AAB8CC"/>
                </a:solidFill>
                <a:latin typeface="NanumGothic"/>
                <a:ea typeface="NanumGothic"/>
                <a:cs typeface="NanumGothic"/>
              </a:defRPr>
            </a:lvl9pPr>
          </a:lstStyle>
          <a:p xmlns:a="http://schemas.openxmlformats.org/drawingml/2006/main">
            <a:pPr algn="l">
              <a:defRPr sz="2175" b="1">
                <a:solidFill>
                  <a:srgbClr val="AAB8CC"/>
                </a:solidFill>
                <a:latin typeface="NanumGothic"/>
                <a:ea typeface="NanumGothic"/>
                <a:cs typeface="NanumGothic"/>
              </a:defRPr>
            </a:pPr>
            <a:r>
              <a:rPr sz="2175" b="1">
                <a:solidFill>
                  <a:srgbClr val="AAB8CC"/>
                </a:solidFill>
                <a:latin typeface="NanumGothic"/>
                <a:ea typeface="NanumGothic"/>
                <a:cs typeface="NanumGothic"/>
              </a:rPr>
              <a:t>내부 학습·검증 간 유사 그룹 중복 9–20개</a:t>
            </a:r>
          </a:p>
        </p:txBody>
      </p:sp>
      <p:sp>
        <p:nvSpPr>
          <p:cNvPr id="8" name="복합 필터의 잡음 평가와 전체 후보 반복 실험 필요">
            <a:extLst xmlns:a="http://schemas.openxmlformats.org/drawingml/2006/main">
              <a:ext uri="{FF2B5EF4-FFF2-40B4-BE49-F238E27FC236}">
                <a16:creationId xmlns:a16="http://schemas.microsoft.com/office/drawing/2014/main" id="{1DB3B6E5-D528-453E-B198-92EDDDCFC81F}"/>
              </a:ext>
            </a:extLst>
          </p:cNvPr>
          <p:cNvSpPr>
            <a:spLocks xmlns:a="http://schemas.openxmlformats.org/drawingml/2006/main" noGrp="1"/>
          </p:cNvSpPr>
          <p:nvPr/>
        </p:nvSpPr>
        <p:spPr>
          <a:xfrm xmlns:a="http://schemas.openxmlformats.org/drawingml/2006/main">
            <a:off x="609600" y="43243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AAB8CC"/>
                </a:solidFill>
                <a:latin typeface="NanumGothic"/>
                <a:ea typeface="NanumGothic"/>
                <a:cs typeface="NanumGothic"/>
              </a:defRPr>
            </a:defPPr>
            <a:lvl1pPr algn="l">
              <a:defRPr sz="2175" b="1">
                <a:solidFill>
                  <a:srgbClr val="AAB8CC"/>
                </a:solidFill>
                <a:latin typeface="NanumGothic"/>
                <a:ea typeface="NanumGothic"/>
                <a:cs typeface="NanumGothic"/>
              </a:defRPr>
            </a:lvl1pPr>
            <a:lvl2pPr algn="l">
              <a:defRPr sz="2175" b="1">
                <a:solidFill>
                  <a:srgbClr val="AAB8CC"/>
                </a:solidFill>
                <a:latin typeface="NanumGothic"/>
                <a:ea typeface="NanumGothic"/>
                <a:cs typeface="NanumGothic"/>
              </a:defRPr>
            </a:lvl2pPr>
            <a:lvl3pPr algn="l">
              <a:defRPr sz="2175" b="1">
                <a:solidFill>
                  <a:srgbClr val="AAB8CC"/>
                </a:solidFill>
                <a:latin typeface="NanumGothic"/>
                <a:ea typeface="NanumGothic"/>
                <a:cs typeface="NanumGothic"/>
              </a:defRPr>
            </a:lvl3pPr>
            <a:lvl4pPr algn="l">
              <a:defRPr sz="2175" b="1">
                <a:solidFill>
                  <a:srgbClr val="AAB8CC"/>
                </a:solidFill>
                <a:latin typeface="NanumGothic"/>
                <a:ea typeface="NanumGothic"/>
                <a:cs typeface="NanumGothic"/>
              </a:defRPr>
            </a:lvl4pPr>
            <a:lvl5pPr algn="l">
              <a:defRPr sz="2175" b="1">
                <a:solidFill>
                  <a:srgbClr val="AAB8CC"/>
                </a:solidFill>
                <a:latin typeface="NanumGothic"/>
                <a:ea typeface="NanumGothic"/>
                <a:cs typeface="NanumGothic"/>
              </a:defRPr>
            </a:lvl5pPr>
            <a:lvl6pPr algn="l">
              <a:defRPr sz="2175" b="1">
                <a:solidFill>
                  <a:srgbClr val="AAB8CC"/>
                </a:solidFill>
                <a:latin typeface="NanumGothic"/>
                <a:ea typeface="NanumGothic"/>
                <a:cs typeface="NanumGothic"/>
              </a:defRPr>
            </a:lvl6pPr>
            <a:lvl7pPr algn="l">
              <a:defRPr sz="2175" b="1">
                <a:solidFill>
                  <a:srgbClr val="AAB8CC"/>
                </a:solidFill>
                <a:latin typeface="NanumGothic"/>
                <a:ea typeface="NanumGothic"/>
                <a:cs typeface="NanumGothic"/>
              </a:defRPr>
            </a:lvl7pPr>
            <a:lvl8pPr algn="l">
              <a:defRPr sz="2175" b="1">
                <a:solidFill>
                  <a:srgbClr val="AAB8CC"/>
                </a:solidFill>
                <a:latin typeface="NanumGothic"/>
                <a:ea typeface="NanumGothic"/>
                <a:cs typeface="NanumGothic"/>
              </a:defRPr>
            </a:lvl8pPr>
            <a:lvl9pPr algn="l">
              <a:defRPr sz="2175" b="1">
                <a:solidFill>
                  <a:srgbClr val="AAB8CC"/>
                </a:solidFill>
                <a:latin typeface="NanumGothic"/>
                <a:ea typeface="NanumGothic"/>
                <a:cs typeface="NanumGothic"/>
              </a:defRPr>
            </a:lvl9pPr>
          </a:lstStyle>
          <a:p xmlns:a="http://schemas.openxmlformats.org/drawingml/2006/main">
            <a:pPr algn="l">
              <a:defRPr sz="2175" b="1">
                <a:solidFill>
                  <a:srgbClr val="AAB8CC"/>
                </a:solidFill>
                <a:latin typeface="NanumGothic"/>
                <a:ea typeface="NanumGothic"/>
                <a:cs typeface="NanumGothic"/>
              </a:defRPr>
            </a:pPr>
            <a:r>
              <a:rPr sz="2175" b="1">
                <a:solidFill>
                  <a:srgbClr val="AAB8CC"/>
                </a:solidFill>
                <a:latin typeface="NanumGothic"/>
                <a:ea typeface="NanumGothic"/>
                <a:cs typeface="NanumGothic"/>
              </a:rPr>
              <a:t>복합 필터의 잡음 평가와 전체 후보 반복 실험 필요</a:t>
            </a:r>
          </a:p>
        </p:txBody>
      </p:sp>
      <p:sp>
        <p:nvSpPr>
          <p:cNvPr id="9" name="후속 검증: 내부 그룹 분리와 독립 촬영 로트">
            <a:extLst xmlns:a="http://schemas.openxmlformats.org/drawingml/2006/main">
              <a:ext uri="{FF2B5EF4-FFF2-40B4-BE49-F238E27FC236}">
                <a16:creationId xmlns:a16="http://schemas.microsoft.com/office/drawing/2014/main" id="{A5451D45-4504-443C-8E5D-E4C2DD64E3E2}"/>
              </a:ext>
            </a:extLst>
          </p:cNvPr>
          <p:cNvSpPr>
            <a:spLocks xmlns:a="http://schemas.openxmlformats.org/drawingml/2006/main" noGrp="1"/>
          </p:cNvSpPr>
          <p:nvPr/>
        </p:nvSpPr>
        <p:spPr>
          <a:xfrm xmlns:a="http://schemas.openxmlformats.org/drawingml/2006/main">
            <a:off x="609600" y="5314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7FAFF"/>
                </a:solidFill>
                <a:latin typeface="NanumGothic"/>
                <a:ea typeface="NanumGothic"/>
                <a:cs typeface="NanumGothic"/>
              </a:defRPr>
            </a:defPPr>
            <a:lvl1pPr algn="l">
              <a:defRPr sz="2325" b="1">
                <a:solidFill>
                  <a:srgbClr val="F7FAFF"/>
                </a:solidFill>
                <a:latin typeface="NanumGothic"/>
                <a:ea typeface="NanumGothic"/>
                <a:cs typeface="NanumGothic"/>
              </a:defRPr>
            </a:lvl1pPr>
            <a:lvl2pPr algn="l">
              <a:defRPr sz="2325" b="1">
                <a:solidFill>
                  <a:srgbClr val="F7FAFF"/>
                </a:solidFill>
                <a:latin typeface="NanumGothic"/>
                <a:ea typeface="NanumGothic"/>
                <a:cs typeface="NanumGothic"/>
              </a:defRPr>
            </a:lvl2pPr>
            <a:lvl3pPr algn="l">
              <a:defRPr sz="2325" b="1">
                <a:solidFill>
                  <a:srgbClr val="F7FAFF"/>
                </a:solidFill>
                <a:latin typeface="NanumGothic"/>
                <a:ea typeface="NanumGothic"/>
                <a:cs typeface="NanumGothic"/>
              </a:defRPr>
            </a:lvl3pPr>
            <a:lvl4pPr algn="l">
              <a:defRPr sz="2325" b="1">
                <a:solidFill>
                  <a:srgbClr val="F7FAFF"/>
                </a:solidFill>
                <a:latin typeface="NanumGothic"/>
                <a:ea typeface="NanumGothic"/>
                <a:cs typeface="NanumGothic"/>
              </a:defRPr>
            </a:lvl4pPr>
            <a:lvl5pPr algn="l">
              <a:defRPr sz="2325" b="1">
                <a:solidFill>
                  <a:srgbClr val="F7FAFF"/>
                </a:solidFill>
                <a:latin typeface="NanumGothic"/>
                <a:ea typeface="NanumGothic"/>
                <a:cs typeface="NanumGothic"/>
              </a:defRPr>
            </a:lvl5pPr>
            <a:lvl6pPr algn="l">
              <a:defRPr sz="2325" b="1">
                <a:solidFill>
                  <a:srgbClr val="F7FAFF"/>
                </a:solidFill>
                <a:latin typeface="NanumGothic"/>
                <a:ea typeface="NanumGothic"/>
                <a:cs typeface="NanumGothic"/>
              </a:defRPr>
            </a:lvl6pPr>
            <a:lvl7pPr algn="l">
              <a:defRPr sz="2325" b="1">
                <a:solidFill>
                  <a:srgbClr val="F7FAFF"/>
                </a:solidFill>
                <a:latin typeface="NanumGothic"/>
                <a:ea typeface="NanumGothic"/>
                <a:cs typeface="NanumGothic"/>
              </a:defRPr>
            </a:lvl7pPr>
            <a:lvl8pPr algn="l">
              <a:defRPr sz="2325" b="1">
                <a:solidFill>
                  <a:srgbClr val="F7FAFF"/>
                </a:solidFill>
                <a:latin typeface="NanumGothic"/>
                <a:ea typeface="NanumGothic"/>
                <a:cs typeface="NanumGothic"/>
              </a:defRPr>
            </a:lvl8pPr>
            <a:lvl9pPr algn="l">
              <a:defRPr sz="2325" b="1">
                <a:solidFill>
                  <a:srgbClr val="F7FAFF"/>
                </a:solidFill>
                <a:latin typeface="NanumGothic"/>
                <a:ea typeface="NanumGothic"/>
                <a:cs typeface="NanumGothic"/>
              </a:defRPr>
            </a:lvl9pPr>
          </a:lstStyle>
          <a:p xmlns:a="http://schemas.openxmlformats.org/drawingml/2006/main">
            <a:pPr algn="l">
              <a:defRPr sz="2325" b="1">
                <a:solidFill>
                  <a:srgbClr val="F7FAFF"/>
                </a:solidFill>
                <a:latin typeface="NanumGothic"/>
                <a:ea typeface="NanumGothic"/>
                <a:cs typeface="NanumGothic"/>
              </a:defRPr>
            </a:pPr>
            <a:r>
              <a:rPr sz="2325" b="1">
                <a:solidFill>
                  <a:srgbClr val="F7FAFF"/>
                </a:solidFill>
                <a:latin typeface="NanumGothic"/>
                <a:ea typeface="NanumGothic"/>
                <a:cs typeface="NanumGothic"/>
              </a:rPr>
              <a:t>후속 검증: 내부 그룹 분리와 독립 촬영 로트</a:t>
            </a:r>
          </a:p>
        </p:txBody>
      </p:sp>
    </p:spTree>
    <p:extLst>
      <p:ext uri="{BB962C8B-B14F-4D97-AF65-F5344CB8AC3E}">
        <p14:creationId xmlns:p14="http://schemas.microsoft.com/office/powerpoint/2010/main" val="1752912537"/>
      </p:ext>
    </p:extLst>
  </p:cSld>
</p:sld>
</file>

<file path=ppt/slides/slide19.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9" name="결론과 후속 연구">
            <a:extLst xmlns:a="http://schemas.openxmlformats.org/drawingml/2006/main">
              <a:ext uri="{FF2B5EF4-FFF2-40B4-BE49-F238E27FC236}">
                <a16:creationId xmlns:a16="http://schemas.microsoft.com/office/drawing/2014/main" id="{9E68A8FE-FCD4-4B5D-8BEC-F930E4F4C6ED}"/>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결론과 후속 연구</a:t>
            </a:r>
          </a:p>
        </p:txBody>
      </p:sp>
      <p:sp>
        <p:nvSpPr>
          <p:cNvPr id="2" name="결론">
            <a:extLst xmlns:a="http://schemas.openxmlformats.org/drawingml/2006/main">
              <a:ext uri="{FF2B5EF4-FFF2-40B4-BE49-F238E27FC236}">
                <a16:creationId xmlns:a16="http://schemas.microsoft.com/office/drawing/2014/main" id="{F6E1E864-5401-45F3-851B-24A891DA3780}"/>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결론</a:t>
            </a:r>
          </a:p>
        </p:txBody>
      </p:sp>
      <p:sp>
        <p:nvSpPr>
          <p:cNvPr id="3" name="경기대학교 컴퓨터과학과">
            <a:extLst xmlns:a="http://schemas.openxmlformats.org/drawingml/2006/main">
              <a:ext uri="{FF2B5EF4-FFF2-40B4-BE49-F238E27FC236}">
                <a16:creationId xmlns:a16="http://schemas.microsoft.com/office/drawing/2014/main" id="{D72F1BE5-55B4-407D-8589-C23B30D93C1E}"/>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19">
            <a:extLst xmlns:a="http://schemas.openxmlformats.org/drawingml/2006/main">
              <a:ext uri="{FF2B5EF4-FFF2-40B4-BE49-F238E27FC236}">
                <a16:creationId xmlns:a16="http://schemas.microsoft.com/office/drawing/2014/main" id="{90E32F87-CCD4-4766-B40F-8E40B21E0F59}"/>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19</a:t>
            </a:r>
          </a:p>
        </p:txBody>
      </p:sp>
      <p:sp>
        <p:nvSpPr>
          <p:cNvPr id="5" name="영상 조건과 목적 지표에 따른 필터 선택">
            <a:extLst xmlns:a="http://schemas.openxmlformats.org/drawingml/2006/main">
              <a:ext uri="{FF2B5EF4-FFF2-40B4-BE49-F238E27FC236}">
                <a16:creationId xmlns:a16="http://schemas.microsoft.com/office/drawing/2014/main" id="{C2A8E6A4-1E73-4F74-8822-53DD22B04D73}"/>
              </a:ext>
            </a:extLst>
          </p:cNvPr>
          <p:cNvSpPr>
            <a:spLocks xmlns:a="http://schemas.openxmlformats.org/drawingml/2006/main" noGrp="1"/>
          </p:cNvSpPr>
          <p:nvPr/>
        </p:nvSpPr>
        <p:spPr>
          <a:xfrm xmlns:a="http://schemas.openxmlformats.org/drawingml/2006/main">
            <a:off x="609600" y="158115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3B92FF"/>
                </a:solidFill>
                <a:latin typeface="NanumGothic"/>
                <a:ea typeface="NanumGothic"/>
                <a:cs typeface="NanumGothic"/>
              </a:defRPr>
            </a:defPPr>
            <a:lvl1pPr algn="l">
              <a:defRPr sz="2925" b="1">
                <a:solidFill>
                  <a:srgbClr val="3B92FF"/>
                </a:solidFill>
                <a:latin typeface="NanumGothic"/>
                <a:ea typeface="NanumGothic"/>
                <a:cs typeface="NanumGothic"/>
              </a:defRPr>
            </a:lvl1pPr>
            <a:lvl2pPr algn="l">
              <a:defRPr sz="2925" b="1">
                <a:solidFill>
                  <a:srgbClr val="3B92FF"/>
                </a:solidFill>
                <a:latin typeface="NanumGothic"/>
                <a:ea typeface="NanumGothic"/>
                <a:cs typeface="NanumGothic"/>
              </a:defRPr>
            </a:lvl2pPr>
            <a:lvl3pPr algn="l">
              <a:defRPr sz="2925" b="1">
                <a:solidFill>
                  <a:srgbClr val="3B92FF"/>
                </a:solidFill>
                <a:latin typeface="NanumGothic"/>
                <a:ea typeface="NanumGothic"/>
                <a:cs typeface="NanumGothic"/>
              </a:defRPr>
            </a:lvl3pPr>
            <a:lvl4pPr algn="l">
              <a:defRPr sz="2925" b="1">
                <a:solidFill>
                  <a:srgbClr val="3B92FF"/>
                </a:solidFill>
                <a:latin typeface="NanumGothic"/>
                <a:ea typeface="NanumGothic"/>
                <a:cs typeface="NanumGothic"/>
              </a:defRPr>
            </a:lvl4pPr>
            <a:lvl5pPr algn="l">
              <a:defRPr sz="2925" b="1">
                <a:solidFill>
                  <a:srgbClr val="3B92FF"/>
                </a:solidFill>
                <a:latin typeface="NanumGothic"/>
                <a:ea typeface="NanumGothic"/>
                <a:cs typeface="NanumGothic"/>
              </a:defRPr>
            </a:lvl5pPr>
            <a:lvl6pPr algn="l">
              <a:defRPr sz="2925" b="1">
                <a:solidFill>
                  <a:srgbClr val="3B92FF"/>
                </a:solidFill>
                <a:latin typeface="NanumGothic"/>
                <a:ea typeface="NanumGothic"/>
                <a:cs typeface="NanumGothic"/>
              </a:defRPr>
            </a:lvl6pPr>
            <a:lvl7pPr algn="l">
              <a:defRPr sz="2925" b="1">
                <a:solidFill>
                  <a:srgbClr val="3B92FF"/>
                </a:solidFill>
                <a:latin typeface="NanumGothic"/>
                <a:ea typeface="NanumGothic"/>
                <a:cs typeface="NanumGothic"/>
              </a:defRPr>
            </a:lvl7pPr>
            <a:lvl8pPr algn="l">
              <a:defRPr sz="2925" b="1">
                <a:solidFill>
                  <a:srgbClr val="3B92FF"/>
                </a:solidFill>
                <a:latin typeface="NanumGothic"/>
                <a:ea typeface="NanumGothic"/>
                <a:cs typeface="NanumGothic"/>
              </a:defRPr>
            </a:lvl8pPr>
            <a:lvl9pPr algn="l">
              <a:defRPr sz="2925" b="1">
                <a:solidFill>
                  <a:srgbClr val="3B92FF"/>
                </a:solidFill>
                <a:latin typeface="NanumGothic"/>
                <a:ea typeface="NanumGothic"/>
                <a:cs typeface="NanumGothic"/>
              </a:defRPr>
            </a:lvl9pPr>
          </a:lstStyle>
          <a:p xmlns:a="http://schemas.openxmlformats.org/drawingml/2006/main">
            <a:pPr algn="l">
              <a:defRPr sz="2925" b="1">
                <a:solidFill>
                  <a:srgbClr val="3B92FF"/>
                </a:solidFill>
                <a:latin typeface="NanumGothic"/>
                <a:ea typeface="NanumGothic"/>
                <a:cs typeface="NanumGothic"/>
              </a:defRPr>
            </a:pPr>
            <a:r>
              <a:rPr sz="2925" b="1">
                <a:solidFill>
                  <a:srgbClr val="3B92FF"/>
                </a:solidFill>
                <a:latin typeface="NanumGothic"/>
                <a:ea typeface="NanumGothic"/>
                <a:cs typeface="NanumGothic"/>
              </a:rPr>
              <a:t>영상 조건과 목적 지표에 따른 필터 선택</a:t>
            </a:r>
          </a:p>
        </p:txBody>
      </p:sp>
      <p:sp>
        <p:nvSpPr>
          <p:cNvPr id="6" name="일반 영상: Gamma 0.3  /  잡음 조건: Gaus">
            <a:extLst xmlns:a="http://schemas.openxmlformats.org/drawingml/2006/main">
              <a:ext uri="{FF2B5EF4-FFF2-40B4-BE49-F238E27FC236}">
                <a16:creationId xmlns:a16="http://schemas.microsoft.com/office/drawing/2014/main" id="{4B959510-C518-4005-A1E4-3BCF364A0A33}"/>
              </a:ext>
            </a:extLst>
          </p:cNvPr>
          <p:cNvSpPr>
            <a:spLocks xmlns:a="http://schemas.openxmlformats.org/drawingml/2006/main" noGrp="1"/>
          </p:cNvSpPr>
          <p:nvPr/>
        </p:nvSpPr>
        <p:spPr>
          <a:xfrm xmlns:a="http://schemas.openxmlformats.org/drawingml/2006/main">
            <a:off x="609600" y="2667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7FAFF"/>
                </a:solidFill>
                <a:latin typeface="NanumGothic"/>
                <a:ea typeface="NanumGothic"/>
                <a:cs typeface="NanumGothic"/>
              </a:defRPr>
            </a:defPPr>
            <a:lvl1pPr algn="l">
              <a:defRPr sz="2325" b="1">
                <a:solidFill>
                  <a:srgbClr val="F7FAFF"/>
                </a:solidFill>
                <a:latin typeface="NanumGothic"/>
                <a:ea typeface="NanumGothic"/>
                <a:cs typeface="NanumGothic"/>
              </a:defRPr>
            </a:lvl1pPr>
            <a:lvl2pPr algn="l">
              <a:defRPr sz="2325" b="1">
                <a:solidFill>
                  <a:srgbClr val="F7FAFF"/>
                </a:solidFill>
                <a:latin typeface="NanumGothic"/>
                <a:ea typeface="NanumGothic"/>
                <a:cs typeface="NanumGothic"/>
              </a:defRPr>
            </a:lvl2pPr>
            <a:lvl3pPr algn="l">
              <a:defRPr sz="2325" b="1">
                <a:solidFill>
                  <a:srgbClr val="F7FAFF"/>
                </a:solidFill>
                <a:latin typeface="NanumGothic"/>
                <a:ea typeface="NanumGothic"/>
                <a:cs typeface="NanumGothic"/>
              </a:defRPr>
            </a:lvl3pPr>
            <a:lvl4pPr algn="l">
              <a:defRPr sz="2325" b="1">
                <a:solidFill>
                  <a:srgbClr val="F7FAFF"/>
                </a:solidFill>
                <a:latin typeface="NanumGothic"/>
                <a:ea typeface="NanumGothic"/>
                <a:cs typeface="NanumGothic"/>
              </a:defRPr>
            </a:lvl4pPr>
            <a:lvl5pPr algn="l">
              <a:defRPr sz="2325" b="1">
                <a:solidFill>
                  <a:srgbClr val="F7FAFF"/>
                </a:solidFill>
                <a:latin typeface="NanumGothic"/>
                <a:ea typeface="NanumGothic"/>
                <a:cs typeface="NanumGothic"/>
              </a:defRPr>
            </a:lvl5pPr>
            <a:lvl6pPr algn="l">
              <a:defRPr sz="2325" b="1">
                <a:solidFill>
                  <a:srgbClr val="F7FAFF"/>
                </a:solidFill>
                <a:latin typeface="NanumGothic"/>
                <a:ea typeface="NanumGothic"/>
                <a:cs typeface="NanumGothic"/>
              </a:defRPr>
            </a:lvl6pPr>
            <a:lvl7pPr algn="l">
              <a:defRPr sz="2325" b="1">
                <a:solidFill>
                  <a:srgbClr val="F7FAFF"/>
                </a:solidFill>
                <a:latin typeface="NanumGothic"/>
                <a:ea typeface="NanumGothic"/>
                <a:cs typeface="NanumGothic"/>
              </a:defRPr>
            </a:lvl7pPr>
            <a:lvl8pPr algn="l">
              <a:defRPr sz="2325" b="1">
                <a:solidFill>
                  <a:srgbClr val="F7FAFF"/>
                </a:solidFill>
                <a:latin typeface="NanumGothic"/>
                <a:ea typeface="NanumGothic"/>
                <a:cs typeface="NanumGothic"/>
              </a:defRPr>
            </a:lvl8pPr>
            <a:lvl9pPr algn="l">
              <a:defRPr sz="2325" b="1">
                <a:solidFill>
                  <a:srgbClr val="F7FAFF"/>
                </a:solidFill>
                <a:latin typeface="NanumGothic"/>
                <a:ea typeface="NanumGothic"/>
                <a:cs typeface="NanumGothic"/>
              </a:defRPr>
            </a:lvl9pPr>
          </a:lstStyle>
          <a:p xmlns:a="http://schemas.openxmlformats.org/drawingml/2006/main">
            <a:pPr algn="l">
              <a:defRPr sz="2325" b="1">
                <a:solidFill>
                  <a:srgbClr val="F7FAFF"/>
                </a:solidFill>
                <a:latin typeface="NanumGothic"/>
                <a:ea typeface="NanumGothic"/>
                <a:cs typeface="NanumGothic"/>
              </a:defRPr>
            </a:pPr>
            <a:r>
              <a:rPr sz="2325" b="1">
                <a:solidFill>
                  <a:srgbClr val="F7FAFF"/>
                </a:solidFill>
                <a:latin typeface="NanumGothic"/>
                <a:ea typeface="NanumGothic"/>
                <a:cs typeface="NanumGothic"/>
              </a:rPr>
              <a:t>일반 영상: Gamma 0.3  /  잡음 조건: Gaussian Blur</a:t>
            </a:r>
          </a:p>
        </p:txBody>
      </p:sp>
      <p:sp>
        <p:nvSpPr>
          <p:cNvPr id="7" name="평가한 5개 조합은 더 우수한 구성 필터의 mAP를 넘지 ">
            <a:extLst xmlns:a="http://schemas.openxmlformats.org/drawingml/2006/main">
              <a:ext uri="{FF2B5EF4-FFF2-40B4-BE49-F238E27FC236}">
                <a16:creationId xmlns:a16="http://schemas.microsoft.com/office/drawing/2014/main" id="{D6BAB4AC-BA72-4C6C-8A46-836F1C011CA2}"/>
              </a:ext>
            </a:extLst>
          </p:cNvPr>
          <p:cNvSpPr>
            <a:spLocks xmlns:a="http://schemas.openxmlformats.org/drawingml/2006/main" noGrp="1"/>
          </p:cNvSpPr>
          <p:nvPr/>
        </p:nvSpPr>
        <p:spPr>
          <a:xfrm xmlns:a="http://schemas.openxmlformats.org/drawingml/2006/main">
            <a:off x="609600" y="35623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AB8CC"/>
                </a:solidFill>
                <a:latin typeface="NanumGothic"/>
                <a:ea typeface="NanumGothic"/>
                <a:cs typeface="NanumGothic"/>
              </a:defRPr>
            </a:defPPr>
            <a:lvl1pPr algn="l">
              <a:defRPr sz="2100" b="1">
                <a:solidFill>
                  <a:srgbClr val="AAB8CC"/>
                </a:solidFill>
                <a:latin typeface="NanumGothic"/>
                <a:ea typeface="NanumGothic"/>
                <a:cs typeface="NanumGothic"/>
              </a:defRPr>
            </a:lvl1pPr>
            <a:lvl2pPr algn="l">
              <a:defRPr sz="2100" b="1">
                <a:solidFill>
                  <a:srgbClr val="AAB8CC"/>
                </a:solidFill>
                <a:latin typeface="NanumGothic"/>
                <a:ea typeface="NanumGothic"/>
                <a:cs typeface="NanumGothic"/>
              </a:defRPr>
            </a:lvl2pPr>
            <a:lvl3pPr algn="l">
              <a:defRPr sz="2100" b="1">
                <a:solidFill>
                  <a:srgbClr val="AAB8CC"/>
                </a:solidFill>
                <a:latin typeface="NanumGothic"/>
                <a:ea typeface="NanumGothic"/>
                <a:cs typeface="NanumGothic"/>
              </a:defRPr>
            </a:lvl3pPr>
            <a:lvl4pPr algn="l">
              <a:defRPr sz="2100" b="1">
                <a:solidFill>
                  <a:srgbClr val="AAB8CC"/>
                </a:solidFill>
                <a:latin typeface="NanumGothic"/>
                <a:ea typeface="NanumGothic"/>
                <a:cs typeface="NanumGothic"/>
              </a:defRPr>
            </a:lvl4pPr>
            <a:lvl5pPr algn="l">
              <a:defRPr sz="2100" b="1">
                <a:solidFill>
                  <a:srgbClr val="AAB8CC"/>
                </a:solidFill>
                <a:latin typeface="NanumGothic"/>
                <a:ea typeface="NanumGothic"/>
                <a:cs typeface="NanumGothic"/>
              </a:defRPr>
            </a:lvl5pPr>
            <a:lvl6pPr algn="l">
              <a:defRPr sz="2100" b="1">
                <a:solidFill>
                  <a:srgbClr val="AAB8CC"/>
                </a:solidFill>
                <a:latin typeface="NanumGothic"/>
                <a:ea typeface="NanumGothic"/>
                <a:cs typeface="NanumGothic"/>
              </a:defRPr>
            </a:lvl6pPr>
            <a:lvl7pPr algn="l">
              <a:defRPr sz="2100" b="1">
                <a:solidFill>
                  <a:srgbClr val="AAB8CC"/>
                </a:solidFill>
                <a:latin typeface="NanumGothic"/>
                <a:ea typeface="NanumGothic"/>
                <a:cs typeface="NanumGothic"/>
              </a:defRPr>
            </a:lvl7pPr>
            <a:lvl8pPr algn="l">
              <a:defRPr sz="2100" b="1">
                <a:solidFill>
                  <a:srgbClr val="AAB8CC"/>
                </a:solidFill>
                <a:latin typeface="NanumGothic"/>
                <a:ea typeface="NanumGothic"/>
                <a:cs typeface="NanumGothic"/>
              </a:defRPr>
            </a:lvl8pPr>
            <a:lvl9pPr algn="l">
              <a:defRPr sz="2100" b="1">
                <a:solidFill>
                  <a:srgbClr val="AAB8CC"/>
                </a:solidFill>
                <a:latin typeface="NanumGothic"/>
                <a:ea typeface="NanumGothic"/>
                <a:cs typeface="NanumGothic"/>
              </a:defRPr>
            </a:lvl9pPr>
          </a:lstStyle>
          <a:p xmlns:a="http://schemas.openxmlformats.org/drawingml/2006/main">
            <a:pPr algn="l">
              <a:defRPr sz="2100" b="1">
                <a:solidFill>
                  <a:srgbClr val="AAB8CC"/>
                </a:solidFill>
                <a:latin typeface="NanumGothic"/>
                <a:ea typeface="NanumGothic"/>
                <a:cs typeface="NanumGothic"/>
              </a:defRPr>
            </a:pPr>
            <a:r>
              <a:rPr sz="2100" b="1">
                <a:solidFill>
                  <a:srgbClr val="AAB8CC"/>
                </a:solidFill>
                <a:latin typeface="NanumGothic"/>
                <a:ea typeface="NanumGothic"/>
                <a:cs typeface="NanumGothic"/>
              </a:rPr>
              <a:t>평가한 5개 조합은 더 우수한 구성 필터의 mAP를 넘지 못함</a:t>
            </a:r>
          </a:p>
        </p:txBody>
      </p:sp>
      <p:sp>
        <p:nvSpPr>
          <p:cNvPr id="8" name="독립 촬영 자료와 내부 그룹 분리를 통한 후속 검증">
            <a:extLst xmlns:a="http://schemas.openxmlformats.org/drawingml/2006/main">
              <a:ext uri="{FF2B5EF4-FFF2-40B4-BE49-F238E27FC236}">
                <a16:creationId xmlns:a16="http://schemas.microsoft.com/office/drawing/2014/main" id="{C3D815F6-3F94-4CFC-9B0E-786C2FB72235}"/>
              </a:ext>
            </a:extLst>
          </p:cNvPr>
          <p:cNvSpPr>
            <a:spLocks xmlns:a="http://schemas.openxmlformats.org/drawingml/2006/main" noGrp="1"/>
          </p:cNvSpPr>
          <p:nvPr/>
        </p:nvSpPr>
        <p:spPr>
          <a:xfrm xmlns:a="http://schemas.openxmlformats.org/drawingml/2006/main">
            <a:off x="609600" y="46958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AB8CC"/>
                </a:solidFill>
                <a:latin typeface="NanumGothic"/>
                <a:ea typeface="NanumGothic"/>
                <a:cs typeface="NanumGothic"/>
              </a:defRPr>
            </a:defPPr>
            <a:lvl1pPr algn="l">
              <a:defRPr sz="2100" b="1">
                <a:solidFill>
                  <a:srgbClr val="AAB8CC"/>
                </a:solidFill>
                <a:latin typeface="NanumGothic"/>
                <a:ea typeface="NanumGothic"/>
                <a:cs typeface="NanumGothic"/>
              </a:defRPr>
            </a:lvl1pPr>
            <a:lvl2pPr algn="l">
              <a:defRPr sz="2100" b="1">
                <a:solidFill>
                  <a:srgbClr val="AAB8CC"/>
                </a:solidFill>
                <a:latin typeface="NanumGothic"/>
                <a:ea typeface="NanumGothic"/>
                <a:cs typeface="NanumGothic"/>
              </a:defRPr>
            </a:lvl2pPr>
            <a:lvl3pPr algn="l">
              <a:defRPr sz="2100" b="1">
                <a:solidFill>
                  <a:srgbClr val="AAB8CC"/>
                </a:solidFill>
                <a:latin typeface="NanumGothic"/>
                <a:ea typeface="NanumGothic"/>
                <a:cs typeface="NanumGothic"/>
              </a:defRPr>
            </a:lvl3pPr>
            <a:lvl4pPr algn="l">
              <a:defRPr sz="2100" b="1">
                <a:solidFill>
                  <a:srgbClr val="AAB8CC"/>
                </a:solidFill>
                <a:latin typeface="NanumGothic"/>
                <a:ea typeface="NanumGothic"/>
                <a:cs typeface="NanumGothic"/>
              </a:defRPr>
            </a:lvl4pPr>
            <a:lvl5pPr algn="l">
              <a:defRPr sz="2100" b="1">
                <a:solidFill>
                  <a:srgbClr val="AAB8CC"/>
                </a:solidFill>
                <a:latin typeface="NanumGothic"/>
                <a:ea typeface="NanumGothic"/>
                <a:cs typeface="NanumGothic"/>
              </a:defRPr>
            </a:lvl5pPr>
            <a:lvl6pPr algn="l">
              <a:defRPr sz="2100" b="1">
                <a:solidFill>
                  <a:srgbClr val="AAB8CC"/>
                </a:solidFill>
                <a:latin typeface="NanumGothic"/>
                <a:ea typeface="NanumGothic"/>
                <a:cs typeface="NanumGothic"/>
              </a:defRPr>
            </a:lvl6pPr>
            <a:lvl7pPr algn="l">
              <a:defRPr sz="2100" b="1">
                <a:solidFill>
                  <a:srgbClr val="AAB8CC"/>
                </a:solidFill>
                <a:latin typeface="NanumGothic"/>
                <a:ea typeface="NanumGothic"/>
                <a:cs typeface="NanumGothic"/>
              </a:defRPr>
            </a:lvl7pPr>
            <a:lvl8pPr algn="l">
              <a:defRPr sz="2100" b="1">
                <a:solidFill>
                  <a:srgbClr val="AAB8CC"/>
                </a:solidFill>
                <a:latin typeface="NanumGothic"/>
                <a:ea typeface="NanumGothic"/>
                <a:cs typeface="NanumGothic"/>
              </a:defRPr>
            </a:lvl8pPr>
            <a:lvl9pPr algn="l">
              <a:defRPr sz="2100" b="1">
                <a:solidFill>
                  <a:srgbClr val="AAB8CC"/>
                </a:solidFill>
                <a:latin typeface="NanumGothic"/>
                <a:ea typeface="NanumGothic"/>
                <a:cs typeface="NanumGothic"/>
              </a:defRPr>
            </a:lvl9pPr>
          </a:lstStyle>
          <a:p xmlns:a="http://schemas.openxmlformats.org/drawingml/2006/main">
            <a:pPr algn="l">
              <a:defRPr sz="2100" b="1">
                <a:solidFill>
                  <a:srgbClr val="AAB8CC"/>
                </a:solidFill>
                <a:latin typeface="NanumGothic"/>
                <a:ea typeface="NanumGothic"/>
                <a:cs typeface="NanumGothic"/>
              </a:defRPr>
            </a:pPr>
            <a:r>
              <a:rPr sz="2100" b="1">
                <a:solidFill>
                  <a:srgbClr val="AAB8CC"/>
                </a:solidFill>
                <a:latin typeface="NanumGothic"/>
                <a:ea typeface="NanumGothic"/>
                <a:cs typeface="NanumGothic"/>
              </a:rPr>
              <a:t>독립 촬영 자료와 내부 그룹 분리를 통한 후속 검증</a:t>
            </a:r>
          </a:p>
        </p:txBody>
      </p:sp>
    </p:spTree>
    <p:extLst>
      <p:ext uri="{BB962C8B-B14F-4D97-AF65-F5344CB8AC3E}">
        <p14:creationId xmlns:p14="http://schemas.microsoft.com/office/powerpoint/2010/main" val="1704068622"/>
      </p:ext>
    </p:extLst>
  </p:cSld>
</p:sld>
</file>

<file path=ppt/slides/slide20.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7" name="감사합니다">
            <a:extLst xmlns:a="http://schemas.openxmlformats.org/drawingml/2006/main">
              <a:ext uri="{FF2B5EF4-FFF2-40B4-BE49-F238E27FC236}">
                <a16:creationId xmlns:a16="http://schemas.microsoft.com/office/drawing/2014/main" id="{AB08DF1D-66F1-49DC-844B-DC039D36FD32}"/>
              </a:ext>
            </a:extLst>
          </p:cNvPr>
          <p:cNvSpPr>
            <a:spLocks xmlns:a="http://schemas.openxmlformats.org/drawingml/2006/main" noGrp="1"/>
          </p:cNvSpPr>
          <p:nvPr/>
        </p:nvSpPr>
        <p:spPr>
          <a:xfrm xmlns:a="http://schemas.openxmlformats.org/drawingml/2006/main">
            <a:off x="609600" y="1828800"/>
            <a:ext cx="109728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0" b="1">
                <a:solidFill>
                  <a:srgbClr val="F7FAFF"/>
                </a:solidFill>
                <a:latin typeface="NanumGothic"/>
                <a:ea typeface="NanumGothic"/>
                <a:cs typeface="NanumGothic"/>
              </a:defRPr>
            </a:defPPr>
            <a:lvl1pPr algn="l">
              <a:defRPr sz="7500" b="1">
                <a:solidFill>
                  <a:srgbClr val="F7FAFF"/>
                </a:solidFill>
                <a:latin typeface="NanumGothic"/>
                <a:ea typeface="NanumGothic"/>
                <a:cs typeface="NanumGothic"/>
              </a:defRPr>
            </a:lvl1pPr>
            <a:lvl2pPr algn="l">
              <a:defRPr sz="7500" b="1">
                <a:solidFill>
                  <a:srgbClr val="F7FAFF"/>
                </a:solidFill>
                <a:latin typeface="NanumGothic"/>
                <a:ea typeface="NanumGothic"/>
                <a:cs typeface="NanumGothic"/>
              </a:defRPr>
            </a:lvl2pPr>
            <a:lvl3pPr algn="l">
              <a:defRPr sz="7500" b="1">
                <a:solidFill>
                  <a:srgbClr val="F7FAFF"/>
                </a:solidFill>
                <a:latin typeface="NanumGothic"/>
                <a:ea typeface="NanumGothic"/>
                <a:cs typeface="NanumGothic"/>
              </a:defRPr>
            </a:lvl3pPr>
            <a:lvl4pPr algn="l">
              <a:defRPr sz="7500" b="1">
                <a:solidFill>
                  <a:srgbClr val="F7FAFF"/>
                </a:solidFill>
                <a:latin typeface="NanumGothic"/>
                <a:ea typeface="NanumGothic"/>
                <a:cs typeface="NanumGothic"/>
              </a:defRPr>
            </a:lvl4pPr>
            <a:lvl5pPr algn="l">
              <a:defRPr sz="7500" b="1">
                <a:solidFill>
                  <a:srgbClr val="F7FAFF"/>
                </a:solidFill>
                <a:latin typeface="NanumGothic"/>
                <a:ea typeface="NanumGothic"/>
                <a:cs typeface="NanumGothic"/>
              </a:defRPr>
            </a:lvl5pPr>
            <a:lvl6pPr algn="l">
              <a:defRPr sz="7500" b="1">
                <a:solidFill>
                  <a:srgbClr val="F7FAFF"/>
                </a:solidFill>
                <a:latin typeface="NanumGothic"/>
                <a:ea typeface="NanumGothic"/>
                <a:cs typeface="NanumGothic"/>
              </a:defRPr>
            </a:lvl6pPr>
            <a:lvl7pPr algn="l">
              <a:defRPr sz="7500" b="1">
                <a:solidFill>
                  <a:srgbClr val="F7FAFF"/>
                </a:solidFill>
                <a:latin typeface="NanumGothic"/>
                <a:ea typeface="NanumGothic"/>
                <a:cs typeface="NanumGothic"/>
              </a:defRPr>
            </a:lvl7pPr>
            <a:lvl8pPr algn="l">
              <a:defRPr sz="7500" b="1">
                <a:solidFill>
                  <a:srgbClr val="F7FAFF"/>
                </a:solidFill>
                <a:latin typeface="NanumGothic"/>
                <a:ea typeface="NanumGothic"/>
                <a:cs typeface="NanumGothic"/>
              </a:defRPr>
            </a:lvl8pPr>
            <a:lvl9pPr algn="l">
              <a:defRPr sz="7500" b="1">
                <a:solidFill>
                  <a:srgbClr val="F7FAFF"/>
                </a:solidFill>
                <a:latin typeface="NanumGothic"/>
                <a:ea typeface="NanumGothic"/>
                <a:cs typeface="NanumGothic"/>
              </a:defRPr>
            </a:lvl9pPr>
          </a:lstStyle>
          <a:p xmlns:a="http://schemas.openxmlformats.org/drawingml/2006/main">
            <a:pPr algn="l">
              <a:defRPr sz="7500" b="1">
                <a:solidFill>
                  <a:srgbClr val="F7FAFF"/>
                </a:solidFill>
                <a:latin typeface="NanumGothic"/>
                <a:ea typeface="NanumGothic"/>
                <a:cs typeface="NanumGothic"/>
              </a:defRPr>
            </a:pPr>
            <a:r>
              <a:rPr sz="7500" b="1">
                <a:solidFill>
                  <a:srgbClr val="F7FAFF"/>
                </a:solidFill>
                <a:latin typeface="NanumGothic"/>
                <a:ea typeface="NanumGothic"/>
                <a:cs typeface="NanumGothic"/>
              </a:rPr>
              <a:t>감사합니다</a:t>
            </a:r>
          </a:p>
        </p:txBody>
      </p:sp>
      <p:sp>
        <p:nvSpPr>
          <p:cNvPr id="2" name="질의응답">
            <a:extLst xmlns:a="http://schemas.openxmlformats.org/drawingml/2006/main">
              <a:ext uri="{FF2B5EF4-FFF2-40B4-BE49-F238E27FC236}">
                <a16:creationId xmlns:a16="http://schemas.microsoft.com/office/drawing/2014/main" id="{83C24A65-04A9-4802-A60B-A04E34E31F21}"/>
              </a:ext>
            </a:extLst>
          </p:cNvPr>
          <p:cNvSpPr>
            <a:spLocks xmlns:a="http://schemas.openxmlformats.org/drawingml/2006/main" noGrp="1"/>
          </p:cNvSpPr>
          <p:nvPr/>
        </p:nvSpPr>
        <p:spPr>
          <a:xfrm xmlns:a="http://schemas.openxmlformats.org/drawingml/2006/main">
            <a:off x="609600" y="37052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65D9F3"/>
                </a:solidFill>
                <a:latin typeface="NanumGothic"/>
                <a:ea typeface="NanumGothic"/>
                <a:cs typeface="NanumGothic"/>
              </a:defRPr>
            </a:defPPr>
            <a:lvl1pPr algn="l">
              <a:defRPr sz="2550" b="1">
                <a:solidFill>
                  <a:srgbClr val="65D9F3"/>
                </a:solidFill>
                <a:latin typeface="NanumGothic"/>
                <a:ea typeface="NanumGothic"/>
                <a:cs typeface="NanumGothic"/>
              </a:defRPr>
            </a:lvl1pPr>
            <a:lvl2pPr algn="l">
              <a:defRPr sz="2550" b="1">
                <a:solidFill>
                  <a:srgbClr val="65D9F3"/>
                </a:solidFill>
                <a:latin typeface="NanumGothic"/>
                <a:ea typeface="NanumGothic"/>
                <a:cs typeface="NanumGothic"/>
              </a:defRPr>
            </a:lvl2pPr>
            <a:lvl3pPr algn="l">
              <a:defRPr sz="2550" b="1">
                <a:solidFill>
                  <a:srgbClr val="65D9F3"/>
                </a:solidFill>
                <a:latin typeface="NanumGothic"/>
                <a:ea typeface="NanumGothic"/>
                <a:cs typeface="NanumGothic"/>
              </a:defRPr>
            </a:lvl3pPr>
            <a:lvl4pPr algn="l">
              <a:defRPr sz="2550" b="1">
                <a:solidFill>
                  <a:srgbClr val="65D9F3"/>
                </a:solidFill>
                <a:latin typeface="NanumGothic"/>
                <a:ea typeface="NanumGothic"/>
                <a:cs typeface="NanumGothic"/>
              </a:defRPr>
            </a:lvl4pPr>
            <a:lvl5pPr algn="l">
              <a:defRPr sz="2550" b="1">
                <a:solidFill>
                  <a:srgbClr val="65D9F3"/>
                </a:solidFill>
                <a:latin typeface="NanumGothic"/>
                <a:ea typeface="NanumGothic"/>
                <a:cs typeface="NanumGothic"/>
              </a:defRPr>
            </a:lvl5pPr>
            <a:lvl6pPr algn="l">
              <a:defRPr sz="2550" b="1">
                <a:solidFill>
                  <a:srgbClr val="65D9F3"/>
                </a:solidFill>
                <a:latin typeface="NanumGothic"/>
                <a:ea typeface="NanumGothic"/>
                <a:cs typeface="NanumGothic"/>
              </a:defRPr>
            </a:lvl6pPr>
            <a:lvl7pPr algn="l">
              <a:defRPr sz="2550" b="1">
                <a:solidFill>
                  <a:srgbClr val="65D9F3"/>
                </a:solidFill>
                <a:latin typeface="NanumGothic"/>
                <a:ea typeface="NanumGothic"/>
                <a:cs typeface="NanumGothic"/>
              </a:defRPr>
            </a:lvl7pPr>
            <a:lvl8pPr algn="l">
              <a:defRPr sz="2550" b="1">
                <a:solidFill>
                  <a:srgbClr val="65D9F3"/>
                </a:solidFill>
                <a:latin typeface="NanumGothic"/>
                <a:ea typeface="NanumGothic"/>
                <a:cs typeface="NanumGothic"/>
              </a:defRPr>
            </a:lvl8pPr>
            <a:lvl9pPr algn="l">
              <a:defRPr sz="2550" b="1">
                <a:solidFill>
                  <a:srgbClr val="65D9F3"/>
                </a:solidFill>
                <a:latin typeface="NanumGothic"/>
                <a:ea typeface="NanumGothic"/>
                <a:cs typeface="NanumGothic"/>
              </a:defRPr>
            </a:lvl9pPr>
          </a:lstStyle>
          <a:p xmlns:a="http://schemas.openxmlformats.org/drawingml/2006/main">
            <a:pPr algn="l">
              <a:defRPr sz="2550" b="1">
                <a:solidFill>
                  <a:srgbClr val="65D9F3"/>
                </a:solidFill>
                <a:latin typeface="NanumGothic"/>
                <a:ea typeface="NanumGothic"/>
                <a:cs typeface="NanumGothic"/>
              </a:defRPr>
            </a:pPr>
            <a:r>
              <a:rPr sz="2550" b="1">
                <a:solidFill>
                  <a:srgbClr val="65D9F3"/>
                </a:solidFill>
                <a:latin typeface="NanumGothic"/>
                <a:ea typeface="NanumGothic"/>
                <a:cs typeface="NanumGothic"/>
              </a:rPr>
              <a:t>질의응답</a:t>
            </a:r>
          </a:p>
        </p:txBody>
      </p:sp>
      <p:sp>
        <p:nvSpPr>
          <p:cNvPr id="3" name="곽윤석 · 김남기">
            <a:extLst xmlns:a="http://schemas.openxmlformats.org/drawingml/2006/main">
              <a:ext uri="{FF2B5EF4-FFF2-40B4-BE49-F238E27FC236}">
                <a16:creationId xmlns:a16="http://schemas.microsoft.com/office/drawing/2014/main" id="{4DEE6270-435B-4D68-89A3-0D86FE7C88F6}"/>
              </a:ext>
            </a:extLst>
          </p:cNvPr>
          <p:cNvSpPr>
            <a:spLocks xmlns:a="http://schemas.openxmlformats.org/drawingml/2006/main" noGrp="1"/>
          </p:cNvSpPr>
          <p:nvPr/>
        </p:nvSpPr>
        <p:spPr>
          <a:xfrm xmlns:a="http://schemas.openxmlformats.org/drawingml/2006/main">
            <a:off x="609600" y="5143500"/>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AAB8CC"/>
                </a:solidFill>
                <a:latin typeface="NanumGothic"/>
                <a:ea typeface="NanumGothic"/>
                <a:cs typeface="NanumGothic"/>
              </a:defRPr>
            </a:defPPr>
            <a:lvl1pPr algn="l">
              <a:defRPr sz="2025" b="1">
                <a:solidFill>
                  <a:srgbClr val="AAB8CC"/>
                </a:solidFill>
                <a:latin typeface="NanumGothic"/>
                <a:ea typeface="NanumGothic"/>
                <a:cs typeface="NanumGothic"/>
              </a:defRPr>
            </a:lvl1pPr>
            <a:lvl2pPr algn="l">
              <a:defRPr sz="2025" b="1">
                <a:solidFill>
                  <a:srgbClr val="AAB8CC"/>
                </a:solidFill>
                <a:latin typeface="NanumGothic"/>
                <a:ea typeface="NanumGothic"/>
                <a:cs typeface="NanumGothic"/>
              </a:defRPr>
            </a:lvl2pPr>
            <a:lvl3pPr algn="l">
              <a:defRPr sz="2025" b="1">
                <a:solidFill>
                  <a:srgbClr val="AAB8CC"/>
                </a:solidFill>
                <a:latin typeface="NanumGothic"/>
                <a:ea typeface="NanumGothic"/>
                <a:cs typeface="NanumGothic"/>
              </a:defRPr>
            </a:lvl3pPr>
            <a:lvl4pPr algn="l">
              <a:defRPr sz="2025" b="1">
                <a:solidFill>
                  <a:srgbClr val="AAB8CC"/>
                </a:solidFill>
                <a:latin typeface="NanumGothic"/>
                <a:ea typeface="NanumGothic"/>
                <a:cs typeface="NanumGothic"/>
              </a:defRPr>
            </a:lvl4pPr>
            <a:lvl5pPr algn="l">
              <a:defRPr sz="2025" b="1">
                <a:solidFill>
                  <a:srgbClr val="AAB8CC"/>
                </a:solidFill>
                <a:latin typeface="NanumGothic"/>
                <a:ea typeface="NanumGothic"/>
                <a:cs typeface="NanumGothic"/>
              </a:defRPr>
            </a:lvl5pPr>
            <a:lvl6pPr algn="l">
              <a:defRPr sz="2025" b="1">
                <a:solidFill>
                  <a:srgbClr val="AAB8CC"/>
                </a:solidFill>
                <a:latin typeface="NanumGothic"/>
                <a:ea typeface="NanumGothic"/>
                <a:cs typeface="NanumGothic"/>
              </a:defRPr>
            </a:lvl6pPr>
            <a:lvl7pPr algn="l">
              <a:defRPr sz="2025" b="1">
                <a:solidFill>
                  <a:srgbClr val="AAB8CC"/>
                </a:solidFill>
                <a:latin typeface="NanumGothic"/>
                <a:ea typeface="NanumGothic"/>
                <a:cs typeface="NanumGothic"/>
              </a:defRPr>
            </a:lvl7pPr>
            <a:lvl8pPr algn="l">
              <a:defRPr sz="2025" b="1">
                <a:solidFill>
                  <a:srgbClr val="AAB8CC"/>
                </a:solidFill>
                <a:latin typeface="NanumGothic"/>
                <a:ea typeface="NanumGothic"/>
                <a:cs typeface="NanumGothic"/>
              </a:defRPr>
            </a:lvl8pPr>
            <a:lvl9pPr algn="l">
              <a:defRPr sz="2025" b="1">
                <a:solidFill>
                  <a:srgbClr val="AAB8CC"/>
                </a:solidFill>
                <a:latin typeface="NanumGothic"/>
                <a:ea typeface="NanumGothic"/>
                <a:cs typeface="NanumGothic"/>
              </a:defRPr>
            </a:lvl9pPr>
          </a:lstStyle>
          <a:p xmlns:a="http://schemas.openxmlformats.org/drawingml/2006/main">
            <a:pPr algn="l">
              <a:defRPr sz="2025" b="1">
                <a:solidFill>
                  <a:srgbClr val="AAB8CC"/>
                </a:solidFill>
                <a:latin typeface="NanumGothic"/>
                <a:ea typeface="NanumGothic"/>
                <a:cs typeface="NanumGothic"/>
              </a:defRPr>
            </a:pPr>
            <a:r>
              <a:rPr sz="2025" b="1">
                <a:solidFill>
                  <a:srgbClr val="AAB8CC"/>
                </a:solidFill>
                <a:latin typeface="NanumGothic"/>
                <a:ea typeface="NanumGothic"/>
                <a:cs typeface="NanumGothic"/>
              </a:rPr>
              <a:t>곽윤석 · 김남기</a:t>
            </a:r>
          </a:p>
        </p:txBody>
      </p:sp>
      <p:pic>
        <p:nvPicPr>
          <p:cNvPr id="4" name="">
            <a:extLst xmlns:a="http://schemas.openxmlformats.org/drawingml/2006/main">
              <a:ext uri="{FF2B5EF4-FFF2-40B4-BE49-F238E27FC236}">
                <a16:creationId xmlns:a16="http://schemas.microsoft.com/office/drawing/2014/main" id="{4A6F0F54-B5F5-42E6-8629-CA704736179C}"/>
              </a:ext>
            </a:extLst>
          </p:cNvPr>
          <p:cNvPicPr>
            <a:picLocks xmlns:a="http://schemas.openxmlformats.org/drawingml/2006/main" noChangeAspect="1"/>
          </p:cNvPicPr>
          <p:nvPr/>
        </p:nvPicPr>
        <p:blipFill>
          <a:blip xmlns:r="http://schemas.openxmlformats.org/officeDocument/2006/relationships" xmlns:a="http://schemas.openxmlformats.org/drawingml/2006/main" r:embed="R01afe57bd5b94886"/>
          <a:stretch xmlns:a="http://schemas.openxmlformats.org/drawingml/2006/main"/>
        </p:blipFill>
        <p:spPr>
          <a:xfrm xmlns:a="http://schemas.openxmlformats.org/drawingml/2006/main">
            <a:off x="8896350" y="5219700"/>
            <a:ext cx="2686050" cy="748395"/>
          </a:xfrm>
          <a:prstGeom xmlns:a="http://schemas.openxmlformats.org/drawingml/2006/main" prst="rect">
            <a:avLst/>
          </a:prstGeom>
        </p:spPr>
      </p:pic>
      <p:sp>
        <p:nvSpPr>
          <p:cNvPr id="5" name="경기대학교 컴퓨터과학과">
            <a:extLst xmlns:a="http://schemas.openxmlformats.org/drawingml/2006/main">
              <a:ext uri="{FF2B5EF4-FFF2-40B4-BE49-F238E27FC236}">
                <a16:creationId xmlns:a16="http://schemas.microsoft.com/office/drawing/2014/main" id="{B33F0882-06FD-48EB-877F-D5E3AC2EC1A1}"/>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6" name="20">
            <a:extLst xmlns:a="http://schemas.openxmlformats.org/drawingml/2006/main">
              <a:ext uri="{FF2B5EF4-FFF2-40B4-BE49-F238E27FC236}">
                <a16:creationId xmlns:a16="http://schemas.microsoft.com/office/drawing/2014/main" id="{61A63071-5ACC-4C26-B7CF-B13B8D7D1A3C}"/>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20</a:t>
            </a:r>
          </a:p>
        </p:txBody>
      </p:sp>
    </p:spTree>
    <p:extLst>
      <p:ext uri="{BB962C8B-B14F-4D97-AF65-F5344CB8AC3E}">
        <p14:creationId xmlns:p14="http://schemas.microsoft.com/office/powerpoint/2010/main" val="12208590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2026-10-20T09:23:21.2440000Z</dcterms:created>
  <dcterms:modified xsi:type="dcterms:W3CDTF">2026-10-20T09:23:21.2440000Z</dcterms:modified>
</coreProperties>
</file>